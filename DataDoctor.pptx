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34D7D087-1811-A2E1-EEBD-7416D3A34D19}">
          <p14:sldIdLst>
            <p14:sldId id="256"/>
            <p14:sldId id="257"/>
          </p14:sldIdLst>
        </p14:section>
        <p14:section name="Approach" id="{C76B44A6-D44C-0698-DC21-2494C7412D19}">
          <p14:sldIdLst>
            <p14:sldId id="258"/>
          </p14:sldIdLst>
        </p14:section>
        <p14:section name="Viability" id="{421203AC-1EB0-8199-B39E-F0FCDF07A45D}">
          <p14:sldIdLst>
            <p14:sldId id="259"/>
          </p14:sldIdLst>
        </p14:section>
        <p14:section name="Impact" id="{7CBECBA4-338A-8A93-4491-5CB626F903E8}">
          <p14:sldIdLst>
            <p14:sldId id="260"/>
          </p14:sldIdLst>
        </p14:section>
        <p14:section name="References" id="{D88F0870-A8B1-5B94-54DD-A55BBF15A5D1}">
          <p14:sldIdLst>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73532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DataDoctor: upload any messy CSV or Excel file and get back a clean dataset plus a one-page PDF report in under ten seconds. The tables show the before and after: mixed date formats, a broken header, a missing value and an outlier.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six capabilities left to right, then the architecture on the right. The pipeline is linear: upload, repair, profile, impute, export. The innovation is combining all steps in one automated run.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stack layer by layer, then the six-step methodology. The prototype flow at the bottom is the live demo: upload a deliberately corrupted file and show the clean CSV and PDF report appear in under ten seconds.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Feasibility is about whether we can build it with mature, free tools. Viability is about whether people need and will use it. Be upfront about the risks (ambiguous dates, false outliers, imputation bias) and show that each has a mitigation, mainly keeping the user in control.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60% figure comes from the problem statement. Emphasise that the impact is time saved and better model inputs, and that the tool is built for non-programmers as well as analysts.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the demo video and GitHub links before presenting. The comparison is indicative: existing tools cover parts of the problem, but none combines cleaning, outlier flags and a PDF report in one automated run.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chemeClr val="tx2"/>
          </a:solidFill>
          <a:ln/>
        </p:spPr>
      </p:sp>
      <p:sp>
        <p:nvSpPr>
          <p:cNvPr id="3" name="Text 1"/>
          <p:cNvSpPr>
            <a:spLocks noGrp="1"/>
          </p:cNvSpPr>
          <p:nvPr>
            <p:ph type="title" idx="101" hasCustomPrompt="1"/>
          </p:nvPr>
        </p:nvSpPr>
        <p:spPr>
          <a:xfrm>
            <a:off x="640080" y="1691640"/>
            <a:ext cx="5760720" cy="1188720"/>
          </a:xfrm>
          <a:prstGeom prst="rect">
            <a:avLst/>
          </a:prstGeom>
          <a:noFill/>
          <a:ln/>
        </p:spPr>
        <p:txBody>
          <a:bodyPr wrap="square" rtlCol="0"/>
          <a:lstStyle>
            <a:lvl1pPr marL="0" indent="0" algn="l">
              <a:buNone/>
              <a:defRPr lang="en-US" sz="6000" b="1" dirty="0">
                <a:solidFill>
                  <a:schemeClr val="bg1"/>
                </a:solidFill>
              </a:defRPr>
            </a:lvl1pPr>
          </a:lstStyle>
          <a:p>
            <a:pPr marL="0" indent="0" algn="l">
              <a:buNone/>
            </a:pPr>
            <a:endParaRPr lang="en-US" sz="6000" dirty="0"/>
          </a:p>
        </p:txBody>
      </p:sp>
      <p:sp>
        <p:nvSpPr>
          <p:cNvPr id="4" name="Text 1"/>
          <p:cNvSpPr>
            <a:spLocks noGrp="1"/>
          </p:cNvSpPr>
          <p:nvPr>
            <p:ph type="body" idx="102" hasCustomPrompt="1"/>
          </p:nvPr>
        </p:nvSpPr>
        <p:spPr>
          <a:xfrm>
            <a:off x="640080" y="2971800"/>
            <a:ext cx="5486400" cy="1005840"/>
          </a:xfrm>
          <a:prstGeom prst="rect">
            <a:avLst/>
          </a:prstGeom>
          <a:noFill/>
          <a:ln/>
        </p:spPr>
        <p:txBody>
          <a:bodyPr wrap="square" rtlCol="0"/>
          <a:lstStyle>
            <a:lvl1pPr marL="0" indent="0" algn="l">
              <a:buNone/>
              <a:defRPr lang="en-US" sz="2200" dirty="0">
                <a:solidFill>
                  <a:schemeClr val="bg2"/>
                </a:solidFill>
              </a:defRPr>
            </a:lvl1pPr>
          </a:lstStyle>
          <a:p>
            <a:pPr marL="0" indent="0" algn="l">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777240"/>
          </a:xfrm>
          <a:prstGeom prst="rect">
            <a:avLst/>
          </a:prstGeom>
          <a:noFill/>
          <a:ln/>
        </p:spPr>
        <p:txBody>
          <a:bodyPr wrap="square" rtlCol="0"/>
          <a:lstStyle>
            <a:lvl1pPr marL="0" indent="0" algn="l">
              <a:buNone/>
              <a:defRPr lang="en-US" sz="3400" b="1" dirty="0">
                <a:solidFill>
                  <a:schemeClr val="tx2"/>
                </a:solidFill>
              </a:defRPr>
            </a:lvl1pPr>
          </a:lstStyle>
          <a:p>
            <a:pPr marL="0" indent="0" algn="l">
              <a:buNone/>
            </a:pPr>
            <a:endParaRPr lang="en-US" sz="3400" dirty="0"/>
          </a:p>
        </p:txBody>
      </p:sp>
      <p:sp>
        <p:nvSpPr>
          <p:cNvPr id="3" name="Text 0"/>
          <p:cNvSpPr/>
          <p:nvPr/>
        </p:nvSpPr>
        <p:spPr>
          <a:xfrm>
            <a:off x="548640" y="6473952"/>
            <a:ext cx="8229600" cy="256032"/>
          </a:xfrm>
          <a:prstGeom prst="rect">
            <a:avLst/>
          </a:prstGeom>
          <a:noFill/>
          <a:ln/>
        </p:spPr>
        <p:txBody>
          <a:bodyPr wrap="square" lIns="0" tIns="0" rIns="0" bIns="0" rtlCol="0" anchor="ctr"/>
          <a:lstStyle/>
          <a:p>
            <a:pPr marL="0" indent="0">
              <a:buNone/>
            </a:pPr>
            <a:r>
              <a:rPr lang="en-US" sz="1000" dirty="0">
                <a:solidFill>
                  <a:srgbClr val="5E7078"/>
                </a:solidFill>
              </a:rPr>
              <a:t>DataDoctor  |  Automated CSV Profiler &amp; Data Cleaning Pipeline</a:t>
            </a:r>
            <a:endParaRPr lang="en-US" sz="1000" dirty="0"/>
          </a:p>
        </p:txBody>
      </p:sp>
      <p:sp>
        <p:nvSpPr>
          <p:cNvPr id="25" name="Slide Number Placeholder 0"/>
          <p:cNvSpPr>
            <a:spLocks noGrp="1"/>
          </p:cNvSpPr>
          <p:nvPr>
            <p:ph type="sldNum" sz="quarter" idx="4294967295"/>
          </p:nvPr>
        </p:nvSpPr>
        <p:spPr>
          <a:xfrm>
            <a:off x="10972800" y="6473952"/>
            <a:ext cx="667512"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7078"/>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73952"/>
            <a:ext cx="667512"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7078"/>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hyperlink" Target="https://pandas.pydata.org/docs/" TargetMode="External"/><Relationship Id="rId7" Type="http://schemas.openxmlformats.org/officeDocument/2006/relationships/hyperlink" Target="https://github.com/ydataai/ydata-profiling" TargetMode="External"/><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hyperlink" Target="https://openrefine.org/" TargetMode="External"/><Relationship Id="rId5" Type="http://schemas.openxmlformats.org/officeDocument/2006/relationships/hyperlink" Target="https://docs.scipy.org/doc/scipy/" TargetMode="External"/><Relationship Id="rId4" Type="http://schemas.openxmlformats.org/officeDocument/2006/relationships/hyperlink" Target="https://scikit-learn.org/stable/modules/impute.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1"/>
          <p:cNvSpPr>
            <a:spLocks noGrp="1"/>
          </p:cNvSpPr>
          <p:nvPr>
            <p:ph type="title" idx="101" hasCustomPrompt="1"/>
          </p:nvPr>
        </p:nvSpPr>
        <p:spPr>
          <a:xfrm>
            <a:off x="640080" y="1691640"/>
            <a:ext cx="5760720" cy="1188720"/>
          </a:xfrm>
          <a:prstGeom prst="rect">
            <a:avLst/>
          </a:prstGeom>
          <a:noFill/>
          <a:ln/>
        </p:spPr>
        <p:txBody>
          <a:bodyPr wrap="square" lIns="0" tIns="0" rIns="0" bIns="0" rtlCol="0" anchor="ctr"/>
          <a:lstStyle/>
          <a:p>
            <a:pPr marL="0" indent="0" algn="l">
              <a:buNone/>
            </a:pPr>
            <a:r>
              <a:rPr lang="en-US" sz="6000" b="1" dirty="0">
                <a:solidFill>
                  <a:schemeClr val="bg1"/>
                </a:solidFill>
              </a:rPr>
              <a:t>DataDoctor</a:t>
            </a:r>
            <a:endParaRPr lang="en-US" sz="6000" dirty="0"/>
          </a:p>
        </p:txBody>
      </p:sp>
      <p:sp>
        <p:nvSpPr>
          <p:cNvPr id="4" name="Text 1"/>
          <p:cNvSpPr>
            <a:spLocks noGrp="1"/>
          </p:cNvSpPr>
          <p:nvPr>
            <p:ph type="body" idx="102" hasCustomPrompt="1"/>
          </p:nvPr>
        </p:nvSpPr>
        <p:spPr>
          <a:xfrm>
            <a:off x="640080" y="2971800"/>
            <a:ext cx="5486400" cy="1005840"/>
          </a:xfrm>
          <a:prstGeom prst="rect">
            <a:avLst/>
          </a:prstGeom>
          <a:noFill/>
          <a:ln/>
        </p:spPr>
        <p:txBody>
          <a:bodyPr wrap="square" lIns="0" tIns="0" rIns="0" bIns="0" rtlCol="0" anchor="t"/>
          <a:lstStyle/>
          <a:p>
            <a:pPr marL="0" indent="0" algn="l">
              <a:buNone/>
            </a:pPr>
            <a:r>
              <a:rPr lang="en-US" sz="2200" dirty="0">
                <a:solidFill>
                  <a:schemeClr val="bg2"/>
                </a:solidFill>
              </a:rPr>
              <a:t>Automated CSV Profiler &amp; Data Cleaning Pipeline</a:t>
            </a:r>
            <a:endParaRPr lang="en-US" sz="2200" dirty="0"/>
          </a:p>
        </p:txBody>
      </p:sp>
      <p:sp>
        <p:nvSpPr>
          <p:cNvPr id="5" name="Team details"/>
          <p:cNvSpPr txBox="1"/>
          <p:nvPr/>
        </p:nvSpPr>
        <p:spPr>
          <a:xfrm>
            <a:off x="640080" y="4389120"/>
            <a:ext cx="5486400" cy="1097280"/>
          </a:xfrm>
          <a:prstGeom prst="rect">
            <a:avLst/>
          </a:prstGeom>
          <a:noFill/>
          <a:ln/>
        </p:spPr>
        <p:txBody>
          <a:bodyPr wrap="square" lIns="0" tIns="0" rIns="0" bIns="0" rtlCol="0" anchor="t"/>
          <a:lstStyle/>
          <a:p>
            <a:pPr marL="0" indent="0">
              <a:spcAft>
                <a:spcPts val="600"/>
              </a:spcAft>
              <a:buNone/>
            </a:pPr>
            <a:r>
              <a:rPr lang="en-US" sz="1800" b="1" dirty="0">
                <a:solidFill>
                  <a:schemeClr val="bg1"/>
                </a:solidFill>
              </a:rPr>
              <a:t>Team Name: Visionary Minds</a:t>
            </a:r>
          </a:p>
        </p:txBody>
      </p:sp>
      <p:sp>
        <p:nvSpPr>
          <p:cNvPr id="6" name="Before label"/>
          <p:cNvSpPr txBox="1"/>
          <p:nvPr/>
        </p:nvSpPr>
        <p:spPr>
          <a:xfrm>
            <a:off x="6583680" y="1234440"/>
            <a:ext cx="2194560" cy="320040"/>
          </a:xfrm>
          <a:prstGeom prst="rect">
            <a:avLst/>
          </a:prstGeom>
          <a:noFill/>
          <a:ln/>
        </p:spPr>
        <p:txBody>
          <a:bodyPr wrap="square" lIns="0" tIns="0" rIns="0" bIns="0" rtlCol="0" anchor="t"/>
          <a:lstStyle/>
          <a:p>
            <a:pPr marL="0" indent="0">
              <a:buNone/>
            </a:pPr>
            <a:r>
              <a:rPr lang="en-US" sz="1400" b="1" dirty="0">
                <a:solidFill>
                  <a:schemeClr val="bg2"/>
                </a:solidFill>
              </a:rPr>
              <a:t>Before: messy upload</a:t>
            </a:r>
            <a:endParaRPr lang="en-US" sz="1400" dirty="0"/>
          </a:p>
        </p:txBody>
      </p:sp>
      <p:graphicFrame>
        <p:nvGraphicFramePr>
          <p:cNvPr id="7" name="Messy table"/>
          <p:cNvGraphicFramePr>
            <a:graphicFrameLocks noGrp="1"/>
          </p:cNvGraphicFramePr>
          <p:nvPr>
            <p:extLst>
              <p:ext uri="{D42A27DB-BD31-4B8C-83A1-F6EECF244321}">
                <p14:modId xmlns:p14="http://schemas.microsoft.com/office/powerpoint/2010/main" val="1579011935"/>
              </p:ext>
            </p:extLst>
          </p:nvPr>
        </p:nvGraphicFramePr>
        <p:xfrm>
          <a:off x="6583680" y="1645920"/>
          <a:ext cx="2240280" cy="1920240"/>
        </p:xfrm>
        <a:graphic>
          <a:graphicData uri="http://schemas.openxmlformats.org/drawingml/2006/table">
            <a:tbl>
              <a:tblPr/>
              <a:tblGrid>
                <a:gridCol w="64008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tblGrid>
              <a:tr h="384048">
                <a:tc>
                  <a:txBody>
                    <a:bodyPr/>
                    <a:lstStyle/>
                    <a:p>
                      <a:pPr marL="0" indent="0">
                        <a:buNone/>
                      </a:pPr>
                      <a:r>
                        <a:rPr lang="en-US" sz="1100" b="1" dirty="0">
                          <a:solidFill>
                            <a:srgbClr val="FFFFFF"/>
                          </a:solidFill>
                        </a:rPr>
                        <a:t>nme</a:t>
                      </a:r>
                      <a:endParaRPr lang="en-US" sz="1100" dirty="0"/>
                    </a:p>
                  </a:txBody>
                  <a:tcPr marL="45720" marR="45720" anchor="ctr">
                    <a:lnL w="9525" cap="flat" cmpd="sng" algn="ctr">
                      <a:solidFill>
                        <a:srgbClr val="BFD3D6"/>
                      </a:solidFill>
                      <a:prstDash val="solid"/>
                      <a:round/>
                      <a:headEnd type="none" w="med" len="med"/>
                      <a:tailEnd type="none" w="med" len="med"/>
                    </a:lnL>
                    <a:lnR w="9525" cap="flat" cmpd="sng" algn="ctr">
                      <a:solidFill>
                        <a:srgbClr val="BFD3D6"/>
                      </a:solidFill>
                      <a:prstDash val="solid"/>
                      <a:round/>
                      <a:headEnd type="none" w="med" len="med"/>
                      <a:tailEnd type="none" w="med" len="med"/>
                    </a:lnR>
                    <a:lnT w="9525" cap="flat" cmpd="sng" algn="ctr">
                      <a:solidFill>
                        <a:srgbClr val="BFD3D6"/>
                      </a:solidFill>
                      <a:prstDash val="solid"/>
                      <a:round/>
                      <a:headEnd type="none" w="med" len="med"/>
                      <a:tailEnd type="none" w="med" len="med"/>
                    </a:lnT>
                    <a:lnB w="9525" cap="flat" cmpd="sng" algn="ctr">
                      <a:solidFill>
                        <a:srgbClr val="BFD3D6"/>
                      </a:solidFill>
                      <a:prstDash val="solid"/>
                      <a:round/>
                      <a:headEnd type="none" w="med" len="med"/>
                      <a:tailEnd type="none" w="med" len="med"/>
                    </a:lnB>
                    <a:solidFill>
                      <a:srgbClr val="8A3B3B"/>
                    </a:solidFill>
                  </a:tcPr>
                </a:tc>
                <a:tc>
                  <a:txBody>
                    <a:bodyPr/>
                    <a:lstStyle/>
                    <a:p>
                      <a:pPr marL="0" indent="0">
                        <a:buNone/>
                      </a:pPr>
                      <a:r>
                        <a:rPr lang="en-US" sz="1100" b="1" dirty="0">
                          <a:solidFill>
                            <a:srgbClr val="FFFFFF"/>
                          </a:solidFill>
                        </a:rPr>
                        <a:t>D.O.B</a:t>
                      </a:r>
                      <a:endParaRPr lang="en-US" sz="1100" dirty="0"/>
                    </a:p>
                  </a:txBody>
                  <a:tcPr marL="45720" marR="45720" anchor="ctr">
                    <a:lnL w="9525" cap="flat" cmpd="sng" algn="ctr">
                      <a:solidFill>
                        <a:srgbClr val="BFD3D6"/>
                      </a:solidFill>
                      <a:prstDash val="solid"/>
                      <a:round/>
                      <a:headEnd type="none" w="med" len="med"/>
                      <a:tailEnd type="none" w="med" len="med"/>
                    </a:lnL>
                    <a:lnR w="9525" cap="flat" cmpd="sng" algn="ctr">
                      <a:solidFill>
                        <a:srgbClr val="BFD3D6"/>
                      </a:solidFill>
                      <a:prstDash val="solid"/>
                      <a:round/>
                      <a:headEnd type="none" w="med" len="med"/>
                      <a:tailEnd type="none" w="med" len="med"/>
                    </a:lnR>
                    <a:lnT w="9525" cap="flat" cmpd="sng" algn="ctr">
                      <a:solidFill>
                        <a:srgbClr val="BFD3D6"/>
                      </a:solidFill>
                      <a:prstDash val="solid"/>
                      <a:round/>
                      <a:headEnd type="none" w="med" len="med"/>
                      <a:tailEnd type="none" w="med" len="med"/>
                    </a:lnT>
                    <a:lnB w="9525" cap="flat" cmpd="sng" algn="ctr">
                      <a:solidFill>
                        <a:srgbClr val="BFD3D6"/>
                      </a:solidFill>
                      <a:prstDash val="solid"/>
                      <a:round/>
                      <a:headEnd type="none" w="med" len="med"/>
                      <a:tailEnd type="none" w="med" len="med"/>
                    </a:lnB>
                    <a:solidFill>
                      <a:srgbClr val="8A3B3B"/>
                    </a:solidFill>
                  </a:tcPr>
                </a:tc>
                <a:tc>
                  <a:txBody>
                    <a:bodyPr/>
                    <a:lstStyle/>
                    <a:p>
                      <a:pPr marL="0" indent="0">
                        <a:buNone/>
                      </a:pPr>
                      <a:r>
                        <a:rPr lang="en-US" sz="1100" b="1" dirty="0">
                          <a:solidFill>
                            <a:srgbClr val="FFFFFF"/>
                          </a:solidFill>
                        </a:rPr>
                        <a:t>sal@ry</a:t>
                      </a:r>
                      <a:endParaRPr lang="en-US" sz="1100" dirty="0"/>
                    </a:p>
                  </a:txBody>
                  <a:tcPr marL="45720" marR="45720" anchor="ctr">
                    <a:lnL w="9525" cap="flat" cmpd="sng" algn="ctr">
                      <a:solidFill>
                        <a:srgbClr val="BFD3D6"/>
                      </a:solidFill>
                      <a:prstDash val="solid"/>
                      <a:round/>
                      <a:headEnd type="none" w="med" len="med"/>
                      <a:tailEnd type="none" w="med" len="med"/>
                    </a:lnL>
                    <a:lnR w="9525" cap="flat" cmpd="sng" algn="ctr">
                      <a:solidFill>
                        <a:srgbClr val="BFD3D6"/>
                      </a:solidFill>
                      <a:prstDash val="solid"/>
                      <a:round/>
                      <a:headEnd type="none" w="med" len="med"/>
                      <a:tailEnd type="none" w="med" len="med"/>
                    </a:lnR>
                    <a:lnT w="9525" cap="flat" cmpd="sng" algn="ctr">
                      <a:solidFill>
                        <a:srgbClr val="BFD3D6"/>
                      </a:solidFill>
                      <a:prstDash val="solid"/>
                      <a:round/>
                      <a:headEnd type="none" w="med" len="med"/>
                      <a:tailEnd type="none" w="med" len="med"/>
                    </a:lnT>
                    <a:lnB w="9525" cap="flat" cmpd="sng" algn="ctr">
                      <a:solidFill>
                        <a:srgbClr val="BFD3D6"/>
                      </a:solidFill>
                      <a:prstDash val="solid"/>
                      <a:round/>
                      <a:headEnd type="none" w="med" len="med"/>
                      <a:tailEnd type="none" w="med" len="med"/>
                    </a:lnB>
                    <a:solidFill>
                      <a:srgbClr val="8A3B3B"/>
                    </a:solidFill>
                  </a:tcPr>
                </a:tc>
                <a:extLst>
                  <a:ext uri="{0D108BD9-81ED-4DB2-BD59-A6C34878D82A}">
                    <a16:rowId xmlns:a16="http://schemas.microsoft.com/office/drawing/2014/main" val="10000"/>
                  </a:ext>
                </a:extLst>
              </a:tr>
              <a:tr h="384048">
                <a:tc>
                  <a:txBody>
                    <a:bodyPr/>
                    <a:lstStyle/>
                    <a:p>
                      <a:pPr marL="0" indent="0">
                        <a:buNone/>
                      </a:pPr>
                      <a:r>
                        <a:rPr lang="en-US" sz="1100" dirty="0">
                          <a:solidFill>
                            <a:srgbClr val="13262F"/>
                          </a:solidFill>
                        </a:rPr>
                        <a:t>Asha</a:t>
                      </a:r>
                      <a:endParaRPr lang="en-US" sz="1100" dirty="0"/>
                    </a:p>
                  </a:txBody>
                  <a:tcPr marL="45720" marR="45720" anchor="ctr">
                    <a:lnL w="9525" cap="flat" cmpd="sng" algn="ctr">
                      <a:solidFill>
                        <a:srgbClr val="BFD3D6"/>
                      </a:solidFill>
                      <a:prstDash val="solid"/>
                      <a:round/>
                      <a:headEnd type="none" w="med" len="med"/>
                      <a:tailEnd type="none" w="med" len="med"/>
                    </a:lnL>
                    <a:lnR w="9525" cap="flat" cmpd="sng" algn="ctr">
                      <a:solidFill>
                        <a:srgbClr val="BFD3D6"/>
                      </a:solidFill>
                      <a:prstDash val="solid"/>
                      <a:round/>
                      <a:headEnd type="none" w="med" len="med"/>
                      <a:tailEnd type="none" w="med" len="med"/>
                    </a:lnR>
                    <a:lnT w="9525" cap="flat" cmpd="sng" algn="ctr">
                      <a:solidFill>
                        <a:srgbClr val="BFD3D6"/>
                      </a:solidFill>
                      <a:prstDash val="solid"/>
                      <a:round/>
                      <a:headEnd type="none" w="med" len="med"/>
                      <a:tailEnd type="none" w="med" len="med"/>
                    </a:lnT>
                    <a:lnB w="9525" cap="flat" cmpd="sng" algn="ctr">
                      <a:solidFill>
                        <a:srgbClr val="BFD3D6"/>
                      </a:solidFill>
                      <a:prstDash val="solid"/>
                      <a:round/>
                      <a:headEnd type="none" w="med" len="med"/>
                      <a:tailEnd type="none" w="med" len="med"/>
                    </a:lnB>
                    <a:solidFill>
                      <a:srgbClr val="FFFFFF"/>
                    </a:solidFill>
                  </a:tcPr>
                </a:tc>
                <a:tc>
                  <a:txBody>
                    <a:bodyPr/>
                    <a:lstStyle/>
                    <a:p>
                      <a:pPr marL="0" indent="0">
                        <a:buNone/>
                      </a:pPr>
                      <a:r>
                        <a:rPr lang="en-US" sz="1100" dirty="0">
                          <a:solidFill>
                            <a:srgbClr val="13262F"/>
                          </a:solidFill>
                        </a:rPr>
                        <a:t>12/03/24</a:t>
                      </a:r>
                      <a:endParaRPr lang="en-US" sz="1100" dirty="0"/>
                    </a:p>
                  </a:txBody>
                  <a:tcPr marL="45720" marR="45720" anchor="ctr">
                    <a:lnL w="9525" cap="flat" cmpd="sng" algn="ctr">
                      <a:solidFill>
                        <a:srgbClr val="BFD3D6"/>
                      </a:solidFill>
                      <a:prstDash val="solid"/>
                      <a:round/>
                      <a:headEnd type="none" w="med" len="med"/>
                      <a:tailEnd type="none" w="med" len="med"/>
                    </a:lnL>
                    <a:lnR w="9525" cap="flat" cmpd="sng" algn="ctr">
                      <a:solidFill>
                        <a:srgbClr val="BFD3D6"/>
                      </a:solidFill>
                      <a:prstDash val="solid"/>
                      <a:round/>
                      <a:headEnd type="none" w="med" len="med"/>
                      <a:tailEnd type="none" w="med" len="med"/>
                    </a:lnR>
                    <a:lnT w="9525" cap="flat" cmpd="sng" algn="ctr">
                      <a:solidFill>
                        <a:srgbClr val="BFD3D6"/>
                      </a:solidFill>
                      <a:prstDash val="solid"/>
                      <a:round/>
                      <a:headEnd type="none" w="med" len="med"/>
                      <a:tailEnd type="none" w="med" len="med"/>
                    </a:lnT>
                    <a:lnB w="9525" cap="flat" cmpd="sng" algn="ctr">
                      <a:solidFill>
                        <a:srgbClr val="BFD3D6"/>
                      </a:solidFill>
                      <a:prstDash val="solid"/>
                      <a:round/>
                      <a:headEnd type="none" w="med" len="med"/>
                      <a:tailEnd type="none" w="med" len="med"/>
                    </a:lnB>
                    <a:solidFill>
                      <a:srgbClr val="FFFFFF"/>
                    </a:solidFill>
                  </a:tcPr>
                </a:tc>
                <a:tc>
                  <a:txBody>
                    <a:bodyPr/>
                    <a:lstStyle/>
                    <a:p>
                      <a:pPr marL="0" indent="0">
                        <a:buNone/>
                      </a:pPr>
                      <a:r>
                        <a:rPr lang="en-US" sz="1100" dirty="0">
                          <a:solidFill>
                            <a:srgbClr val="13262F"/>
                          </a:solidFill>
                        </a:rPr>
                        <a:t>52,000</a:t>
                      </a:r>
                      <a:endParaRPr lang="en-US" sz="1100" dirty="0"/>
                    </a:p>
                  </a:txBody>
                  <a:tcPr marL="45720" marR="45720" anchor="ctr">
                    <a:lnL w="9525" cap="flat" cmpd="sng" algn="ctr">
                      <a:solidFill>
                        <a:srgbClr val="BFD3D6"/>
                      </a:solidFill>
                      <a:prstDash val="solid"/>
                      <a:round/>
                      <a:headEnd type="none" w="med" len="med"/>
                      <a:tailEnd type="none" w="med" len="med"/>
                    </a:lnL>
                    <a:lnR w="9525" cap="flat" cmpd="sng" algn="ctr">
                      <a:solidFill>
                        <a:srgbClr val="BFD3D6"/>
                      </a:solidFill>
                      <a:prstDash val="solid"/>
                      <a:round/>
                      <a:headEnd type="none" w="med" len="med"/>
                      <a:tailEnd type="none" w="med" len="med"/>
                    </a:lnR>
                    <a:lnT w="9525" cap="flat" cmpd="sng" algn="ctr">
                      <a:solidFill>
                        <a:srgbClr val="BFD3D6"/>
                      </a:solidFill>
                      <a:prstDash val="solid"/>
                      <a:round/>
                      <a:headEnd type="none" w="med" len="med"/>
                      <a:tailEnd type="none" w="med" len="med"/>
                    </a:lnT>
                    <a:lnB w="9525" cap="flat" cmpd="sng" algn="ctr">
                      <a:solidFill>
                        <a:srgbClr val="BFD3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100" dirty="0">
                          <a:solidFill>
                            <a:srgbClr val="13262F"/>
                          </a:solidFill>
                        </a:rPr>
                        <a:t>Ravi</a:t>
                      </a:r>
                      <a:endParaRPr lang="en-US" sz="1100" dirty="0"/>
                    </a:p>
                  </a:txBody>
                  <a:tcPr marL="45720" marR="45720" anchor="ctr">
                    <a:lnL w="9525" cap="flat" cmpd="sng" algn="ctr">
                      <a:solidFill>
                        <a:srgbClr val="BFD3D6"/>
                      </a:solidFill>
                      <a:prstDash val="solid"/>
                      <a:round/>
                      <a:headEnd type="none" w="med" len="med"/>
                      <a:tailEnd type="none" w="med" len="med"/>
                    </a:lnL>
                    <a:lnR w="9525" cap="flat" cmpd="sng" algn="ctr">
                      <a:solidFill>
                        <a:srgbClr val="BFD3D6"/>
                      </a:solidFill>
                      <a:prstDash val="solid"/>
                      <a:round/>
                      <a:headEnd type="none" w="med" len="med"/>
                      <a:tailEnd type="none" w="med" len="med"/>
                    </a:lnR>
                    <a:lnT w="9525" cap="flat" cmpd="sng" algn="ctr">
                      <a:solidFill>
                        <a:srgbClr val="BFD3D6"/>
                      </a:solidFill>
                      <a:prstDash val="solid"/>
                      <a:round/>
                      <a:headEnd type="none" w="med" len="med"/>
                      <a:tailEnd type="none" w="med" len="med"/>
                    </a:lnT>
                    <a:lnB w="9525" cap="flat" cmpd="sng" algn="ctr">
                      <a:solidFill>
                        <a:srgbClr val="BFD3D6"/>
                      </a:solidFill>
                      <a:prstDash val="solid"/>
                      <a:round/>
                      <a:headEnd type="none" w="med" len="med"/>
                      <a:tailEnd type="none" w="med" len="med"/>
                    </a:lnB>
                    <a:solidFill>
                      <a:srgbClr val="FFFFFF"/>
                    </a:solidFill>
                  </a:tcPr>
                </a:tc>
                <a:tc>
                  <a:txBody>
                    <a:bodyPr/>
                    <a:lstStyle/>
                    <a:p>
                      <a:pPr marL="0" indent="0">
                        <a:buNone/>
                      </a:pPr>
                      <a:r>
                        <a:rPr lang="en-US" sz="1100" dirty="0">
                          <a:solidFill>
                            <a:srgbClr val="13262F"/>
                          </a:solidFill>
                        </a:rPr>
                        <a:t>March 5 2024</a:t>
                      </a:r>
                      <a:endParaRPr lang="en-US" sz="1100" dirty="0"/>
                    </a:p>
                  </a:txBody>
                  <a:tcPr marL="45720" marR="45720" anchor="ctr">
                    <a:lnL w="9525" cap="flat" cmpd="sng" algn="ctr">
                      <a:solidFill>
                        <a:srgbClr val="BFD3D6"/>
                      </a:solidFill>
                      <a:prstDash val="solid"/>
                      <a:round/>
                      <a:headEnd type="none" w="med" len="med"/>
                      <a:tailEnd type="none" w="med" len="med"/>
                    </a:lnL>
                    <a:lnR w="9525" cap="flat" cmpd="sng" algn="ctr">
                      <a:solidFill>
                        <a:srgbClr val="BFD3D6"/>
                      </a:solidFill>
                      <a:prstDash val="solid"/>
                      <a:round/>
                      <a:headEnd type="none" w="med" len="med"/>
                      <a:tailEnd type="none" w="med" len="med"/>
                    </a:lnR>
                    <a:lnT w="9525" cap="flat" cmpd="sng" algn="ctr">
                      <a:solidFill>
                        <a:srgbClr val="BFD3D6"/>
                      </a:solidFill>
                      <a:prstDash val="solid"/>
                      <a:round/>
                      <a:headEnd type="none" w="med" len="med"/>
                      <a:tailEnd type="none" w="med" len="med"/>
                    </a:lnT>
                    <a:lnB w="9525" cap="flat" cmpd="sng" algn="ctr">
                      <a:solidFill>
                        <a:srgbClr val="BFD3D6"/>
                      </a:solidFill>
                      <a:prstDash val="solid"/>
                      <a:round/>
                      <a:headEnd type="none" w="med" len="med"/>
                      <a:tailEnd type="none" w="med" len="med"/>
                    </a:lnB>
                    <a:solidFill>
                      <a:srgbClr val="FFFFFF"/>
                    </a:solidFill>
                  </a:tcPr>
                </a:tc>
                <a:tc>
                  <a:txBody>
                    <a:bodyPr/>
                    <a:lstStyle/>
                    <a:p>
                      <a:pPr marL="0" indent="0">
                        <a:buNone/>
                      </a:pPr>
                      <a:r>
                        <a:rPr lang="en-US" sz="1100" dirty="0">
                          <a:solidFill>
                            <a:srgbClr val="13262F"/>
                          </a:solidFill>
                        </a:rPr>
                        <a:t>NaN</a:t>
                      </a:r>
                      <a:endParaRPr lang="en-US" sz="1100" dirty="0"/>
                    </a:p>
                  </a:txBody>
                  <a:tcPr marL="45720" marR="45720" anchor="ctr">
                    <a:lnL w="9525" cap="flat" cmpd="sng" algn="ctr">
                      <a:solidFill>
                        <a:srgbClr val="BFD3D6"/>
                      </a:solidFill>
                      <a:prstDash val="solid"/>
                      <a:round/>
                      <a:headEnd type="none" w="med" len="med"/>
                      <a:tailEnd type="none" w="med" len="med"/>
                    </a:lnL>
                    <a:lnR w="9525" cap="flat" cmpd="sng" algn="ctr">
                      <a:solidFill>
                        <a:srgbClr val="BFD3D6"/>
                      </a:solidFill>
                      <a:prstDash val="solid"/>
                      <a:round/>
                      <a:headEnd type="none" w="med" len="med"/>
                      <a:tailEnd type="none" w="med" len="med"/>
                    </a:lnR>
                    <a:lnT w="9525" cap="flat" cmpd="sng" algn="ctr">
                      <a:solidFill>
                        <a:srgbClr val="BFD3D6"/>
                      </a:solidFill>
                      <a:prstDash val="solid"/>
                      <a:round/>
                      <a:headEnd type="none" w="med" len="med"/>
                      <a:tailEnd type="none" w="med" len="med"/>
                    </a:lnT>
                    <a:lnB w="9525" cap="flat" cmpd="sng" algn="ctr">
                      <a:solidFill>
                        <a:srgbClr val="BFD3D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buNone/>
                      </a:pPr>
                      <a:r>
                        <a:rPr lang="en-US" sz="1100" dirty="0">
                          <a:solidFill>
                            <a:srgbClr val="13262F"/>
                          </a:solidFill>
                        </a:rPr>
                        <a:t>Meena</a:t>
                      </a:r>
                      <a:endParaRPr lang="en-US" sz="1100" dirty="0"/>
                    </a:p>
                  </a:txBody>
                  <a:tcPr marL="45720" marR="45720" anchor="ctr">
                    <a:lnL w="9525" cap="flat" cmpd="sng" algn="ctr">
                      <a:solidFill>
                        <a:srgbClr val="BFD3D6"/>
                      </a:solidFill>
                      <a:prstDash val="solid"/>
                      <a:round/>
                      <a:headEnd type="none" w="med" len="med"/>
                      <a:tailEnd type="none" w="med" len="med"/>
                    </a:lnL>
                    <a:lnR w="9525" cap="flat" cmpd="sng" algn="ctr">
                      <a:solidFill>
                        <a:srgbClr val="BFD3D6"/>
                      </a:solidFill>
                      <a:prstDash val="solid"/>
                      <a:round/>
                      <a:headEnd type="none" w="med" len="med"/>
                      <a:tailEnd type="none" w="med" len="med"/>
                    </a:lnR>
                    <a:lnT w="9525" cap="flat" cmpd="sng" algn="ctr">
                      <a:solidFill>
                        <a:srgbClr val="BFD3D6"/>
                      </a:solidFill>
                      <a:prstDash val="solid"/>
                      <a:round/>
                      <a:headEnd type="none" w="med" len="med"/>
                      <a:tailEnd type="none" w="med" len="med"/>
                    </a:lnT>
                    <a:lnB w="9525" cap="flat" cmpd="sng" algn="ctr">
                      <a:solidFill>
                        <a:srgbClr val="BFD3D6"/>
                      </a:solidFill>
                      <a:prstDash val="solid"/>
                      <a:round/>
                      <a:headEnd type="none" w="med" len="med"/>
                      <a:tailEnd type="none" w="med" len="med"/>
                    </a:lnB>
                    <a:solidFill>
                      <a:srgbClr val="FFFFFF"/>
                    </a:solidFill>
                  </a:tcPr>
                </a:tc>
                <a:tc>
                  <a:txBody>
                    <a:bodyPr/>
                    <a:lstStyle/>
                    <a:p>
                      <a:pPr marL="0" indent="0">
                        <a:buNone/>
                      </a:pPr>
                      <a:r>
                        <a:rPr lang="en-US" sz="1100" dirty="0">
                          <a:solidFill>
                            <a:srgbClr val="13262F"/>
                          </a:solidFill>
                        </a:rPr>
                        <a:t>2024-3-9</a:t>
                      </a:r>
                      <a:endParaRPr lang="en-US" sz="1100" dirty="0"/>
                    </a:p>
                  </a:txBody>
                  <a:tcPr marL="45720" marR="45720" anchor="ctr">
                    <a:lnL w="9525" cap="flat" cmpd="sng" algn="ctr">
                      <a:solidFill>
                        <a:srgbClr val="BFD3D6"/>
                      </a:solidFill>
                      <a:prstDash val="solid"/>
                      <a:round/>
                      <a:headEnd type="none" w="med" len="med"/>
                      <a:tailEnd type="none" w="med" len="med"/>
                    </a:lnL>
                    <a:lnR w="9525" cap="flat" cmpd="sng" algn="ctr">
                      <a:solidFill>
                        <a:srgbClr val="BFD3D6"/>
                      </a:solidFill>
                      <a:prstDash val="solid"/>
                      <a:round/>
                      <a:headEnd type="none" w="med" len="med"/>
                      <a:tailEnd type="none" w="med" len="med"/>
                    </a:lnR>
                    <a:lnT w="9525" cap="flat" cmpd="sng" algn="ctr">
                      <a:solidFill>
                        <a:srgbClr val="BFD3D6"/>
                      </a:solidFill>
                      <a:prstDash val="solid"/>
                      <a:round/>
                      <a:headEnd type="none" w="med" len="med"/>
                      <a:tailEnd type="none" w="med" len="med"/>
                    </a:lnT>
                    <a:lnB w="9525" cap="flat" cmpd="sng" algn="ctr">
                      <a:solidFill>
                        <a:srgbClr val="BFD3D6"/>
                      </a:solidFill>
                      <a:prstDash val="solid"/>
                      <a:round/>
                      <a:headEnd type="none" w="med" len="med"/>
                      <a:tailEnd type="none" w="med" len="med"/>
                    </a:lnB>
                    <a:solidFill>
                      <a:srgbClr val="FFFFFF"/>
                    </a:solidFill>
                  </a:tcPr>
                </a:tc>
                <a:tc>
                  <a:txBody>
                    <a:bodyPr/>
                    <a:lstStyle/>
                    <a:p>
                      <a:pPr marL="0" indent="0">
                        <a:buNone/>
                      </a:pPr>
                      <a:r>
                        <a:rPr lang="en-US" sz="1100" dirty="0">
                          <a:solidFill>
                            <a:srgbClr val="13262F"/>
                          </a:solidFill>
                        </a:rPr>
                        <a:t>980000</a:t>
                      </a:r>
                      <a:endParaRPr lang="en-US" sz="1100" dirty="0"/>
                    </a:p>
                  </a:txBody>
                  <a:tcPr marL="45720" marR="45720" anchor="ctr">
                    <a:lnL w="9525" cap="flat" cmpd="sng" algn="ctr">
                      <a:solidFill>
                        <a:srgbClr val="BFD3D6"/>
                      </a:solidFill>
                      <a:prstDash val="solid"/>
                      <a:round/>
                      <a:headEnd type="none" w="med" len="med"/>
                      <a:tailEnd type="none" w="med" len="med"/>
                    </a:lnL>
                    <a:lnR w="9525" cap="flat" cmpd="sng" algn="ctr">
                      <a:solidFill>
                        <a:srgbClr val="BFD3D6"/>
                      </a:solidFill>
                      <a:prstDash val="solid"/>
                      <a:round/>
                      <a:headEnd type="none" w="med" len="med"/>
                      <a:tailEnd type="none" w="med" len="med"/>
                    </a:lnR>
                    <a:lnT w="9525" cap="flat" cmpd="sng" algn="ctr">
                      <a:solidFill>
                        <a:srgbClr val="BFD3D6"/>
                      </a:solidFill>
                      <a:prstDash val="solid"/>
                      <a:round/>
                      <a:headEnd type="none" w="med" len="med"/>
                      <a:tailEnd type="none" w="med" len="med"/>
                    </a:lnT>
                    <a:lnB w="9525" cap="flat" cmpd="sng" algn="ctr">
                      <a:solidFill>
                        <a:srgbClr val="BFD3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buNone/>
                      </a:pPr>
                      <a:r>
                        <a:rPr lang="en-US" sz="1100" dirty="0">
                          <a:solidFill>
                            <a:srgbClr val="13262F"/>
                          </a:solidFill>
                        </a:rPr>
                        <a:t>Kiran</a:t>
                      </a:r>
                      <a:endParaRPr lang="en-US" sz="1100" dirty="0"/>
                    </a:p>
                  </a:txBody>
                  <a:tcPr marL="45720" marR="45720" anchor="ctr">
                    <a:lnL w="9525" cap="flat" cmpd="sng" algn="ctr">
                      <a:solidFill>
                        <a:srgbClr val="BFD3D6"/>
                      </a:solidFill>
                      <a:prstDash val="solid"/>
                      <a:round/>
                      <a:headEnd type="none" w="med" len="med"/>
                      <a:tailEnd type="none" w="med" len="med"/>
                    </a:lnL>
                    <a:lnR w="9525" cap="flat" cmpd="sng" algn="ctr">
                      <a:solidFill>
                        <a:srgbClr val="BFD3D6"/>
                      </a:solidFill>
                      <a:prstDash val="solid"/>
                      <a:round/>
                      <a:headEnd type="none" w="med" len="med"/>
                      <a:tailEnd type="none" w="med" len="med"/>
                    </a:lnR>
                    <a:lnT w="9525" cap="flat" cmpd="sng" algn="ctr">
                      <a:solidFill>
                        <a:srgbClr val="BFD3D6"/>
                      </a:solidFill>
                      <a:prstDash val="solid"/>
                      <a:round/>
                      <a:headEnd type="none" w="med" len="med"/>
                      <a:tailEnd type="none" w="med" len="med"/>
                    </a:lnT>
                    <a:lnB w="9525" cap="flat" cmpd="sng" algn="ctr">
                      <a:solidFill>
                        <a:srgbClr val="BFD3D6"/>
                      </a:solidFill>
                      <a:prstDash val="solid"/>
                      <a:round/>
                      <a:headEnd type="none" w="med" len="med"/>
                      <a:tailEnd type="none" w="med" len="med"/>
                    </a:lnB>
                    <a:solidFill>
                      <a:srgbClr val="FFFFFF"/>
                    </a:solidFill>
                  </a:tcPr>
                </a:tc>
                <a:tc>
                  <a:txBody>
                    <a:bodyPr/>
                    <a:lstStyle/>
                    <a:p>
                      <a:pPr marL="0" indent="0">
                        <a:buNone/>
                      </a:pPr>
                      <a:r>
                        <a:rPr lang="en-US" sz="1100" dirty="0">
                          <a:solidFill>
                            <a:srgbClr val="13262F"/>
                          </a:solidFill>
                        </a:rPr>
                        <a:t>20/3/24</a:t>
                      </a:r>
                      <a:endParaRPr lang="en-US" sz="1100" dirty="0"/>
                    </a:p>
                  </a:txBody>
                  <a:tcPr marL="45720" marR="45720" anchor="ctr">
                    <a:lnL w="9525" cap="flat" cmpd="sng" algn="ctr">
                      <a:solidFill>
                        <a:srgbClr val="BFD3D6"/>
                      </a:solidFill>
                      <a:prstDash val="solid"/>
                      <a:round/>
                      <a:headEnd type="none" w="med" len="med"/>
                      <a:tailEnd type="none" w="med" len="med"/>
                    </a:lnL>
                    <a:lnR w="9525" cap="flat" cmpd="sng" algn="ctr">
                      <a:solidFill>
                        <a:srgbClr val="BFD3D6"/>
                      </a:solidFill>
                      <a:prstDash val="solid"/>
                      <a:round/>
                      <a:headEnd type="none" w="med" len="med"/>
                      <a:tailEnd type="none" w="med" len="med"/>
                    </a:lnR>
                    <a:lnT w="9525" cap="flat" cmpd="sng" algn="ctr">
                      <a:solidFill>
                        <a:srgbClr val="BFD3D6"/>
                      </a:solidFill>
                      <a:prstDash val="solid"/>
                      <a:round/>
                      <a:headEnd type="none" w="med" len="med"/>
                      <a:tailEnd type="none" w="med" len="med"/>
                    </a:lnT>
                    <a:lnB w="9525" cap="flat" cmpd="sng" algn="ctr">
                      <a:solidFill>
                        <a:srgbClr val="BFD3D6"/>
                      </a:solidFill>
                      <a:prstDash val="solid"/>
                      <a:round/>
                      <a:headEnd type="none" w="med" len="med"/>
                      <a:tailEnd type="none" w="med" len="med"/>
                    </a:lnB>
                    <a:solidFill>
                      <a:srgbClr val="FFFFFF"/>
                    </a:solidFill>
                  </a:tcPr>
                </a:tc>
                <a:tc>
                  <a:txBody>
                    <a:bodyPr/>
                    <a:lstStyle/>
                    <a:p>
                      <a:pPr marL="0" indent="0">
                        <a:buNone/>
                      </a:pPr>
                      <a:r>
                        <a:rPr lang="en-US" sz="1100" dirty="0">
                          <a:solidFill>
                            <a:srgbClr val="13262F"/>
                          </a:solidFill>
                        </a:rPr>
                        <a:t>48,000</a:t>
                      </a:r>
                      <a:endParaRPr lang="en-US" sz="1100" dirty="0"/>
                    </a:p>
                  </a:txBody>
                  <a:tcPr marL="45720" marR="45720" anchor="ctr">
                    <a:lnL w="9525" cap="flat" cmpd="sng" algn="ctr">
                      <a:solidFill>
                        <a:srgbClr val="BFD3D6"/>
                      </a:solidFill>
                      <a:prstDash val="solid"/>
                      <a:round/>
                      <a:headEnd type="none" w="med" len="med"/>
                      <a:tailEnd type="none" w="med" len="med"/>
                    </a:lnL>
                    <a:lnR w="9525" cap="flat" cmpd="sng" algn="ctr">
                      <a:solidFill>
                        <a:srgbClr val="BFD3D6"/>
                      </a:solidFill>
                      <a:prstDash val="solid"/>
                      <a:round/>
                      <a:headEnd type="none" w="med" len="med"/>
                      <a:tailEnd type="none" w="med" len="med"/>
                    </a:lnR>
                    <a:lnT w="9525" cap="flat" cmpd="sng" algn="ctr">
                      <a:solidFill>
                        <a:srgbClr val="BFD3D6"/>
                      </a:solidFill>
                      <a:prstDash val="solid"/>
                      <a:round/>
                      <a:headEnd type="none" w="med" len="med"/>
                      <a:tailEnd type="none" w="med" len="med"/>
                    </a:lnT>
                    <a:lnB w="9525" cap="flat" cmpd="sng" algn="ctr">
                      <a:solidFill>
                        <a:srgbClr val="BFD3D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Arrow"/>
          <p:cNvSpPr/>
          <p:nvPr/>
        </p:nvSpPr>
        <p:spPr>
          <a:xfrm>
            <a:off x="8942832" y="2743200"/>
            <a:ext cx="411480" cy="411480"/>
          </a:xfrm>
          <a:prstGeom prst="rightArrow">
            <a:avLst/>
          </a:prstGeom>
          <a:solidFill>
            <a:schemeClr val="accent6"/>
          </a:solidFill>
          <a:ln/>
        </p:spPr>
      </p:sp>
      <p:sp>
        <p:nvSpPr>
          <p:cNvPr id="9" name="After label"/>
          <p:cNvSpPr txBox="1"/>
          <p:nvPr/>
        </p:nvSpPr>
        <p:spPr>
          <a:xfrm>
            <a:off x="9418320" y="1234440"/>
            <a:ext cx="2194560" cy="320040"/>
          </a:xfrm>
          <a:prstGeom prst="rect">
            <a:avLst/>
          </a:prstGeom>
          <a:noFill/>
          <a:ln/>
        </p:spPr>
        <p:txBody>
          <a:bodyPr wrap="square" lIns="0" tIns="0" rIns="0" bIns="0" rtlCol="0" anchor="t"/>
          <a:lstStyle/>
          <a:p>
            <a:pPr marL="0" indent="0">
              <a:buNone/>
            </a:pPr>
            <a:r>
              <a:rPr lang="en-US" sz="1400" b="1" dirty="0">
                <a:solidFill>
                  <a:schemeClr val="bg2"/>
                </a:solidFill>
              </a:rPr>
              <a:t>After: clean &amp; ready</a:t>
            </a:r>
            <a:endParaRPr lang="en-US" sz="1400" dirty="0"/>
          </a:p>
        </p:txBody>
      </p:sp>
      <p:graphicFrame>
        <p:nvGraphicFramePr>
          <p:cNvPr id="10" name="Clean table"/>
          <p:cNvGraphicFramePr>
            <a:graphicFrameLocks noGrp="1"/>
          </p:cNvGraphicFramePr>
          <p:nvPr>
            <p:extLst>
              <p:ext uri="{D42A27DB-BD31-4B8C-83A1-F6EECF244321}">
                <p14:modId xmlns:p14="http://schemas.microsoft.com/office/powerpoint/2010/main" val="1579011935"/>
              </p:ext>
            </p:extLst>
          </p:nvPr>
        </p:nvGraphicFramePr>
        <p:xfrm>
          <a:off x="9418320" y="1645920"/>
          <a:ext cx="2240280" cy="1920240"/>
        </p:xfrm>
        <a:graphic>
          <a:graphicData uri="http://schemas.openxmlformats.org/drawingml/2006/table">
            <a:tbl>
              <a:tblPr/>
              <a:tblGrid>
                <a:gridCol w="59436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tblGrid>
              <a:tr h="384048">
                <a:tc>
                  <a:txBody>
                    <a:bodyPr/>
                    <a:lstStyle/>
                    <a:p>
                      <a:pPr marL="0" indent="0">
                        <a:buNone/>
                      </a:pPr>
                      <a:r>
                        <a:rPr lang="en-US" sz="1100" b="1" dirty="0">
                          <a:solidFill>
                            <a:srgbClr val="FFFFFF"/>
                          </a:solidFill>
                        </a:rPr>
                        <a:t>name</a:t>
                      </a:r>
                      <a:endParaRPr lang="en-US" sz="1100" dirty="0"/>
                    </a:p>
                  </a:txBody>
                  <a:tcPr marL="45720" marR="45720" anchor="ctr">
                    <a:lnL w="9525" cap="flat" cmpd="sng" algn="ctr">
                      <a:solidFill>
                        <a:srgbClr val="BFD3D6"/>
                      </a:solidFill>
                      <a:prstDash val="solid"/>
                      <a:round/>
                      <a:headEnd type="none" w="med" len="med"/>
                      <a:tailEnd type="none" w="med" len="med"/>
                    </a:lnL>
                    <a:lnR w="9525" cap="flat" cmpd="sng" algn="ctr">
                      <a:solidFill>
                        <a:srgbClr val="BFD3D6"/>
                      </a:solidFill>
                      <a:prstDash val="solid"/>
                      <a:round/>
                      <a:headEnd type="none" w="med" len="med"/>
                      <a:tailEnd type="none" w="med" len="med"/>
                    </a:lnR>
                    <a:lnT w="9525" cap="flat" cmpd="sng" algn="ctr">
                      <a:solidFill>
                        <a:srgbClr val="BFD3D6"/>
                      </a:solidFill>
                      <a:prstDash val="solid"/>
                      <a:round/>
                      <a:headEnd type="none" w="med" len="med"/>
                      <a:tailEnd type="none" w="med" len="med"/>
                    </a:lnT>
                    <a:lnB w="9525" cap="flat" cmpd="sng" algn="ctr">
                      <a:solidFill>
                        <a:srgbClr val="BFD3D6"/>
                      </a:solidFill>
                      <a:prstDash val="solid"/>
                      <a:round/>
                      <a:headEnd type="none" w="med" len="med"/>
                      <a:tailEnd type="none" w="med" len="med"/>
                    </a:lnB>
                    <a:solidFill>
                      <a:srgbClr val="0E7C86"/>
                    </a:solidFill>
                  </a:tcPr>
                </a:tc>
                <a:tc>
                  <a:txBody>
                    <a:bodyPr/>
                    <a:lstStyle/>
                    <a:p>
                      <a:pPr marL="0" indent="0">
                        <a:buNone/>
                      </a:pPr>
                      <a:r>
                        <a:rPr lang="en-US" sz="1100" b="1" dirty="0">
                          <a:solidFill>
                            <a:srgbClr val="FFFFFF"/>
                          </a:solidFill>
                        </a:rPr>
                        <a:t>dob</a:t>
                      </a:r>
                      <a:endParaRPr lang="en-US" sz="1100" dirty="0"/>
                    </a:p>
                  </a:txBody>
                  <a:tcPr marL="45720" marR="45720" anchor="ctr">
                    <a:lnL w="9525" cap="flat" cmpd="sng" algn="ctr">
                      <a:solidFill>
                        <a:srgbClr val="BFD3D6"/>
                      </a:solidFill>
                      <a:prstDash val="solid"/>
                      <a:round/>
                      <a:headEnd type="none" w="med" len="med"/>
                      <a:tailEnd type="none" w="med" len="med"/>
                    </a:lnL>
                    <a:lnR w="9525" cap="flat" cmpd="sng" algn="ctr">
                      <a:solidFill>
                        <a:srgbClr val="BFD3D6"/>
                      </a:solidFill>
                      <a:prstDash val="solid"/>
                      <a:round/>
                      <a:headEnd type="none" w="med" len="med"/>
                      <a:tailEnd type="none" w="med" len="med"/>
                    </a:lnR>
                    <a:lnT w="9525" cap="flat" cmpd="sng" algn="ctr">
                      <a:solidFill>
                        <a:srgbClr val="BFD3D6"/>
                      </a:solidFill>
                      <a:prstDash val="solid"/>
                      <a:round/>
                      <a:headEnd type="none" w="med" len="med"/>
                      <a:tailEnd type="none" w="med" len="med"/>
                    </a:lnT>
                    <a:lnB w="9525" cap="flat" cmpd="sng" algn="ctr">
                      <a:solidFill>
                        <a:srgbClr val="BFD3D6"/>
                      </a:solidFill>
                      <a:prstDash val="solid"/>
                      <a:round/>
                      <a:headEnd type="none" w="med" len="med"/>
                      <a:tailEnd type="none" w="med" len="med"/>
                    </a:lnB>
                    <a:solidFill>
                      <a:srgbClr val="0E7C86"/>
                    </a:solidFill>
                  </a:tcPr>
                </a:tc>
                <a:tc>
                  <a:txBody>
                    <a:bodyPr/>
                    <a:lstStyle/>
                    <a:p>
                      <a:pPr marL="0" indent="0">
                        <a:buNone/>
                      </a:pPr>
                      <a:r>
                        <a:rPr lang="en-US" sz="1100" b="1" dirty="0">
                          <a:solidFill>
                            <a:srgbClr val="FFFFFF"/>
                          </a:solidFill>
                        </a:rPr>
                        <a:t>salary</a:t>
                      </a:r>
                      <a:endParaRPr lang="en-US" sz="1100" dirty="0"/>
                    </a:p>
                  </a:txBody>
                  <a:tcPr marL="45720" marR="45720" anchor="ctr">
                    <a:lnL w="9525" cap="flat" cmpd="sng" algn="ctr">
                      <a:solidFill>
                        <a:srgbClr val="BFD3D6"/>
                      </a:solidFill>
                      <a:prstDash val="solid"/>
                      <a:round/>
                      <a:headEnd type="none" w="med" len="med"/>
                      <a:tailEnd type="none" w="med" len="med"/>
                    </a:lnL>
                    <a:lnR w="9525" cap="flat" cmpd="sng" algn="ctr">
                      <a:solidFill>
                        <a:srgbClr val="BFD3D6"/>
                      </a:solidFill>
                      <a:prstDash val="solid"/>
                      <a:round/>
                      <a:headEnd type="none" w="med" len="med"/>
                      <a:tailEnd type="none" w="med" len="med"/>
                    </a:lnR>
                    <a:lnT w="9525" cap="flat" cmpd="sng" algn="ctr">
                      <a:solidFill>
                        <a:srgbClr val="BFD3D6"/>
                      </a:solidFill>
                      <a:prstDash val="solid"/>
                      <a:round/>
                      <a:headEnd type="none" w="med" len="med"/>
                      <a:tailEnd type="none" w="med" len="med"/>
                    </a:lnT>
                    <a:lnB w="9525" cap="flat" cmpd="sng" algn="ctr">
                      <a:solidFill>
                        <a:srgbClr val="BFD3D6"/>
                      </a:solidFill>
                      <a:prstDash val="solid"/>
                      <a:round/>
                      <a:headEnd type="none" w="med" len="med"/>
                      <a:tailEnd type="none" w="med" len="med"/>
                    </a:lnB>
                    <a:solidFill>
                      <a:srgbClr val="0E7C86"/>
                    </a:solidFill>
                  </a:tcPr>
                </a:tc>
                <a:extLst>
                  <a:ext uri="{0D108BD9-81ED-4DB2-BD59-A6C34878D82A}">
                    <a16:rowId xmlns:a16="http://schemas.microsoft.com/office/drawing/2014/main" val="10000"/>
                  </a:ext>
                </a:extLst>
              </a:tr>
              <a:tr h="384048">
                <a:tc>
                  <a:txBody>
                    <a:bodyPr/>
                    <a:lstStyle/>
                    <a:p>
                      <a:pPr marL="0" indent="0">
                        <a:buNone/>
                      </a:pPr>
                      <a:r>
                        <a:rPr lang="en-US" sz="1100" dirty="0">
                          <a:solidFill>
                            <a:srgbClr val="13262F"/>
                          </a:solidFill>
                        </a:rPr>
                        <a:t>Asha</a:t>
                      </a:r>
                      <a:endParaRPr lang="en-US" sz="1100" dirty="0"/>
                    </a:p>
                  </a:txBody>
                  <a:tcPr marL="45720" marR="45720" anchor="ctr">
                    <a:lnL w="9525" cap="flat" cmpd="sng" algn="ctr">
                      <a:solidFill>
                        <a:srgbClr val="BFD3D6"/>
                      </a:solidFill>
                      <a:prstDash val="solid"/>
                      <a:round/>
                      <a:headEnd type="none" w="med" len="med"/>
                      <a:tailEnd type="none" w="med" len="med"/>
                    </a:lnL>
                    <a:lnR w="9525" cap="flat" cmpd="sng" algn="ctr">
                      <a:solidFill>
                        <a:srgbClr val="BFD3D6"/>
                      </a:solidFill>
                      <a:prstDash val="solid"/>
                      <a:round/>
                      <a:headEnd type="none" w="med" len="med"/>
                      <a:tailEnd type="none" w="med" len="med"/>
                    </a:lnR>
                    <a:lnT w="9525" cap="flat" cmpd="sng" algn="ctr">
                      <a:solidFill>
                        <a:srgbClr val="BFD3D6"/>
                      </a:solidFill>
                      <a:prstDash val="solid"/>
                      <a:round/>
                      <a:headEnd type="none" w="med" len="med"/>
                      <a:tailEnd type="none" w="med" len="med"/>
                    </a:lnT>
                    <a:lnB w="9525" cap="flat" cmpd="sng" algn="ctr">
                      <a:solidFill>
                        <a:srgbClr val="BFD3D6"/>
                      </a:solidFill>
                      <a:prstDash val="solid"/>
                      <a:round/>
                      <a:headEnd type="none" w="med" len="med"/>
                      <a:tailEnd type="none" w="med" len="med"/>
                    </a:lnB>
                    <a:solidFill>
                      <a:srgbClr val="FFFFFF"/>
                    </a:solidFill>
                  </a:tcPr>
                </a:tc>
                <a:tc>
                  <a:txBody>
                    <a:bodyPr/>
                    <a:lstStyle/>
                    <a:p>
                      <a:pPr marL="0" indent="0">
                        <a:buNone/>
                      </a:pPr>
                      <a:r>
                        <a:rPr lang="en-US" sz="1100" dirty="0">
                          <a:solidFill>
                            <a:srgbClr val="13262F"/>
                          </a:solidFill>
                        </a:rPr>
                        <a:t>2024-03-12</a:t>
                      </a:r>
                      <a:endParaRPr lang="en-US" sz="1100" dirty="0"/>
                    </a:p>
                  </a:txBody>
                  <a:tcPr marL="45720" marR="45720" anchor="ctr">
                    <a:lnL w="9525" cap="flat" cmpd="sng" algn="ctr">
                      <a:solidFill>
                        <a:srgbClr val="BFD3D6"/>
                      </a:solidFill>
                      <a:prstDash val="solid"/>
                      <a:round/>
                      <a:headEnd type="none" w="med" len="med"/>
                      <a:tailEnd type="none" w="med" len="med"/>
                    </a:lnL>
                    <a:lnR w="9525" cap="flat" cmpd="sng" algn="ctr">
                      <a:solidFill>
                        <a:srgbClr val="BFD3D6"/>
                      </a:solidFill>
                      <a:prstDash val="solid"/>
                      <a:round/>
                      <a:headEnd type="none" w="med" len="med"/>
                      <a:tailEnd type="none" w="med" len="med"/>
                    </a:lnR>
                    <a:lnT w="9525" cap="flat" cmpd="sng" algn="ctr">
                      <a:solidFill>
                        <a:srgbClr val="BFD3D6"/>
                      </a:solidFill>
                      <a:prstDash val="solid"/>
                      <a:round/>
                      <a:headEnd type="none" w="med" len="med"/>
                      <a:tailEnd type="none" w="med" len="med"/>
                    </a:lnT>
                    <a:lnB w="9525" cap="flat" cmpd="sng" algn="ctr">
                      <a:solidFill>
                        <a:srgbClr val="BFD3D6"/>
                      </a:solidFill>
                      <a:prstDash val="solid"/>
                      <a:round/>
                      <a:headEnd type="none" w="med" len="med"/>
                      <a:tailEnd type="none" w="med" len="med"/>
                    </a:lnB>
                    <a:solidFill>
                      <a:srgbClr val="FFFFFF"/>
                    </a:solidFill>
                  </a:tcPr>
                </a:tc>
                <a:tc>
                  <a:txBody>
                    <a:bodyPr/>
                    <a:lstStyle/>
                    <a:p>
                      <a:pPr marL="0" indent="0">
                        <a:buNone/>
                      </a:pPr>
                      <a:r>
                        <a:rPr lang="en-US" sz="1100" dirty="0">
                          <a:solidFill>
                            <a:srgbClr val="13262F"/>
                          </a:solidFill>
                        </a:rPr>
                        <a:t>52000</a:t>
                      </a:r>
                      <a:endParaRPr lang="en-US" sz="1100" dirty="0"/>
                    </a:p>
                  </a:txBody>
                  <a:tcPr marL="45720" marR="45720" anchor="ctr">
                    <a:lnL w="9525" cap="flat" cmpd="sng" algn="ctr">
                      <a:solidFill>
                        <a:srgbClr val="BFD3D6"/>
                      </a:solidFill>
                      <a:prstDash val="solid"/>
                      <a:round/>
                      <a:headEnd type="none" w="med" len="med"/>
                      <a:tailEnd type="none" w="med" len="med"/>
                    </a:lnL>
                    <a:lnR w="9525" cap="flat" cmpd="sng" algn="ctr">
                      <a:solidFill>
                        <a:srgbClr val="BFD3D6"/>
                      </a:solidFill>
                      <a:prstDash val="solid"/>
                      <a:round/>
                      <a:headEnd type="none" w="med" len="med"/>
                      <a:tailEnd type="none" w="med" len="med"/>
                    </a:lnR>
                    <a:lnT w="9525" cap="flat" cmpd="sng" algn="ctr">
                      <a:solidFill>
                        <a:srgbClr val="BFD3D6"/>
                      </a:solidFill>
                      <a:prstDash val="solid"/>
                      <a:round/>
                      <a:headEnd type="none" w="med" len="med"/>
                      <a:tailEnd type="none" w="med" len="med"/>
                    </a:lnT>
                    <a:lnB w="9525" cap="flat" cmpd="sng" algn="ctr">
                      <a:solidFill>
                        <a:srgbClr val="BFD3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100" dirty="0">
                          <a:solidFill>
                            <a:srgbClr val="13262F"/>
                          </a:solidFill>
                        </a:rPr>
                        <a:t>Ravi</a:t>
                      </a:r>
                      <a:endParaRPr lang="en-US" sz="1100" dirty="0"/>
                    </a:p>
                  </a:txBody>
                  <a:tcPr marL="45720" marR="45720" anchor="ctr">
                    <a:lnL w="9525" cap="flat" cmpd="sng" algn="ctr">
                      <a:solidFill>
                        <a:srgbClr val="BFD3D6"/>
                      </a:solidFill>
                      <a:prstDash val="solid"/>
                      <a:round/>
                      <a:headEnd type="none" w="med" len="med"/>
                      <a:tailEnd type="none" w="med" len="med"/>
                    </a:lnL>
                    <a:lnR w="9525" cap="flat" cmpd="sng" algn="ctr">
                      <a:solidFill>
                        <a:srgbClr val="BFD3D6"/>
                      </a:solidFill>
                      <a:prstDash val="solid"/>
                      <a:round/>
                      <a:headEnd type="none" w="med" len="med"/>
                      <a:tailEnd type="none" w="med" len="med"/>
                    </a:lnR>
                    <a:lnT w="9525" cap="flat" cmpd="sng" algn="ctr">
                      <a:solidFill>
                        <a:srgbClr val="BFD3D6"/>
                      </a:solidFill>
                      <a:prstDash val="solid"/>
                      <a:round/>
                      <a:headEnd type="none" w="med" len="med"/>
                      <a:tailEnd type="none" w="med" len="med"/>
                    </a:lnT>
                    <a:lnB w="9525" cap="flat" cmpd="sng" algn="ctr">
                      <a:solidFill>
                        <a:srgbClr val="BFD3D6"/>
                      </a:solidFill>
                      <a:prstDash val="solid"/>
                      <a:round/>
                      <a:headEnd type="none" w="med" len="med"/>
                      <a:tailEnd type="none" w="med" len="med"/>
                    </a:lnB>
                    <a:solidFill>
                      <a:srgbClr val="FFFFFF"/>
                    </a:solidFill>
                  </a:tcPr>
                </a:tc>
                <a:tc>
                  <a:txBody>
                    <a:bodyPr/>
                    <a:lstStyle/>
                    <a:p>
                      <a:pPr marL="0" indent="0">
                        <a:buNone/>
                      </a:pPr>
                      <a:r>
                        <a:rPr lang="en-US" sz="1100" dirty="0">
                          <a:solidFill>
                            <a:srgbClr val="13262F"/>
                          </a:solidFill>
                        </a:rPr>
                        <a:t>2024-03-05</a:t>
                      </a:r>
                      <a:endParaRPr lang="en-US" sz="1100" dirty="0"/>
                    </a:p>
                  </a:txBody>
                  <a:tcPr marL="45720" marR="45720" anchor="ctr">
                    <a:lnL w="9525" cap="flat" cmpd="sng" algn="ctr">
                      <a:solidFill>
                        <a:srgbClr val="BFD3D6"/>
                      </a:solidFill>
                      <a:prstDash val="solid"/>
                      <a:round/>
                      <a:headEnd type="none" w="med" len="med"/>
                      <a:tailEnd type="none" w="med" len="med"/>
                    </a:lnL>
                    <a:lnR w="9525" cap="flat" cmpd="sng" algn="ctr">
                      <a:solidFill>
                        <a:srgbClr val="BFD3D6"/>
                      </a:solidFill>
                      <a:prstDash val="solid"/>
                      <a:round/>
                      <a:headEnd type="none" w="med" len="med"/>
                      <a:tailEnd type="none" w="med" len="med"/>
                    </a:lnR>
                    <a:lnT w="9525" cap="flat" cmpd="sng" algn="ctr">
                      <a:solidFill>
                        <a:srgbClr val="BFD3D6"/>
                      </a:solidFill>
                      <a:prstDash val="solid"/>
                      <a:round/>
                      <a:headEnd type="none" w="med" len="med"/>
                      <a:tailEnd type="none" w="med" len="med"/>
                    </a:lnT>
                    <a:lnB w="9525" cap="flat" cmpd="sng" algn="ctr">
                      <a:solidFill>
                        <a:srgbClr val="BFD3D6"/>
                      </a:solidFill>
                      <a:prstDash val="solid"/>
                      <a:round/>
                      <a:headEnd type="none" w="med" len="med"/>
                      <a:tailEnd type="none" w="med" len="med"/>
                    </a:lnB>
                    <a:solidFill>
                      <a:srgbClr val="FFFFFF"/>
                    </a:solidFill>
                  </a:tcPr>
                </a:tc>
                <a:tc>
                  <a:txBody>
                    <a:bodyPr/>
                    <a:lstStyle/>
                    <a:p>
                      <a:pPr marL="0" indent="0">
                        <a:buNone/>
                      </a:pPr>
                      <a:r>
                        <a:rPr lang="en-US" sz="1100" dirty="0">
                          <a:solidFill>
                            <a:srgbClr val="13262F"/>
                          </a:solidFill>
                        </a:rPr>
                        <a:t>52000</a:t>
                      </a:r>
                      <a:endParaRPr lang="en-US" sz="1100" dirty="0"/>
                    </a:p>
                  </a:txBody>
                  <a:tcPr marL="45720" marR="45720" anchor="ctr">
                    <a:lnL w="9525" cap="flat" cmpd="sng" algn="ctr">
                      <a:solidFill>
                        <a:srgbClr val="BFD3D6"/>
                      </a:solidFill>
                      <a:prstDash val="solid"/>
                      <a:round/>
                      <a:headEnd type="none" w="med" len="med"/>
                      <a:tailEnd type="none" w="med" len="med"/>
                    </a:lnL>
                    <a:lnR w="9525" cap="flat" cmpd="sng" algn="ctr">
                      <a:solidFill>
                        <a:srgbClr val="BFD3D6"/>
                      </a:solidFill>
                      <a:prstDash val="solid"/>
                      <a:round/>
                      <a:headEnd type="none" w="med" len="med"/>
                      <a:tailEnd type="none" w="med" len="med"/>
                    </a:lnR>
                    <a:lnT w="9525" cap="flat" cmpd="sng" algn="ctr">
                      <a:solidFill>
                        <a:srgbClr val="BFD3D6"/>
                      </a:solidFill>
                      <a:prstDash val="solid"/>
                      <a:round/>
                      <a:headEnd type="none" w="med" len="med"/>
                      <a:tailEnd type="none" w="med" len="med"/>
                    </a:lnT>
                    <a:lnB w="9525" cap="flat" cmpd="sng" algn="ctr">
                      <a:solidFill>
                        <a:srgbClr val="BFD3D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buNone/>
                      </a:pPr>
                      <a:r>
                        <a:rPr lang="en-US" sz="1100" dirty="0">
                          <a:solidFill>
                            <a:srgbClr val="13262F"/>
                          </a:solidFill>
                        </a:rPr>
                        <a:t>Meena</a:t>
                      </a:r>
                      <a:endParaRPr lang="en-US" sz="1100" dirty="0"/>
                    </a:p>
                  </a:txBody>
                  <a:tcPr marL="45720" marR="45720" anchor="ctr">
                    <a:lnL w="9525" cap="flat" cmpd="sng" algn="ctr">
                      <a:solidFill>
                        <a:srgbClr val="BFD3D6"/>
                      </a:solidFill>
                      <a:prstDash val="solid"/>
                      <a:round/>
                      <a:headEnd type="none" w="med" len="med"/>
                      <a:tailEnd type="none" w="med" len="med"/>
                    </a:lnL>
                    <a:lnR w="9525" cap="flat" cmpd="sng" algn="ctr">
                      <a:solidFill>
                        <a:srgbClr val="BFD3D6"/>
                      </a:solidFill>
                      <a:prstDash val="solid"/>
                      <a:round/>
                      <a:headEnd type="none" w="med" len="med"/>
                      <a:tailEnd type="none" w="med" len="med"/>
                    </a:lnR>
                    <a:lnT w="9525" cap="flat" cmpd="sng" algn="ctr">
                      <a:solidFill>
                        <a:srgbClr val="BFD3D6"/>
                      </a:solidFill>
                      <a:prstDash val="solid"/>
                      <a:round/>
                      <a:headEnd type="none" w="med" len="med"/>
                      <a:tailEnd type="none" w="med" len="med"/>
                    </a:lnT>
                    <a:lnB w="9525" cap="flat" cmpd="sng" algn="ctr">
                      <a:solidFill>
                        <a:srgbClr val="BFD3D6"/>
                      </a:solidFill>
                      <a:prstDash val="solid"/>
                      <a:round/>
                      <a:headEnd type="none" w="med" len="med"/>
                      <a:tailEnd type="none" w="med" len="med"/>
                    </a:lnB>
                    <a:solidFill>
                      <a:srgbClr val="FFFFFF"/>
                    </a:solidFill>
                  </a:tcPr>
                </a:tc>
                <a:tc>
                  <a:txBody>
                    <a:bodyPr/>
                    <a:lstStyle/>
                    <a:p>
                      <a:pPr marL="0" indent="0">
                        <a:buNone/>
                      </a:pPr>
                      <a:r>
                        <a:rPr lang="en-US" sz="1100" dirty="0">
                          <a:solidFill>
                            <a:srgbClr val="13262F"/>
                          </a:solidFill>
                        </a:rPr>
                        <a:t>2024-03-09</a:t>
                      </a:r>
                      <a:endParaRPr lang="en-US" sz="1100" dirty="0"/>
                    </a:p>
                  </a:txBody>
                  <a:tcPr marL="45720" marR="45720" anchor="ctr">
                    <a:lnL w="9525" cap="flat" cmpd="sng" algn="ctr">
                      <a:solidFill>
                        <a:srgbClr val="BFD3D6"/>
                      </a:solidFill>
                      <a:prstDash val="solid"/>
                      <a:round/>
                      <a:headEnd type="none" w="med" len="med"/>
                      <a:tailEnd type="none" w="med" len="med"/>
                    </a:lnL>
                    <a:lnR w="9525" cap="flat" cmpd="sng" algn="ctr">
                      <a:solidFill>
                        <a:srgbClr val="BFD3D6"/>
                      </a:solidFill>
                      <a:prstDash val="solid"/>
                      <a:round/>
                      <a:headEnd type="none" w="med" len="med"/>
                      <a:tailEnd type="none" w="med" len="med"/>
                    </a:lnR>
                    <a:lnT w="9525" cap="flat" cmpd="sng" algn="ctr">
                      <a:solidFill>
                        <a:srgbClr val="BFD3D6"/>
                      </a:solidFill>
                      <a:prstDash val="solid"/>
                      <a:round/>
                      <a:headEnd type="none" w="med" len="med"/>
                      <a:tailEnd type="none" w="med" len="med"/>
                    </a:lnT>
                    <a:lnB w="9525" cap="flat" cmpd="sng" algn="ctr">
                      <a:solidFill>
                        <a:srgbClr val="BFD3D6"/>
                      </a:solidFill>
                      <a:prstDash val="solid"/>
                      <a:round/>
                      <a:headEnd type="none" w="med" len="med"/>
                      <a:tailEnd type="none" w="med" len="med"/>
                    </a:lnB>
                    <a:solidFill>
                      <a:srgbClr val="FFFFFF"/>
                    </a:solidFill>
                  </a:tcPr>
                </a:tc>
                <a:tc>
                  <a:txBody>
                    <a:bodyPr/>
                    <a:lstStyle/>
                    <a:p>
                      <a:pPr marL="0" indent="0">
                        <a:buNone/>
                      </a:pPr>
                      <a:r>
                        <a:rPr lang="en-US" sz="1100" b="1" dirty="0">
                          <a:solidFill>
                            <a:srgbClr val="13262F"/>
                          </a:solidFill>
                        </a:rPr>
                        <a:t>980000</a:t>
                      </a:r>
                      <a:endParaRPr lang="en-US" sz="1100" dirty="0"/>
                    </a:p>
                  </a:txBody>
                  <a:tcPr marL="45720" marR="45720" anchor="ctr">
                    <a:lnL w="9525" cap="flat" cmpd="sng" algn="ctr">
                      <a:solidFill>
                        <a:srgbClr val="BFD3D6"/>
                      </a:solidFill>
                      <a:prstDash val="solid"/>
                      <a:round/>
                      <a:headEnd type="none" w="med" len="med"/>
                      <a:tailEnd type="none" w="med" len="med"/>
                    </a:lnL>
                    <a:lnR w="9525" cap="flat" cmpd="sng" algn="ctr">
                      <a:solidFill>
                        <a:srgbClr val="BFD3D6"/>
                      </a:solidFill>
                      <a:prstDash val="solid"/>
                      <a:round/>
                      <a:headEnd type="none" w="med" len="med"/>
                      <a:tailEnd type="none" w="med" len="med"/>
                    </a:lnR>
                    <a:lnT w="9525" cap="flat" cmpd="sng" algn="ctr">
                      <a:solidFill>
                        <a:srgbClr val="BFD3D6"/>
                      </a:solidFill>
                      <a:prstDash val="solid"/>
                      <a:round/>
                      <a:headEnd type="none" w="med" len="med"/>
                      <a:tailEnd type="none" w="med" len="med"/>
                    </a:lnT>
                    <a:lnB w="9525" cap="flat" cmpd="sng" algn="ctr">
                      <a:solidFill>
                        <a:srgbClr val="BFD3D6"/>
                      </a:solidFill>
                      <a:prstDash val="solid"/>
                      <a:round/>
                      <a:headEnd type="none" w="med" len="med"/>
                      <a:tailEnd type="none" w="med" len="med"/>
                    </a:lnB>
                    <a:solidFill>
                      <a:srgbClr val="F2994A"/>
                    </a:solidFill>
                  </a:tcPr>
                </a:tc>
                <a:extLst>
                  <a:ext uri="{0D108BD9-81ED-4DB2-BD59-A6C34878D82A}">
                    <a16:rowId xmlns:a16="http://schemas.microsoft.com/office/drawing/2014/main" val="10003"/>
                  </a:ext>
                </a:extLst>
              </a:tr>
              <a:tr h="384048">
                <a:tc>
                  <a:txBody>
                    <a:bodyPr/>
                    <a:lstStyle/>
                    <a:p>
                      <a:pPr marL="0" indent="0">
                        <a:buNone/>
                      </a:pPr>
                      <a:r>
                        <a:rPr lang="en-US" sz="1100" dirty="0">
                          <a:solidFill>
                            <a:srgbClr val="13262F"/>
                          </a:solidFill>
                        </a:rPr>
                        <a:t>Kiran</a:t>
                      </a:r>
                      <a:endParaRPr lang="en-US" sz="1100" dirty="0"/>
                    </a:p>
                  </a:txBody>
                  <a:tcPr marL="45720" marR="45720" anchor="ctr">
                    <a:lnL w="9525" cap="flat" cmpd="sng" algn="ctr">
                      <a:solidFill>
                        <a:srgbClr val="BFD3D6"/>
                      </a:solidFill>
                      <a:prstDash val="solid"/>
                      <a:round/>
                      <a:headEnd type="none" w="med" len="med"/>
                      <a:tailEnd type="none" w="med" len="med"/>
                    </a:lnL>
                    <a:lnR w="9525" cap="flat" cmpd="sng" algn="ctr">
                      <a:solidFill>
                        <a:srgbClr val="BFD3D6"/>
                      </a:solidFill>
                      <a:prstDash val="solid"/>
                      <a:round/>
                      <a:headEnd type="none" w="med" len="med"/>
                      <a:tailEnd type="none" w="med" len="med"/>
                    </a:lnR>
                    <a:lnT w="9525" cap="flat" cmpd="sng" algn="ctr">
                      <a:solidFill>
                        <a:srgbClr val="BFD3D6"/>
                      </a:solidFill>
                      <a:prstDash val="solid"/>
                      <a:round/>
                      <a:headEnd type="none" w="med" len="med"/>
                      <a:tailEnd type="none" w="med" len="med"/>
                    </a:lnT>
                    <a:lnB w="9525" cap="flat" cmpd="sng" algn="ctr">
                      <a:solidFill>
                        <a:srgbClr val="BFD3D6"/>
                      </a:solidFill>
                      <a:prstDash val="solid"/>
                      <a:round/>
                      <a:headEnd type="none" w="med" len="med"/>
                      <a:tailEnd type="none" w="med" len="med"/>
                    </a:lnB>
                    <a:solidFill>
                      <a:srgbClr val="FFFFFF"/>
                    </a:solidFill>
                  </a:tcPr>
                </a:tc>
                <a:tc>
                  <a:txBody>
                    <a:bodyPr/>
                    <a:lstStyle/>
                    <a:p>
                      <a:pPr marL="0" indent="0">
                        <a:buNone/>
                      </a:pPr>
                      <a:r>
                        <a:rPr lang="en-US" sz="1100" dirty="0">
                          <a:solidFill>
                            <a:srgbClr val="13262F"/>
                          </a:solidFill>
                        </a:rPr>
                        <a:t>2024-03-20</a:t>
                      </a:r>
                      <a:endParaRPr lang="en-US" sz="1100" dirty="0"/>
                    </a:p>
                  </a:txBody>
                  <a:tcPr marL="45720" marR="45720" anchor="ctr">
                    <a:lnL w="9525" cap="flat" cmpd="sng" algn="ctr">
                      <a:solidFill>
                        <a:srgbClr val="BFD3D6"/>
                      </a:solidFill>
                      <a:prstDash val="solid"/>
                      <a:round/>
                      <a:headEnd type="none" w="med" len="med"/>
                      <a:tailEnd type="none" w="med" len="med"/>
                    </a:lnL>
                    <a:lnR w="9525" cap="flat" cmpd="sng" algn="ctr">
                      <a:solidFill>
                        <a:srgbClr val="BFD3D6"/>
                      </a:solidFill>
                      <a:prstDash val="solid"/>
                      <a:round/>
                      <a:headEnd type="none" w="med" len="med"/>
                      <a:tailEnd type="none" w="med" len="med"/>
                    </a:lnR>
                    <a:lnT w="9525" cap="flat" cmpd="sng" algn="ctr">
                      <a:solidFill>
                        <a:srgbClr val="BFD3D6"/>
                      </a:solidFill>
                      <a:prstDash val="solid"/>
                      <a:round/>
                      <a:headEnd type="none" w="med" len="med"/>
                      <a:tailEnd type="none" w="med" len="med"/>
                    </a:lnT>
                    <a:lnB w="9525" cap="flat" cmpd="sng" algn="ctr">
                      <a:solidFill>
                        <a:srgbClr val="BFD3D6"/>
                      </a:solidFill>
                      <a:prstDash val="solid"/>
                      <a:round/>
                      <a:headEnd type="none" w="med" len="med"/>
                      <a:tailEnd type="none" w="med" len="med"/>
                    </a:lnB>
                    <a:solidFill>
                      <a:srgbClr val="FFFFFF"/>
                    </a:solidFill>
                  </a:tcPr>
                </a:tc>
                <a:tc>
                  <a:txBody>
                    <a:bodyPr/>
                    <a:lstStyle/>
                    <a:p>
                      <a:pPr marL="0" indent="0">
                        <a:buNone/>
                      </a:pPr>
                      <a:r>
                        <a:rPr lang="en-US" sz="1100" dirty="0">
                          <a:solidFill>
                            <a:srgbClr val="13262F"/>
                          </a:solidFill>
                        </a:rPr>
                        <a:t>48000</a:t>
                      </a:r>
                      <a:endParaRPr lang="en-US" sz="1100" dirty="0"/>
                    </a:p>
                  </a:txBody>
                  <a:tcPr marL="45720" marR="45720" anchor="ctr">
                    <a:lnL w="9525" cap="flat" cmpd="sng" algn="ctr">
                      <a:solidFill>
                        <a:srgbClr val="BFD3D6"/>
                      </a:solidFill>
                      <a:prstDash val="solid"/>
                      <a:round/>
                      <a:headEnd type="none" w="med" len="med"/>
                      <a:tailEnd type="none" w="med" len="med"/>
                    </a:lnL>
                    <a:lnR w="9525" cap="flat" cmpd="sng" algn="ctr">
                      <a:solidFill>
                        <a:srgbClr val="BFD3D6"/>
                      </a:solidFill>
                      <a:prstDash val="solid"/>
                      <a:round/>
                      <a:headEnd type="none" w="med" len="med"/>
                      <a:tailEnd type="none" w="med" len="med"/>
                    </a:lnR>
                    <a:lnT w="9525" cap="flat" cmpd="sng" algn="ctr">
                      <a:solidFill>
                        <a:srgbClr val="BFD3D6"/>
                      </a:solidFill>
                      <a:prstDash val="solid"/>
                      <a:round/>
                      <a:headEnd type="none" w="med" len="med"/>
                      <a:tailEnd type="none" w="med" len="med"/>
                    </a:lnT>
                    <a:lnB w="9525" cap="flat" cmpd="sng" algn="ctr">
                      <a:solidFill>
                        <a:srgbClr val="BFD3D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1" name="Legend"/>
          <p:cNvSpPr txBox="1"/>
          <p:nvPr/>
        </p:nvSpPr>
        <p:spPr>
          <a:xfrm>
            <a:off x="9418320" y="3657600"/>
            <a:ext cx="2240280" cy="457200"/>
          </a:xfrm>
          <a:prstGeom prst="rect">
            <a:avLst/>
          </a:prstGeom>
          <a:noFill/>
          <a:ln/>
        </p:spPr>
        <p:txBody>
          <a:bodyPr wrap="square" lIns="0" tIns="0" rIns="0" bIns="0" rtlCol="0" anchor="t"/>
          <a:lstStyle/>
          <a:p>
            <a:pPr marL="0" indent="0">
              <a:buNone/>
            </a:pPr>
            <a:r>
              <a:rPr lang="en-US" sz="1100" dirty="0">
                <a:solidFill>
                  <a:schemeClr val="bg2"/>
                </a:solidFill>
              </a:rPr>
              <a:t>Orange cell = outlier flagged, never deleted</a:t>
            </a:r>
            <a:endParaRPr lang="en-US" sz="1100" dirty="0"/>
          </a:p>
        </p:txBody>
      </p:sp>
      <p:sp>
        <p:nvSpPr>
          <p:cNvPr id="12" name="Speed stat"/>
          <p:cNvSpPr txBox="1"/>
          <p:nvPr/>
        </p:nvSpPr>
        <p:spPr>
          <a:xfrm>
            <a:off x="6583680" y="4343400"/>
            <a:ext cx="5029200" cy="822960"/>
          </a:xfrm>
          <a:prstGeom prst="rect">
            <a:avLst/>
          </a:prstGeom>
          <a:noFill/>
          <a:ln/>
        </p:spPr>
        <p:txBody>
          <a:bodyPr wrap="square" lIns="0" tIns="0" rIns="0" bIns="0" rtlCol="0" anchor="t"/>
          <a:lstStyle/>
          <a:p>
            <a:pPr marL="0" indent="0">
              <a:buNone/>
            </a:pPr>
            <a:r>
              <a:rPr lang="en-US" sz="5400" b="1" dirty="0">
                <a:solidFill>
                  <a:schemeClr val="accent6"/>
                </a:solidFill>
              </a:rPr>
              <a:t>&lt; 10 seconds</a:t>
            </a:r>
            <a:endParaRPr lang="en-US" sz="5400" dirty="0"/>
          </a:p>
        </p:txBody>
      </p:sp>
      <p:sp>
        <p:nvSpPr>
          <p:cNvPr id="13" name="Speed caption"/>
          <p:cNvSpPr txBox="1"/>
          <p:nvPr/>
        </p:nvSpPr>
        <p:spPr>
          <a:xfrm>
            <a:off x="6583680" y="5166360"/>
            <a:ext cx="5029200" cy="365760"/>
          </a:xfrm>
          <a:prstGeom prst="rect">
            <a:avLst/>
          </a:prstGeom>
          <a:noFill/>
          <a:ln/>
        </p:spPr>
        <p:txBody>
          <a:bodyPr wrap="square" lIns="0" tIns="0" rIns="0" bIns="0" rtlCol="0" anchor="t"/>
          <a:lstStyle/>
          <a:p>
            <a:pPr marL="0" indent="0">
              <a:buNone/>
            </a:pPr>
            <a:r>
              <a:rPr lang="en-US" sz="1600" dirty="0">
                <a:solidFill>
                  <a:schemeClr val="bg1"/>
                </a:solidFill>
              </a:rPr>
              <a:t>from deliberately corrupted upload to training-ready CSV</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777240"/>
          </a:xfrm>
          <a:prstGeom prst="rect">
            <a:avLst/>
          </a:prstGeom>
          <a:noFill/>
          <a:ln/>
        </p:spPr>
        <p:txBody>
          <a:bodyPr wrap="square" lIns="0" tIns="0" rIns="0" bIns="0" rtlCol="0" anchor="ctr"/>
          <a:lstStyle/>
          <a:p>
            <a:pPr marL="0" indent="0" algn="l">
              <a:buNone/>
            </a:pPr>
            <a:r>
              <a:rPr lang="en-US" sz="3400" b="1" dirty="0">
                <a:solidFill>
                  <a:schemeClr val="tx2"/>
                </a:solidFill>
              </a:rPr>
              <a:t>Proposed Solution</a:t>
            </a:r>
            <a:endParaRPr lang="en-US" sz="3400" dirty="0"/>
          </a:p>
        </p:txBody>
      </p:sp>
      <p:sp>
        <p:nvSpPr>
          <p:cNvPr id="3" name="Summary card"/>
          <p:cNvSpPr/>
          <p:nvPr/>
        </p:nvSpPr>
        <p:spPr>
          <a:xfrm>
            <a:off x="548640" y="1188720"/>
            <a:ext cx="11091672" cy="868680"/>
          </a:xfrm>
          <a:prstGeom prst="roundRect">
            <a:avLst>
              <a:gd name="adj" fmla="val 10526"/>
            </a:avLst>
          </a:prstGeom>
          <a:solidFill>
            <a:schemeClr val="bg2"/>
          </a:solidFill>
          <a:ln/>
        </p:spPr>
      </p:sp>
      <p:sp>
        <p:nvSpPr>
          <p:cNvPr id="4" name="Summary text"/>
          <p:cNvSpPr txBox="1"/>
          <p:nvPr/>
        </p:nvSpPr>
        <p:spPr>
          <a:xfrm>
            <a:off x="777240" y="1261872"/>
            <a:ext cx="10652760" cy="731520"/>
          </a:xfrm>
          <a:prstGeom prst="rect">
            <a:avLst/>
          </a:prstGeom>
          <a:noFill/>
          <a:ln/>
        </p:spPr>
        <p:txBody>
          <a:bodyPr wrap="square" lIns="0" tIns="0" rIns="0" bIns="0" rtlCol="0" anchor="ctr"/>
          <a:lstStyle/>
          <a:p>
            <a:pPr marL="0" indent="0">
              <a:buNone/>
            </a:pPr>
            <a:r>
              <a:rPr lang="en-US" sz="1400" dirty="0">
                <a:solidFill>
                  <a:schemeClr val="tx1"/>
                </a:solidFill>
              </a:rPr>
              <a:t>A Python application that takes any messy CSV or Excel dataset, auto-detects date formats, fixes corrupted headers, flags outliers using statistical box plots, imputes missing values, and exports a clean dataset plus an automated 1-page PDF summary report.</a:t>
            </a:r>
            <a:endParaRPr lang="en-US" sz="1400" dirty="0"/>
          </a:p>
        </p:txBody>
      </p:sp>
      <p:sp>
        <p:nvSpPr>
          <p:cNvPr id="5" name="Smart Ingestion card"/>
          <p:cNvSpPr/>
          <p:nvPr/>
        </p:nvSpPr>
        <p:spPr>
          <a:xfrm>
            <a:off x="548640" y="2240280"/>
            <a:ext cx="2377440" cy="1600200"/>
          </a:xfrm>
          <a:prstGeom prst="roundRect">
            <a:avLst>
              <a:gd name="adj" fmla="val 5714"/>
            </a:avLst>
          </a:prstGeom>
          <a:solidFill>
            <a:schemeClr val="bg2"/>
          </a:solidFill>
          <a:ln/>
        </p:spPr>
      </p:sp>
      <p:sp>
        <p:nvSpPr>
          <p:cNvPr id="6" name="Smart Ingestion badge"/>
          <p:cNvSpPr/>
          <p:nvPr/>
        </p:nvSpPr>
        <p:spPr>
          <a:xfrm>
            <a:off x="685800" y="2377440"/>
            <a:ext cx="457200" cy="457200"/>
          </a:xfrm>
          <a:prstGeom prst="ellipse">
            <a:avLst/>
          </a:prstGeom>
          <a:solidFill>
            <a:schemeClr val="accent1"/>
          </a:solidFill>
          <a:ln/>
        </p:spPr>
      </p:sp>
      <p:pic>
        <p:nvPicPr>
          <p:cNvPr id="7" name="Image 0" descr="Smart Ingestion"/>
          <p:cNvPicPr>
            <a:picLocks noChangeAspect="1"/>
          </p:cNvPicPr>
          <p:nvPr/>
        </p:nvPicPr>
        <p:blipFill>
          <a:blip r:embed="rId3"/>
          <a:stretch>
            <a:fillRect/>
          </a:stretch>
        </p:blipFill>
        <p:spPr>
          <a:xfrm>
            <a:off x="809244" y="2500884"/>
            <a:ext cx="210312" cy="210312"/>
          </a:xfrm>
          <a:prstGeom prst="rect">
            <a:avLst/>
          </a:prstGeom>
        </p:spPr>
      </p:pic>
      <p:sp>
        <p:nvSpPr>
          <p:cNvPr id="8" name="Smart Ingestion title"/>
          <p:cNvSpPr txBox="1"/>
          <p:nvPr/>
        </p:nvSpPr>
        <p:spPr>
          <a:xfrm>
            <a:off x="1234440" y="2377440"/>
            <a:ext cx="1600200" cy="457200"/>
          </a:xfrm>
          <a:prstGeom prst="rect">
            <a:avLst/>
          </a:prstGeom>
          <a:noFill/>
          <a:ln/>
        </p:spPr>
        <p:txBody>
          <a:bodyPr wrap="square" lIns="0" tIns="0" rIns="0" bIns="0" rtlCol="0" anchor="ctr"/>
          <a:lstStyle/>
          <a:p>
            <a:pPr marL="0" indent="0">
              <a:buNone/>
            </a:pPr>
            <a:r>
              <a:rPr lang="en-US" sz="1400" b="1" dirty="0">
                <a:solidFill>
                  <a:schemeClr val="tx2"/>
                </a:solidFill>
              </a:rPr>
              <a:t>Smart Ingestion</a:t>
            </a:r>
            <a:endParaRPr lang="en-US" sz="1400" dirty="0"/>
          </a:p>
        </p:txBody>
      </p:sp>
      <p:sp>
        <p:nvSpPr>
          <p:cNvPr id="9" name="Smart Ingestion text"/>
          <p:cNvSpPr txBox="1"/>
          <p:nvPr/>
        </p:nvSpPr>
        <p:spPr>
          <a:xfrm>
            <a:off x="685800" y="2953512"/>
            <a:ext cx="2103120" cy="822960"/>
          </a:xfrm>
          <a:prstGeom prst="rect">
            <a:avLst/>
          </a:prstGeom>
          <a:noFill/>
          <a:ln/>
        </p:spPr>
        <p:txBody>
          <a:bodyPr wrap="square" lIns="0" tIns="0" rIns="0" bIns="0" rtlCol="0" anchor="t"/>
          <a:lstStyle/>
          <a:p>
            <a:pPr marL="0" indent="0">
              <a:buNone/>
            </a:pPr>
            <a:r>
              <a:rPr lang="en-US" sz="1400" dirty="0">
                <a:solidFill>
                  <a:schemeClr val="tx1"/>
                </a:solidFill>
              </a:rPr>
              <a:t>Reads any messy CSV or Excel file and detects its encoding</a:t>
            </a:r>
            <a:endParaRPr lang="en-US" sz="1400" dirty="0"/>
          </a:p>
        </p:txBody>
      </p:sp>
      <p:sp>
        <p:nvSpPr>
          <p:cNvPr id="10" name="Header Repair card"/>
          <p:cNvSpPr/>
          <p:nvPr/>
        </p:nvSpPr>
        <p:spPr>
          <a:xfrm>
            <a:off x="3086100" y="2240280"/>
            <a:ext cx="2377440" cy="1600200"/>
          </a:xfrm>
          <a:prstGeom prst="roundRect">
            <a:avLst>
              <a:gd name="adj" fmla="val 5714"/>
            </a:avLst>
          </a:prstGeom>
          <a:solidFill>
            <a:schemeClr val="bg2"/>
          </a:solidFill>
          <a:ln/>
        </p:spPr>
      </p:sp>
      <p:sp>
        <p:nvSpPr>
          <p:cNvPr id="11" name="Header Repair badge"/>
          <p:cNvSpPr/>
          <p:nvPr/>
        </p:nvSpPr>
        <p:spPr>
          <a:xfrm>
            <a:off x="3223260" y="2377440"/>
            <a:ext cx="457200" cy="457200"/>
          </a:xfrm>
          <a:prstGeom prst="ellipse">
            <a:avLst/>
          </a:prstGeom>
          <a:solidFill>
            <a:schemeClr val="accent1"/>
          </a:solidFill>
          <a:ln/>
        </p:spPr>
      </p:sp>
      <p:pic>
        <p:nvPicPr>
          <p:cNvPr id="12" name="Image 1" descr="Header Repair"/>
          <p:cNvPicPr>
            <a:picLocks noChangeAspect="1"/>
          </p:cNvPicPr>
          <p:nvPr/>
        </p:nvPicPr>
        <p:blipFill>
          <a:blip r:embed="rId4"/>
          <a:stretch>
            <a:fillRect/>
          </a:stretch>
        </p:blipFill>
        <p:spPr>
          <a:xfrm>
            <a:off x="3346704" y="2500884"/>
            <a:ext cx="210312" cy="210312"/>
          </a:xfrm>
          <a:prstGeom prst="rect">
            <a:avLst/>
          </a:prstGeom>
        </p:spPr>
      </p:pic>
      <p:sp>
        <p:nvSpPr>
          <p:cNvPr id="13" name="Header Repair title"/>
          <p:cNvSpPr txBox="1"/>
          <p:nvPr/>
        </p:nvSpPr>
        <p:spPr>
          <a:xfrm>
            <a:off x="3771900" y="2377440"/>
            <a:ext cx="1600200" cy="457200"/>
          </a:xfrm>
          <a:prstGeom prst="rect">
            <a:avLst/>
          </a:prstGeom>
          <a:noFill/>
          <a:ln/>
        </p:spPr>
        <p:txBody>
          <a:bodyPr wrap="square" lIns="0" tIns="0" rIns="0" bIns="0" rtlCol="0" anchor="ctr"/>
          <a:lstStyle/>
          <a:p>
            <a:pPr marL="0" indent="0">
              <a:buNone/>
            </a:pPr>
            <a:r>
              <a:rPr lang="en-US" sz="1400" b="1" dirty="0">
                <a:solidFill>
                  <a:schemeClr val="tx2"/>
                </a:solidFill>
              </a:rPr>
              <a:t>Header Repair</a:t>
            </a:r>
            <a:endParaRPr lang="en-US" sz="1400" dirty="0"/>
          </a:p>
        </p:txBody>
      </p:sp>
      <p:sp>
        <p:nvSpPr>
          <p:cNvPr id="14" name="Header Repair text"/>
          <p:cNvSpPr txBox="1"/>
          <p:nvPr/>
        </p:nvSpPr>
        <p:spPr>
          <a:xfrm>
            <a:off x="3223260" y="2953512"/>
            <a:ext cx="2103120" cy="822960"/>
          </a:xfrm>
          <a:prstGeom prst="rect">
            <a:avLst/>
          </a:prstGeom>
          <a:noFill/>
          <a:ln/>
        </p:spPr>
        <p:txBody>
          <a:bodyPr wrap="square" lIns="0" tIns="0" rIns="0" bIns="0" rtlCol="0" anchor="t"/>
          <a:lstStyle/>
          <a:p>
            <a:pPr marL="0" indent="0">
              <a:buNone/>
            </a:pPr>
            <a:r>
              <a:rPr lang="en-US" sz="1400" dirty="0">
                <a:solidFill>
                  <a:schemeClr val="tx1"/>
                </a:solidFill>
              </a:rPr>
              <a:t>Fixes corrupted, duplicate and blank column names</a:t>
            </a:r>
            <a:endParaRPr lang="en-US" sz="1400" dirty="0"/>
          </a:p>
        </p:txBody>
      </p:sp>
      <p:sp>
        <p:nvSpPr>
          <p:cNvPr id="15" name="Date Detection card"/>
          <p:cNvSpPr/>
          <p:nvPr/>
        </p:nvSpPr>
        <p:spPr>
          <a:xfrm>
            <a:off x="5623560" y="2240280"/>
            <a:ext cx="2377440" cy="1600200"/>
          </a:xfrm>
          <a:prstGeom prst="roundRect">
            <a:avLst>
              <a:gd name="adj" fmla="val 5714"/>
            </a:avLst>
          </a:prstGeom>
          <a:solidFill>
            <a:schemeClr val="bg2"/>
          </a:solidFill>
          <a:ln/>
        </p:spPr>
      </p:sp>
      <p:sp>
        <p:nvSpPr>
          <p:cNvPr id="16" name="Date Detection badge"/>
          <p:cNvSpPr/>
          <p:nvPr/>
        </p:nvSpPr>
        <p:spPr>
          <a:xfrm>
            <a:off x="5760720" y="2377440"/>
            <a:ext cx="457200" cy="457200"/>
          </a:xfrm>
          <a:prstGeom prst="ellipse">
            <a:avLst/>
          </a:prstGeom>
          <a:solidFill>
            <a:schemeClr val="accent1"/>
          </a:solidFill>
          <a:ln/>
        </p:spPr>
      </p:sp>
      <p:pic>
        <p:nvPicPr>
          <p:cNvPr id="17" name="Image 2" descr="Date Detection"/>
          <p:cNvPicPr>
            <a:picLocks noChangeAspect="1"/>
          </p:cNvPicPr>
          <p:nvPr/>
        </p:nvPicPr>
        <p:blipFill>
          <a:blip r:embed="rId5"/>
          <a:stretch>
            <a:fillRect/>
          </a:stretch>
        </p:blipFill>
        <p:spPr>
          <a:xfrm>
            <a:off x="5884164" y="2500884"/>
            <a:ext cx="210312" cy="210312"/>
          </a:xfrm>
          <a:prstGeom prst="rect">
            <a:avLst/>
          </a:prstGeom>
        </p:spPr>
      </p:pic>
      <p:sp>
        <p:nvSpPr>
          <p:cNvPr id="18" name="Date Detection title"/>
          <p:cNvSpPr txBox="1"/>
          <p:nvPr/>
        </p:nvSpPr>
        <p:spPr>
          <a:xfrm>
            <a:off x="6309360" y="2377440"/>
            <a:ext cx="1600200" cy="457200"/>
          </a:xfrm>
          <a:prstGeom prst="rect">
            <a:avLst/>
          </a:prstGeom>
          <a:noFill/>
          <a:ln/>
        </p:spPr>
        <p:txBody>
          <a:bodyPr wrap="square" lIns="0" tIns="0" rIns="0" bIns="0" rtlCol="0" anchor="ctr"/>
          <a:lstStyle/>
          <a:p>
            <a:pPr marL="0" indent="0">
              <a:buNone/>
            </a:pPr>
            <a:r>
              <a:rPr lang="en-US" sz="1400" b="1" dirty="0">
                <a:solidFill>
                  <a:schemeClr val="tx2"/>
                </a:solidFill>
              </a:rPr>
              <a:t>Date Detection</a:t>
            </a:r>
            <a:endParaRPr lang="en-US" sz="1400" dirty="0"/>
          </a:p>
        </p:txBody>
      </p:sp>
      <p:sp>
        <p:nvSpPr>
          <p:cNvPr id="19" name="Date Detection text"/>
          <p:cNvSpPr txBox="1"/>
          <p:nvPr/>
        </p:nvSpPr>
        <p:spPr>
          <a:xfrm>
            <a:off x="5760720" y="2953512"/>
            <a:ext cx="2103120" cy="822960"/>
          </a:xfrm>
          <a:prstGeom prst="rect">
            <a:avLst/>
          </a:prstGeom>
          <a:noFill/>
          <a:ln/>
        </p:spPr>
        <p:txBody>
          <a:bodyPr wrap="square" lIns="0" tIns="0" rIns="0" bIns="0" rtlCol="0" anchor="t"/>
          <a:lstStyle/>
          <a:p>
            <a:pPr marL="0" indent="0">
              <a:buNone/>
            </a:pPr>
            <a:r>
              <a:rPr lang="en-US" sz="1400" dirty="0">
                <a:solidFill>
                  <a:schemeClr val="tx1"/>
                </a:solidFill>
              </a:rPr>
              <a:t>Spots mixed date formats and standardises them to ISO</a:t>
            </a:r>
            <a:endParaRPr lang="en-US" sz="1400" dirty="0"/>
          </a:p>
        </p:txBody>
      </p:sp>
      <p:sp>
        <p:nvSpPr>
          <p:cNvPr id="20" name="Outlier Flagging card"/>
          <p:cNvSpPr/>
          <p:nvPr/>
        </p:nvSpPr>
        <p:spPr>
          <a:xfrm>
            <a:off x="548640" y="4023360"/>
            <a:ext cx="2377440" cy="1600200"/>
          </a:xfrm>
          <a:prstGeom prst="roundRect">
            <a:avLst>
              <a:gd name="adj" fmla="val 5714"/>
            </a:avLst>
          </a:prstGeom>
          <a:solidFill>
            <a:schemeClr val="bg2"/>
          </a:solidFill>
          <a:ln/>
        </p:spPr>
      </p:sp>
      <p:sp>
        <p:nvSpPr>
          <p:cNvPr id="21" name="Outlier Flagging badge"/>
          <p:cNvSpPr/>
          <p:nvPr/>
        </p:nvSpPr>
        <p:spPr>
          <a:xfrm>
            <a:off x="685800" y="4160520"/>
            <a:ext cx="457200" cy="457200"/>
          </a:xfrm>
          <a:prstGeom prst="ellipse">
            <a:avLst/>
          </a:prstGeom>
          <a:solidFill>
            <a:schemeClr val="accent1"/>
          </a:solidFill>
          <a:ln/>
        </p:spPr>
      </p:sp>
      <p:pic>
        <p:nvPicPr>
          <p:cNvPr id="22" name="Image 3" descr="Outlier Flagging"/>
          <p:cNvPicPr>
            <a:picLocks noChangeAspect="1"/>
          </p:cNvPicPr>
          <p:nvPr/>
        </p:nvPicPr>
        <p:blipFill>
          <a:blip r:embed="rId6"/>
          <a:stretch>
            <a:fillRect/>
          </a:stretch>
        </p:blipFill>
        <p:spPr>
          <a:xfrm>
            <a:off x="809244" y="4283964"/>
            <a:ext cx="210312" cy="210312"/>
          </a:xfrm>
          <a:prstGeom prst="rect">
            <a:avLst/>
          </a:prstGeom>
        </p:spPr>
      </p:pic>
      <p:sp>
        <p:nvSpPr>
          <p:cNvPr id="23" name="Outlier Flagging title"/>
          <p:cNvSpPr txBox="1"/>
          <p:nvPr/>
        </p:nvSpPr>
        <p:spPr>
          <a:xfrm>
            <a:off x="1234440" y="4160520"/>
            <a:ext cx="1600200" cy="457200"/>
          </a:xfrm>
          <a:prstGeom prst="rect">
            <a:avLst/>
          </a:prstGeom>
          <a:noFill/>
          <a:ln/>
        </p:spPr>
        <p:txBody>
          <a:bodyPr wrap="square" lIns="0" tIns="0" rIns="0" bIns="0" rtlCol="0" anchor="ctr"/>
          <a:lstStyle/>
          <a:p>
            <a:pPr marL="0" indent="0">
              <a:buNone/>
            </a:pPr>
            <a:r>
              <a:rPr lang="en-US" sz="1400" b="1" dirty="0">
                <a:solidFill>
                  <a:schemeClr val="tx2"/>
                </a:solidFill>
              </a:rPr>
              <a:t>Outlier Flagging</a:t>
            </a:r>
            <a:endParaRPr lang="en-US" sz="1400" dirty="0"/>
          </a:p>
        </p:txBody>
      </p:sp>
      <p:sp>
        <p:nvSpPr>
          <p:cNvPr id="24" name="Outlier Flagging text"/>
          <p:cNvSpPr txBox="1"/>
          <p:nvPr/>
        </p:nvSpPr>
        <p:spPr>
          <a:xfrm>
            <a:off x="685800" y="4736592"/>
            <a:ext cx="2103120" cy="822960"/>
          </a:xfrm>
          <a:prstGeom prst="rect">
            <a:avLst/>
          </a:prstGeom>
          <a:noFill/>
          <a:ln/>
        </p:spPr>
        <p:txBody>
          <a:bodyPr wrap="square" lIns="0" tIns="0" rIns="0" bIns="0" rtlCol="0" anchor="t"/>
          <a:lstStyle/>
          <a:p>
            <a:pPr marL="0" indent="0">
              <a:buNone/>
            </a:pPr>
            <a:r>
              <a:rPr lang="en-US" sz="1400" dirty="0">
                <a:solidFill>
                  <a:schemeClr val="tx1"/>
                </a:solidFill>
              </a:rPr>
              <a:t>Box-plot (IQR) rules flag extreme values in each column</a:t>
            </a:r>
            <a:endParaRPr lang="en-US" sz="1400" dirty="0"/>
          </a:p>
        </p:txBody>
      </p:sp>
      <p:sp>
        <p:nvSpPr>
          <p:cNvPr id="25" name="Smart Imputation card"/>
          <p:cNvSpPr/>
          <p:nvPr/>
        </p:nvSpPr>
        <p:spPr>
          <a:xfrm>
            <a:off x="3086100" y="4023360"/>
            <a:ext cx="2377440" cy="1600200"/>
          </a:xfrm>
          <a:prstGeom prst="roundRect">
            <a:avLst>
              <a:gd name="adj" fmla="val 5714"/>
            </a:avLst>
          </a:prstGeom>
          <a:solidFill>
            <a:schemeClr val="bg2"/>
          </a:solidFill>
          <a:ln/>
        </p:spPr>
      </p:sp>
      <p:sp>
        <p:nvSpPr>
          <p:cNvPr id="26" name="Smart Imputation badge"/>
          <p:cNvSpPr/>
          <p:nvPr/>
        </p:nvSpPr>
        <p:spPr>
          <a:xfrm>
            <a:off x="3223260" y="4160520"/>
            <a:ext cx="457200" cy="457200"/>
          </a:xfrm>
          <a:prstGeom prst="ellipse">
            <a:avLst/>
          </a:prstGeom>
          <a:solidFill>
            <a:schemeClr val="accent1"/>
          </a:solidFill>
          <a:ln/>
        </p:spPr>
      </p:sp>
      <p:pic>
        <p:nvPicPr>
          <p:cNvPr id="27" name="Image 4" descr="Smart Imputation"/>
          <p:cNvPicPr>
            <a:picLocks noChangeAspect="1"/>
          </p:cNvPicPr>
          <p:nvPr/>
        </p:nvPicPr>
        <p:blipFill>
          <a:blip r:embed="rId7"/>
          <a:stretch>
            <a:fillRect/>
          </a:stretch>
        </p:blipFill>
        <p:spPr>
          <a:xfrm>
            <a:off x="3346704" y="4283964"/>
            <a:ext cx="210312" cy="210312"/>
          </a:xfrm>
          <a:prstGeom prst="rect">
            <a:avLst/>
          </a:prstGeom>
        </p:spPr>
      </p:pic>
      <p:sp>
        <p:nvSpPr>
          <p:cNvPr id="28" name="Smart Imputation title"/>
          <p:cNvSpPr txBox="1"/>
          <p:nvPr/>
        </p:nvSpPr>
        <p:spPr>
          <a:xfrm>
            <a:off x="3771900" y="4160520"/>
            <a:ext cx="1600200" cy="457200"/>
          </a:xfrm>
          <a:prstGeom prst="rect">
            <a:avLst/>
          </a:prstGeom>
          <a:noFill/>
          <a:ln/>
        </p:spPr>
        <p:txBody>
          <a:bodyPr wrap="square" lIns="0" tIns="0" rIns="0" bIns="0" rtlCol="0" anchor="ctr"/>
          <a:lstStyle/>
          <a:p>
            <a:pPr marL="0" indent="0">
              <a:buNone/>
            </a:pPr>
            <a:r>
              <a:rPr lang="en-US" sz="1400" b="1" dirty="0">
                <a:solidFill>
                  <a:schemeClr val="tx2"/>
                </a:solidFill>
              </a:rPr>
              <a:t>Smart Imputation</a:t>
            </a:r>
            <a:endParaRPr lang="en-US" sz="1400" dirty="0"/>
          </a:p>
        </p:txBody>
      </p:sp>
      <p:sp>
        <p:nvSpPr>
          <p:cNvPr id="29" name="Smart Imputation text"/>
          <p:cNvSpPr txBox="1"/>
          <p:nvPr/>
        </p:nvSpPr>
        <p:spPr>
          <a:xfrm>
            <a:off x="3223260" y="4736592"/>
            <a:ext cx="2103120" cy="822960"/>
          </a:xfrm>
          <a:prstGeom prst="rect">
            <a:avLst/>
          </a:prstGeom>
          <a:noFill/>
          <a:ln/>
        </p:spPr>
        <p:txBody>
          <a:bodyPr wrap="square" lIns="0" tIns="0" rIns="0" bIns="0" rtlCol="0" anchor="t"/>
          <a:lstStyle/>
          <a:p>
            <a:pPr marL="0" indent="0">
              <a:buNone/>
            </a:pPr>
            <a:r>
              <a:rPr lang="en-US" sz="1400" dirty="0">
                <a:solidFill>
                  <a:schemeClr val="tx1"/>
                </a:solidFill>
              </a:rPr>
              <a:t>Fills gaps with median, mode or KNN by column type</a:t>
            </a:r>
            <a:endParaRPr lang="en-US" sz="1400" dirty="0"/>
          </a:p>
        </p:txBody>
      </p:sp>
      <p:sp>
        <p:nvSpPr>
          <p:cNvPr id="30" name="Clean Export card"/>
          <p:cNvSpPr/>
          <p:nvPr/>
        </p:nvSpPr>
        <p:spPr>
          <a:xfrm>
            <a:off x="5623560" y="4023360"/>
            <a:ext cx="2377440" cy="1600200"/>
          </a:xfrm>
          <a:prstGeom prst="roundRect">
            <a:avLst>
              <a:gd name="adj" fmla="val 5714"/>
            </a:avLst>
          </a:prstGeom>
          <a:solidFill>
            <a:schemeClr val="bg2"/>
          </a:solidFill>
          <a:ln/>
        </p:spPr>
      </p:sp>
      <p:sp>
        <p:nvSpPr>
          <p:cNvPr id="31" name="Clean Export badge"/>
          <p:cNvSpPr/>
          <p:nvPr/>
        </p:nvSpPr>
        <p:spPr>
          <a:xfrm>
            <a:off x="5760720" y="4160520"/>
            <a:ext cx="457200" cy="457200"/>
          </a:xfrm>
          <a:prstGeom prst="ellipse">
            <a:avLst/>
          </a:prstGeom>
          <a:solidFill>
            <a:schemeClr val="accent1"/>
          </a:solidFill>
          <a:ln/>
        </p:spPr>
      </p:sp>
      <p:pic>
        <p:nvPicPr>
          <p:cNvPr id="32" name="Image 5" descr="Clean Export"/>
          <p:cNvPicPr>
            <a:picLocks noChangeAspect="1"/>
          </p:cNvPicPr>
          <p:nvPr/>
        </p:nvPicPr>
        <p:blipFill>
          <a:blip r:embed="rId8"/>
          <a:stretch>
            <a:fillRect/>
          </a:stretch>
        </p:blipFill>
        <p:spPr>
          <a:xfrm>
            <a:off x="5884164" y="4283964"/>
            <a:ext cx="210312" cy="210312"/>
          </a:xfrm>
          <a:prstGeom prst="rect">
            <a:avLst/>
          </a:prstGeom>
        </p:spPr>
      </p:pic>
      <p:sp>
        <p:nvSpPr>
          <p:cNvPr id="33" name="Clean Export title"/>
          <p:cNvSpPr txBox="1"/>
          <p:nvPr/>
        </p:nvSpPr>
        <p:spPr>
          <a:xfrm>
            <a:off x="6309360" y="4160520"/>
            <a:ext cx="1600200" cy="457200"/>
          </a:xfrm>
          <a:prstGeom prst="rect">
            <a:avLst/>
          </a:prstGeom>
          <a:noFill/>
          <a:ln/>
        </p:spPr>
        <p:txBody>
          <a:bodyPr wrap="square" lIns="0" tIns="0" rIns="0" bIns="0" rtlCol="0" anchor="ctr"/>
          <a:lstStyle/>
          <a:p>
            <a:pPr marL="0" indent="0">
              <a:buNone/>
            </a:pPr>
            <a:r>
              <a:rPr lang="en-US" sz="1400" b="1" dirty="0">
                <a:solidFill>
                  <a:schemeClr val="tx2"/>
                </a:solidFill>
              </a:rPr>
              <a:t>Clean Export</a:t>
            </a:r>
            <a:endParaRPr lang="en-US" sz="1400" dirty="0"/>
          </a:p>
        </p:txBody>
      </p:sp>
      <p:sp>
        <p:nvSpPr>
          <p:cNvPr id="34" name="Clean Export text"/>
          <p:cNvSpPr txBox="1"/>
          <p:nvPr/>
        </p:nvSpPr>
        <p:spPr>
          <a:xfrm>
            <a:off x="5760720" y="4736592"/>
            <a:ext cx="2103120" cy="822960"/>
          </a:xfrm>
          <a:prstGeom prst="rect">
            <a:avLst/>
          </a:prstGeom>
          <a:noFill/>
          <a:ln/>
        </p:spPr>
        <p:txBody>
          <a:bodyPr wrap="square" lIns="0" tIns="0" rIns="0" bIns="0" rtlCol="0" anchor="t"/>
          <a:lstStyle/>
          <a:p>
            <a:pPr marL="0" indent="0">
              <a:buNone/>
            </a:pPr>
            <a:r>
              <a:rPr lang="en-US" sz="1400" dirty="0">
                <a:solidFill>
                  <a:schemeClr val="tx1"/>
                </a:solidFill>
              </a:rPr>
              <a:t>Clean CSV plus an automated 1-page PDF report</a:t>
            </a:r>
            <a:endParaRPr lang="en-US" sz="1400" dirty="0"/>
          </a:p>
        </p:txBody>
      </p:sp>
      <p:sp>
        <p:nvSpPr>
          <p:cNvPr id="35" name="Architecture panel"/>
          <p:cNvSpPr/>
          <p:nvPr/>
        </p:nvSpPr>
        <p:spPr>
          <a:xfrm>
            <a:off x="8275320" y="2240280"/>
            <a:ext cx="3364992" cy="3566160"/>
          </a:xfrm>
          <a:prstGeom prst="roundRect">
            <a:avLst>
              <a:gd name="adj" fmla="val 2717"/>
            </a:avLst>
          </a:prstGeom>
          <a:solidFill>
            <a:schemeClr val="bg2"/>
          </a:solidFill>
          <a:ln/>
        </p:spPr>
      </p:sp>
      <p:sp>
        <p:nvSpPr>
          <p:cNvPr id="36" name="Architecture title"/>
          <p:cNvSpPr txBox="1"/>
          <p:nvPr/>
        </p:nvSpPr>
        <p:spPr>
          <a:xfrm>
            <a:off x="8458200" y="2331720"/>
            <a:ext cx="3017520" cy="365760"/>
          </a:xfrm>
          <a:prstGeom prst="rect">
            <a:avLst/>
          </a:prstGeom>
          <a:noFill/>
          <a:ln/>
        </p:spPr>
        <p:txBody>
          <a:bodyPr wrap="square" lIns="0" tIns="0" rIns="0" bIns="0" rtlCol="0" anchor="t"/>
          <a:lstStyle/>
          <a:p>
            <a:pPr marL="0" indent="0">
              <a:buNone/>
            </a:pPr>
            <a:r>
              <a:rPr lang="en-US" sz="1800" b="1" dirty="0">
                <a:solidFill>
                  <a:schemeClr val="tx2"/>
                </a:solidFill>
              </a:rPr>
              <a:t>System Architecture</a:t>
            </a:r>
            <a:endParaRPr lang="en-US" sz="1800" dirty="0"/>
          </a:p>
        </p:txBody>
      </p:sp>
      <p:sp>
        <p:nvSpPr>
          <p:cNvPr id="37" name="Arch step 1"/>
          <p:cNvSpPr/>
          <p:nvPr/>
        </p:nvSpPr>
        <p:spPr>
          <a:xfrm>
            <a:off x="8458200" y="2834640"/>
            <a:ext cx="2999232" cy="457200"/>
          </a:xfrm>
          <a:prstGeom prst="roundRect">
            <a:avLst>
              <a:gd name="adj" fmla="val 16000"/>
            </a:avLst>
          </a:prstGeom>
          <a:solidFill>
            <a:schemeClr val="accent1"/>
          </a:solidFill>
          <a:ln/>
        </p:spPr>
      </p:sp>
      <p:sp>
        <p:nvSpPr>
          <p:cNvPr id="38" name="Arch label 1"/>
          <p:cNvSpPr txBox="1"/>
          <p:nvPr/>
        </p:nvSpPr>
        <p:spPr>
          <a:xfrm>
            <a:off x="8458200" y="2834640"/>
            <a:ext cx="2999232" cy="457200"/>
          </a:xfrm>
          <a:prstGeom prst="rect">
            <a:avLst/>
          </a:prstGeom>
          <a:noFill/>
          <a:ln/>
        </p:spPr>
        <p:txBody>
          <a:bodyPr wrap="square" lIns="0" tIns="0" rIns="0" bIns="0" rtlCol="0" anchor="ctr"/>
          <a:lstStyle/>
          <a:p>
            <a:pPr marL="0" indent="0" algn="ctr">
              <a:buNone/>
            </a:pPr>
            <a:r>
              <a:rPr lang="en-US" sz="1400" b="1" dirty="0">
                <a:solidFill>
                  <a:schemeClr val="bg1"/>
                </a:solidFill>
              </a:rPr>
              <a:t>Upload CSV / Excel</a:t>
            </a:r>
            <a:endParaRPr lang="en-US" sz="1400" dirty="0"/>
          </a:p>
        </p:txBody>
      </p:sp>
      <p:sp>
        <p:nvSpPr>
          <p:cNvPr id="39" name="Arch arrow 1"/>
          <p:cNvSpPr/>
          <p:nvPr/>
        </p:nvSpPr>
        <p:spPr>
          <a:xfrm>
            <a:off x="9957816" y="3291840"/>
            <a:ext cx="0" cy="118872"/>
          </a:xfrm>
          <a:prstGeom prst="line">
            <a:avLst/>
          </a:prstGeom>
          <a:noFill/>
          <a:ln w="19050">
            <a:solidFill>
              <a:srgbClr val="0E7C86"/>
            </a:solidFill>
            <a:prstDash val="solid"/>
            <a:tailEnd type="triangle"/>
          </a:ln>
        </p:spPr>
      </p:sp>
      <p:sp>
        <p:nvSpPr>
          <p:cNvPr id="40" name="Arch step 2"/>
          <p:cNvSpPr/>
          <p:nvPr/>
        </p:nvSpPr>
        <p:spPr>
          <a:xfrm>
            <a:off x="8458200" y="3410712"/>
            <a:ext cx="2999232" cy="457200"/>
          </a:xfrm>
          <a:prstGeom prst="roundRect">
            <a:avLst>
              <a:gd name="adj" fmla="val 16000"/>
            </a:avLst>
          </a:prstGeom>
          <a:solidFill>
            <a:schemeClr val="accent1"/>
          </a:solidFill>
          <a:ln/>
        </p:spPr>
      </p:sp>
      <p:sp>
        <p:nvSpPr>
          <p:cNvPr id="41" name="Arch label 2"/>
          <p:cNvSpPr txBox="1"/>
          <p:nvPr/>
        </p:nvSpPr>
        <p:spPr>
          <a:xfrm>
            <a:off x="8458200" y="3410712"/>
            <a:ext cx="2999232" cy="457200"/>
          </a:xfrm>
          <a:prstGeom prst="rect">
            <a:avLst/>
          </a:prstGeom>
          <a:noFill/>
          <a:ln/>
        </p:spPr>
        <p:txBody>
          <a:bodyPr wrap="square" lIns="0" tIns="0" rIns="0" bIns="0" rtlCol="0" anchor="ctr"/>
          <a:lstStyle/>
          <a:p>
            <a:pPr marL="0" indent="0" algn="ctr">
              <a:buNone/>
            </a:pPr>
            <a:r>
              <a:rPr lang="en-US" sz="1400" b="1" dirty="0">
                <a:solidFill>
                  <a:schemeClr val="bg1"/>
                </a:solidFill>
              </a:rPr>
              <a:t>Header and type repair</a:t>
            </a:r>
            <a:endParaRPr lang="en-US" sz="1400" dirty="0"/>
          </a:p>
        </p:txBody>
      </p:sp>
      <p:sp>
        <p:nvSpPr>
          <p:cNvPr id="42" name="Arch arrow 2"/>
          <p:cNvSpPr/>
          <p:nvPr/>
        </p:nvSpPr>
        <p:spPr>
          <a:xfrm>
            <a:off x="9957816" y="3867912"/>
            <a:ext cx="0" cy="118872"/>
          </a:xfrm>
          <a:prstGeom prst="line">
            <a:avLst/>
          </a:prstGeom>
          <a:noFill/>
          <a:ln w="19050">
            <a:solidFill>
              <a:srgbClr val="0E7C86"/>
            </a:solidFill>
            <a:prstDash val="solid"/>
            <a:tailEnd type="triangle"/>
          </a:ln>
        </p:spPr>
      </p:sp>
      <p:sp>
        <p:nvSpPr>
          <p:cNvPr id="43" name="Arch step 3"/>
          <p:cNvSpPr/>
          <p:nvPr/>
        </p:nvSpPr>
        <p:spPr>
          <a:xfrm>
            <a:off x="8458200" y="3986784"/>
            <a:ext cx="2999232" cy="457200"/>
          </a:xfrm>
          <a:prstGeom prst="roundRect">
            <a:avLst>
              <a:gd name="adj" fmla="val 16000"/>
            </a:avLst>
          </a:prstGeom>
          <a:solidFill>
            <a:schemeClr val="accent1"/>
          </a:solidFill>
          <a:ln/>
        </p:spPr>
      </p:sp>
      <p:sp>
        <p:nvSpPr>
          <p:cNvPr id="44" name="Arch label 3"/>
          <p:cNvSpPr txBox="1"/>
          <p:nvPr/>
        </p:nvSpPr>
        <p:spPr>
          <a:xfrm>
            <a:off x="8458200" y="3986784"/>
            <a:ext cx="2999232" cy="457200"/>
          </a:xfrm>
          <a:prstGeom prst="rect">
            <a:avLst/>
          </a:prstGeom>
          <a:noFill/>
          <a:ln/>
        </p:spPr>
        <p:txBody>
          <a:bodyPr wrap="square" lIns="0" tIns="0" rIns="0" bIns="0" rtlCol="0" anchor="ctr"/>
          <a:lstStyle/>
          <a:p>
            <a:pPr marL="0" indent="0" algn="ctr">
              <a:buNone/>
            </a:pPr>
            <a:r>
              <a:rPr lang="en-US" sz="1400" b="1" dirty="0">
                <a:solidFill>
                  <a:schemeClr val="bg1"/>
                </a:solidFill>
              </a:rPr>
              <a:t>Profiler and outlier flags</a:t>
            </a:r>
            <a:endParaRPr lang="en-US" sz="1400" dirty="0"/>
          </a:p>
        </p:txBody>
      </p:sp>
      <p:sp>
        <p:nvSpPr>
          <p:cNvPr id="45" name="Arch arrow 3"/>
          <p:cNvSpPr/>
          <p:nvPr/>
        </p:nvSpPr>
        <p:spPr>
          <a:xfrm>
            <a:off x="9957816" y="4443984"/>
            <a:ext cx="0" cy="118872"/>
          </a:xfrm>
          <a:prstGeom prst="line">
            <a:avLst/>
          </a:prstGeom>
          <a:noFill/>
          <a:ln w="19050">
            <a:solidFill>
              <a:srgbClr val="0E7C86"/>
            </a:solidFill>
            <a:prstDash val="solid"/>
            <a:tailEnd type="triangle"/>
          </a:ln>
        </p:spPr>
      </p:sp>
      <p:sp>
        <p:nvSpPr>
          <p:cNvPr id="46" name="Arch step 4"/>
          <p:cNvSpPr/>
          <p:nvPr/>
        </p:nvSpPr>
        <p:spPr>
          <a:xfrm>
            <a:off x="8458200" y="4562856"/>
            <a:ext cx="2999232" cy="457200"/>
          </a:xfrm>
          <a:prstGeom prst="roundRect">
            <a:avLst>
              <a:gd name="adj" fmla="val 16000"/>
            </a:avLst>
          </a:prstGeom>
          <a:solidFill>
            <a:schemeClr val="accent1"/>
          </a:solidFill>
          <a:ln/>
        </p:spPr>
      </p:sp>
      <p:sp>
        <p:nvSpPr>
          <p:cNvPr id="47" name="Arch label 4"/>
          <p:cNvSpPr txBox="1"/>
          <p:nvPr/>
        </p:nvSpPr>
        <p:spPr>
          <a:xfrm>
            <a:off x="8458200" y="4562856"/>
            <a:ext cx="2999232" cy="457200"/>
          </a:xfrm>
          <a:prstGeom prst="rect">
            <a:avLst/>
          </a:prstGeom>
          <a:noFill/>
          <a:ln/>
        </p:spPr>
        <p:txBody>
          <a:bodyPr wrap="square" lIns="0" tIns="0" rIns="0" bIns="0" rtlCol="0" anchor="ctr"/>
          <a:lstStyle/>
          <a:p>
            <a:pPr marL="0" indent="0" algn="ctr">
              <a:buNone/>
            </a:pPr>
            <a:r>
              <a:rPr lang="en-US" sz="1400" b="1" dirty="0">
                <a:solidFill>
                  <a:schemeClr val="bg1"/>
                </a:solidFill>
              </a:rPr>
              <a:t>Imputation engine</a:t>
            </a:r>
            <a:endParaRPr lang="en-US" sz="1400" dirty="0"/>
          </a:p>
        </p:txBody>
      </p:sp>
      <p:sp>
        <p:nvSpPr>
          <p:cNvPr id="48" name="Arch arrow 4"/>
          <p:cNvSpPr/>
          <p:nvPr/>
        </p:nvSpPr>
        <p:spPr>
          <a:xfrm>
            <a:off x="9957816" y="5020056"/>
            <a:ext cx="0" cy="118872"/>
          </a:xfrm>
          <a:prstGeom prst="line">
            <a:avLst/>
          </a:prstGeom>
          <a:noFill/>
          <a:ln w="19050">
            <a:solidFill>
              <a:srgbClr val="0E7C86"/>
            </a:solidFill>
            <a:prstDash val="solid"/>
            <a:tailEnd type="triangle"/>
          </a:ln>
        </p:spPr>
      </p:sp>
      <p:sp>
        <p:nvSpPr>
          <p:cNvPr id="49" name="Arch step 5"/>
          <p:cNvSpPr/>
          <p:nvPr/>
        </p:nvSpPr>
        <p:spPr>
          <a:xfrm>
            <a:off x="8458200" y="5138928"/>
            <a:ext cx="2999232" cy="457200"/>
          </a:xfrm>
          <a:prstGeom prst="roundRect">
            <a:avLst>
              <a:gd name="adj" fmla="val 16000"/>
            </a:avLst>
          </a:prstGeom>
          <a:solidFill>
            <a:schemeClr val="accent2"/>
          </a:solidFill>
          <a:ln/>
        </p:spPr>
      </p:sp>
      <p:sp>
        <p:nvSpPr>
          <p:cNvPr id="50" name="Arch label 5"/>
          <p:cNvSpPr txBox="1"/>
          <p:nvPr/>
        </p:nvSpPr>
        <p:spPr>
          <a:xfrm>
            <a:off x="8458200" y="5138928"/>
            <a:ext cx="2999232" cy="457200"/>
          </a:xfrm>
          <a:prstGeom prst="rect">
            <a:avLst/>
          </a:prstGeom>
          <a:noFill/>
          <a:ln/>
        </p:spPr>
        <p:txBody>
          <a:bodyPr wrap="square" lIns="0" tIns="0" rIns="0" bIns="0" rtlCol="0" anchor="ctr"/>
          <a:lstStyle/>
          <a:p>
            <a:pPr marL="0" indent="0" algn="ctr">
              <a:buNone/>
            </a:pPr>
            <a:r>
              <a:rPr lang="en-US" sz="1400" b="1" dirty="0">
                <a:solidFill>
                  <a:schemeClr val="tx1"/>
                </a:solidFill>
              </a:rPr>
              <a:t>Clean CSV + PDF report</a:t>
            </a:r>
            <a:endParaRPr lang="en-US" sz="1400" dirty="0"/>
          </a:p>
        </p:txBody>
      </p:sp>
      <p:sp>
        <p:nvSpPr>
          <p:cNvPr id="51" name="Innovation strip"/>
          <p:cNvSpPr/>
          <p:nvPr/>
        </p:nvSpPr>
        <p:spPr>
          <a:xfrm>
            <a:off x="548640" y="5943600"/>
            <a:ext cx="11091672" cy="411480"/>
          </a:xfrm>
          <a:prstGeom prst="roundRect">
            <a:avLst>
              <a:gd name="adj" fmla="val 22222"/>
            </a:avLst>
          </a:prstGeom>
          <a:solidFill>
            <a:schemeClr val="accent6"/>
          </a:solidFill>
          <a:ln/>
        </p:spPr>
      </p:sp>
      <p:sp>
        <p:nvSpPr>
          <p:cNvPr id="52" name="Innovation text"/>
          <p:cNvSpPr txBox="1"/>
          <p:nvPr/>
        </p:nvSpPr>
        <p:spPr>
          <a:xfrm>
            <a:off x="777240" y="5943600"/>
            <a:ext cx="10652760" cy="411480"/>
          </a:xfrm>
          <a:prstGeom prst="rect">
            <a:avLst/>
          </a:prstGeom>
          <a:noFill/>
          <a:ln/>
        </p:spPr>
        <p:txBody>
          <a:bodyPr wrap="square" lIns="0" tIns="0" rIns="0" bIns="0" rtlCol="0" anchor="ctr"/>
          <a:lstStyle/>
          <a:p>
            <a:pPr marL="0" indent="0">
              <a:buNone/>
            </a:pPr>
            <a:r>
              <a:rPr lang="en-US" sz="1400" b="1" dirty="0">
                <a:solidFill>
                  <a:schemeClr val="tx1"/>
                </a:solidFill>
              </a:rPr>
              <a:t>Innovation: </a:t>
            </a:r>
            <a:r>
              <a:rPr lang="en-US" sz="1400" dirty="0">
                <a:solidFill>
                  <a:schemeClr val="tx1"/>
                </a:solidFill>
              </a:rPr>
              <a:t>one run covers profiling, cleaning, outlier flags and a shareable report, with no code or manual rules.</a:t>
            </a:r>
            <a:endParaRPr lang="en-US" sz="1400" dirty="0"/>
          </a:p>
        </p:txBody>
      </p:sp>
      <p:sp>
        <p:nvSpPr>
          <p:cNvPr id="53" name="Slide Number Placeholder 0"/>
          <p:cNvSpPr>
            <a:spLocks noGrp="1"/>
          </p:cNvSpPr>
          <p:nvPr>
            <p:ph type="sldNum" sz="quarter" idx="4294967295"/>
          </p:nvPr>
        </p:nvSpPr>
        <p:spPr>
          <a:xfrm>
            <a:off x="10972800" y="6473952"/>
            <a:ext cx="667512"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7078"/>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777240"/>
          </a:xfrm>
          <a:prstGeom prst="rect">
            <a:avLst/>
          </a:prstGeom>
          <a:noFill/>
          <a:ln/>
        </p:spPr>
        <p:txBody>
          <a:bodyPr wrap="square" lIns="0" tIns="0" rIns="0" bIns="0" rtlCol="0" anchor="ctr"/>
          <a:lstStyle/>
          <a:p>
            <a:pPr marL="0" indent="0" algn="l">
              <a:buNone/>
            </a:pPr>
            <a:r>
              <a:rPr lang="en-US" sz="3400" b="1" dirty="0">
                <a:solidFill>
                  <a:schemeClr val="tx2"/>
                </a:solidFill>
              </a:rPr>
              <a:t>Technical Approach</a:t>
            </a:r>
            <a:endParaRPr lang="en-US" sz="3400" dirty="0"/>
          </a:p>
        </p:txBody>
      </p:sp>
      <p:sp>
        <p:nvSpPr>
          <p:cNvPr id="3" name="Stack panel"/>
          <p:cNvSpPr/>
          <p:nvPr/>
        </p:nvSpPr>
        <p:spPr>
          <a:xfrm>
            <a:off x="548640" y="1188720"/>
            <a:ext cx="3840480" cy="5120640"/>
          </a:xfrm>
          <a:prstGeom prst="roundRect">
            <a:avLst>
              <a:gd name="adj" fmla="val 2381"/>
            </a:avLst>
          </a:prstGeom>
          <a:solidFill>
            <a:schemeClr val="bg2"/>
          </a:solidFill>
          <a:ln/>
        </p:spPr>
      </p:sp>
      <p:sp>
        <p:nvSpPr>
          <p:cNvPr id="4" name="Stack title"/>
          <p:cNvSpPr txBox="1"/>
          <p:nvPr/>
        </p:nvSpPr>
        <p:spPr>
          <a:xfrm>
            <a:off x="731520" y="1280160"/>
            <a:ext cx="3474720" cy="411480"/>
          </a:xfrm>
          <a:prstGeom prst="rect">
            <a:avLst/>
          </a:prstGeom>
          <a:noFill/>
          <a:ln/>
        </p:spPr>
        <p:txBody>
          <a:bodyPr wrap="square" lIns="0" tIns="0" rIns="0" bIns="0" rtlCol="0" anchor="t"/>
          <a:lstStyle/>
          <a:p>
            <a:pPr marL="0" indent="0">
              <a:buNone/>
            </a:pPr>
            <a:r>
              <a:rPr lang="en-US" sz="2000" b="1" dirty="0">
                <a:solidFill>
                  <a:schemeClr val="tx2"/>
                </a:solidFill>
              </a:rPr>
              <a:t>Technology Stack</a:t>
            </a:r>
            <a:endParaRPr lang="en-US" sz="2000" dirty="0"/>
          </a:p>
        </p:txBody>
      </p:sp>
      <p:sp>
        <p:nvSpPr>
          <p:cNvPr id="5" name="Interface layer"/>
          <p:cNvSpPr/>
          <p:nvPr/>
        </p:nvSpPr>
        <p:spPr>
          <a:xfrm>
            <a:off x="731520" y="1783080"/>
            <a:ext cx="3474720" cy="658368"/>
          </a:xfrm>
          <a:prstGeom prst="roundRect">
            <a:avLst>
              <a:gd name="adj" fmla="val 11111"/>
            </a:avLst>
          </a:prstGeom>
          <a:solidFill>
            <a:schemeClr val="bg1"/>
          </a:solidFill>
          <a:ln w="12700">
            <a:solidFill>
              <a:srgbClr val="0E7C86"/>
            </a:solidFill>
            <a:prstDash val="solid"/>
          </a:ln>
        </p:spPr>
      </p:sp>
      <p:sp>
        <p:nvSpPr>
          <p:cNvPr id="6" name="Interface text"/>
          <p:cNvSpPr txBox="1"/>
          <p:nvPr/>
        </p:nvSpPr>
        <p:spPr>
          <a:xfrm>
            <a:off x="868680" y="1819656"/>
            <a:ext cx="3200400" cy="585216"/>
          </a:xfrm>
          <a:prstGeom prst="rect">
            <a:avLst/>
          </a:prstGeom>
          <a:noFill/>
          <a:ln/>
        </p:spPr>
        <p:txBody>
          <a:bodyPr wrap="square" lIns="0" tIns="0" rIns="0" bIns="0" rtlCol="0" anchor="ctr"/>
          <a:lstStyle/>
          <a:p>
            <a:pPr marL="0" indent="0">
              <a:buNone/>
            </a:pPr>
            <a:r>
              <a:rPr lang="en-US" sz="1400" b="1" dirty="0">
                <a:solidFill>
                  <a:schemeClr val="accent1"/>
                </a:solidFill>
              </a:rPr>
              <a:t>Interface</a:t>
            </a:r>
            <a:endParaRPr lang="en-US" sz="1400" dirty="0"/>
          </a:p>
          <a:p>
            <a:pPr marL="0" indent="0">
              <a:buNone/>
            </a:pPr>
            <a:r>
              <a:rPr lang="en-US" sz="1400" dirty="0">
                <a:solidFill>
                  <a:schemeClr val="tx1"/>
                </a:solidFill>
              </a:rPr>
              <a:t>Streamlit web app · Flask API</a:t>
            </a:r>
            <a:endParaRPr lang="en-US" sz="1400" dirty="0"/>
          </a:p>
        </p:txBody>
      </p:sp>
      <p:sp>
        <p:nvSpPr>
          <p:cNvPr id="7" name="Ingestion layer"/>
          <p:cNvSpPr/>
          <p:nvPr/>
        </p:nvSpPr>
        <p:spPr>
          <a:xfrm>
            <a:off x="731520" y="2532888"/>
            <a:ext cx="3474720" cy="658368"/>
          </a:xfrm>
          <a:prstGeom prst="roundRect">
            <a:avLst>
              <a:gd name="adj" fmla="val 11111"/>
            </a:avLst>
          </a:prstGeom>
          <a:solidFill>
            <a:schemeClr val="bg1"/>
          </a:solidFill>
          <a:ln w="12700">
            <a:solidFill>
              <a:srgbClr val="0E7C86"/>
            </a:solidFill>
            <a:prstDash val="solid"/>
          </a:ln>
        </p:spPr>
      </p:sp>
      <p:sp>
        <p:nvSpPr>
          <p:cNvPr id="8" name="Ingestion text"/>
          <p:cNvSpPr txBox="1"/>
          <p:nvPr/>
        </p:nvSpPr>
        <p:spPr>
          <a:xfrm>
            <a:off x="868680" y="2569464"/>
            <a:ext cx="3200400" cy="585216"/>
          </a:xfrm>
          <a:prstGeom prst="rect">
            <a:avLst/>
          </a:prstGeom>
          <a:noFill/>
          <a:ln/>
        </p:spPr>
        <p:txBody>
          <a:bodyPr wrap="square" lIns="0" tIns="0" rIns="0" bIns="0" rtlCol="0" anchor="ctr"/>
          <a:lstStyle/>
          <a:p>
            <a:pPr marL="0" indent="0">
              <a:buNone/>
            </a:pPr>
            <a:r>
              <a:rPr lang="en-US" sz="1400" b="1" dirty="0">
                <a:solidFill>
                  <a:schemeClr val="accent1"/>
                </a:solidFill>
              </a:rPr>
              <a:t>Ingestion</a:t>
            </a:r>
            <a:endParaRPr lang="en-US" sz="1400" dirty="0"/>
          </a:p>
          <a:p>
            <a:pPr marL="0" indent="0">
              <a:buNone/>
            </a:pPr>
            <a:r>
              <a:rPr lang="en-US" sz="1400" dirty="0">
                <a:solidFill>
                  <a:schemeClr val="tx1"/>
                </a:solidFill>
              </a:rPr>
              <a:t>pandas · openpyxl · chardet</a:t>
            </a:r>
            <a:endParaRPr lang="en-US" sz="1400" dirty="0"/>
          </a:p>
        </p:txBody>
      </p:sp>
      <p:sp>
        <p:nvSpPr>
          <p:cNvPr id="9" name="Cleaning &amp; Profiling layer"/>
          <p:cNvSpPr/>
          <p:nvPr/>
        </p:nvSpPr>
        <p:spPr>
          <a:xfrm>
            <a:off x="731520" y="3282696"/>
            <a:ext cx="3474720" cy="658368"/>
          </a:xfrm>
          <a:prstGeom prst="roundRect">
            <a:avLst>
              <a:gd name="adj" fmla="val 11111"/>
            </a:avLst>
          </a:prstGeom>
          <a:solidFill>
            <a:schemeClr val="bg1"/>
          </a:solidFill>
          <a:ln w="12700">
            <a:solidFill>
              <a:srgbClr val="0E7C86"/>
            </a:solidFill>
            <a:prstDash val="solid"/>
          </a:ln>
        </p:spPr>
      </p:sp>
      <p:sp>
        <p:nvSpPr>
          <p:cNvPr id="10" name="Cleaning &amp; Profiling text"/>
          <p:cNvSpPr txBox="1"/>
          <p:nvPr/>
        </p:nvSpPr>
        <p:spPr>
          <a:xfrm>
            <a:off x="868680" y="3319272"/>
            <a:ext cx="3200400" cy="585216"/>
          </a:xfrm>
          <a:prstGeom prst="rect">
            <a:avLst/>
          </a:prstGeom>
          <a:noFill/>
          <a:ln/>
        </p:spPr>
        <p:txBody>
          <a:bodyPr wrap="square" lIns="0" tIns="0" rIns="0" bIns="0" rtlCol="0" anchor="ctr"/>
          <a:lstStyle/>
          <a:p>
            <a:pPr marL="0" indent="0">
              <a:buNone/>
            </a:pPr>
            <a:r>
              <a:rPr lang="en-US" sz="1400" b="1" dirty="0">
                <a:solidFill>
                  <a:schemeClr val="accent1"/>
                </a:solidFill>
              </a:rPr>
              <a:t>Cleaning &amp; Profiling</a:t>
            </a:r>
            <a:endParaRPr lang="en-US" sz="1400" dirty="0"/>
          </a:p>
          <a:p>
            <a:pPr marL="0" indent="0">
              <a:buNone/>
            </a:pPr>
            <a:r>
              <a:rPr lang="en-US" sz="1400" dirty="0">
                <a:solidFill>
                  <a:schemeClr val="tx1"/>
                </a:solidFill>
              </a:rPr>
              <a:t>pandas · NumPy · dateutil</a:t>
            </a:r>
            <a:endParaRPr lang="en-US" sz="1400" dirty="0"/>
          </a:p>
        </p:txBody>
      </p:sp>
      <p:sp>
        <p:nvSpPr>
          <p:cNvPr id="11" name="Statistics &amp; ML layer"/>
          <p:cNvSpPr/>
          <p:nvPr/>
        </p:nvSpPr>
        <p:spPr>
          <a:xfrm>
            <a:off x="731520" y="4032504"/>
            <a:ext cx="3474720" cy="658368"/>
          </a:xfrm>
          <a:prstGeom prst="roundRect">
            <a:avLst>
              <a:gd name="adj" fmla="val 11111"/>
            </a:avLst>
          </a:prstGeom>
          <a:solidFill>
            <a:schemeClr val="bg1"/>
          </a:solidFill>
          <a:ln w="12700">
            <a:solidFill>
              <a:srgbClr val="0E7C86"/>
            </a:solidFill>
            <a:prstDash val="solid"/>
          </a:ln>
        </p:spPr>
      </p:sp>
      <p:sp>
        <p:nvSpPr>
          <p:cNvPr id="12" name="Statistics &amp; ML text"/>
          <p:cNvSpPr txBox="1"/>
          <p:nvPr/>
        </p:nvSpPr>
        <p:spPr>
          <a:xfrm>
            <a:off x="868680" y="4069080"/>
            <a:ext cx="3200400" cy="585216"/>
          </a:xfrm>
          <a:prstGeom prst="rect">
            <a:avLst/>
          </a:prstGeom>
          <a:noFill/>
          <a:ln/>
        </p:spPr>
        <p:txBody>
          <a:bodyPr wrap="square" lIns="0" tIns="0" rIns="0" bIns="0" rtlCol="0" anchor="ctr"/>
          <a:lstStyle/>
          <a:p>
            <a:pPr marL="0" indent="0">
              <a:buNone/>
            </a:pPr>
            <a:r>
              <a:rPr lang="en-US" sz="1400" b="1" dirty="0">
                <a:solidFill>
                  <a:schemeClr val="accent1"/>
                </a:solidFill>
              </a:rPr>
              <a:t>Statistics &amp; ML</a:t>
            </a:r>
            <a:endParaRPr lang="en-US" sz="1400" dirty="0"/>
          </a:p>
          <a:p>
            <a:pPr marL="0" indent="0">
              <a:buNone/>
            </a:pPr>
            <a:r>
              <a:rPr lang="en-US" sz="1400" dirty="0">
                <a:solidFill>
                  <a:schemeClr val="tx1"/>
                </a:solidFill>
              </a:rPr>
              <a:t>SciPy · scikit-learn (KNN imputer)</a:t>
            </a:r>
            <a:endParaRPr lang="en-US" sz="1400" dirty="0"/>
          </a:p>
        </p:txBody>
      </p:sp>
      <p:sp>
        <p:nvSpPr>
          <p:cNvPr id="13" name="Reporting layer"/>
          <p:cNvSpPr/>
          <p:nvPr/>
        </p:nvSpPr>
        <p:spPr>
          <a:xfrm>
            <a:off x="731520" y="4782312"/>
            <a:ext cx="3474720" cy="658368"/>
          </a:xfrm>
          <a:prstGeom prst="roundRect">
            <a:avLst>
              <a:gd name="adj" fmla="val 11111"/>
            </a:avLst>
          </a:prstGeom>
          <a:solidFill>
            <a:schemeClr val="bg1"/>
          </a:solidFill>
          <a:ln w="12700">
            <a:solidFill>
              <a:srgbClr val="0E7C86"/>
            </a:solidFill>
            <a:prstDash val="solid"/>
          </a:ln>
        </p:spPr>
      </p:sp>
      <p:sp>
        <p:nvSpPr>
          <p:cNvPr id="14" name="Reporting text"/>
          <p:cNvSpPr txBox="1"/>
          <p:nvPr/>
        </p:nvSpPr>
        <p:spPr>
          <a:xfrm>
            <a:off x="868680" y="4818888"/>
            <a:ext cx="3200400" cy="585216"/>
          </a:xfrm>
          <a:prstGeom prst="rect">
            <a:avLst/>
          </a:prstGeom>
          <a:noFill/>
          <a:ln/>
        </p:spPr>
        <p:txBody>
          <a:bodyPr wrap="square" lIns="0" tIns="0" rIns="0" bIns="0" rtlCol="0" anchor="ctr"/>
          <a:lstStyle/>
          <a:p>
            <a:pPr marL="0" indent="0">
              <a:buNone/>
            </a:pPr>
            <a:r>
              <a:rPr lang="en-US" sz="1400" b="1" dirty="0">
                <a:solidFill>
                  <a:schemeClr val="accent1"/>
                </a:solidFill>
              </a:rPr>
              <a:t>Reporting</a:t>
            </a:r>
            <a:endParaRPr lang="en-US" sz="1400" dirty="0"/>
          </a:p>
          <a:p>
            <a:pPr marL="0" indent="0">
              <a:buNone/>
            </a:pPr>
            <a:r>
              <a:rPr lang="en-US" sz="1400" dirty="0">
                <a:solidFill>
                  <a:schemeClr val="tx1"/>
                </a:solidFill>
              </a:rPr>
              <a:t>Matplotlib · Seaborn · ReportLab</a:t>
            </a:r>
            <a:endParaRPr lang="en-US" sz="1400" dirty="0"/>
          </a:p>
        </p:txBody>
      </p:sp>
      <p:sp>
        <p:nvSpPr>
          <p:cNvPr id="15" name="Dev &amp; Delivery layer"/>
          <p:cNvSpPr/>
          <p:nvPr/>
        </p:nvSpPr>
        <p:spPr>
          <a:xfrm>
            <a:off x="731520" y="5532120"/>
            <a:ext cx="3474720" cy="658368"/>
          </a:xfrm>
          <a:prstGeom prst="roundRect">
            <a:avLst>
              <a:gd name="adj" fmla="val 11111"/>
            </a:avLst>
          </a:prstGeom>
          <a:solidFill>
            <a:schemeClr val="bg1"/>
          </a:solidFill>
          <a:ln w="12700">
            <a:solidFill>
              <a:srgbClr val="0E7C86"/>
            </a:solidFill>
            <a:prstDash val="solid"/>
          </a:ln>
        </p:spPr>
      </p:sp>
      <p:sp>
        <p:nvSpPr>
          <p:cNvPr id="16" name="Dev &amp; Delivery text"/>
          <p:cNvSpPr txBox="1"/>
          <p:nvPr/>
        </p:nvSpPr>
        <p:spPr>
          <a:xfrm>
            <a:off x="868680" y="5568696"/>
            <a:ext cx="3200400" cy="585216"/>
          </a:xfrm>
          <a:prstGeom prst="rect">
            <a:avLst/>
          </a:prstGeom>
          <a:noFill/>
          <a:ln/>
        </p:spPr>
        <p:txBody>
          <a:bodyPr wrap="square" lIns="0" tIns="0" rIns="0" bIns="0" rtlCol="0" anchor="ctr"/>
          <a:lstStyle/>
          <a:p>
            <a:pPr marL="0" indent="0">
              <a:buNone/>
            </a:pPr>
            <a:r>
              <a:rPr lang="en-US" sz="1400" b="1" dirty="0">
                <a:solidFill>
                  <a:schemeClr val="accent1"/>
                </a:solidFill>
              </a:rPr>
              <a:t>Dev &amp; Delivery</a:t>
            </a:r>
            <a:endParaRPr lang="en-US" sz="1400" dirty="0"/>
          </a:p>
          <a:p>
            <a:pPr marL="0" indent="0">
              <a:buNone/>
            </a:pPr>
            <a:r>
              <a:rPr lang="en-US" sz="1400" dirty="0">
                <a:solidFill>
                  <a:schemeClr val="tx1"/>
                </a:solidFill>
              </a:rPr>
              <a:t>Python 3 · Git · GitHub</a:t>
            </a:r>
            <a:endParaRPr lang="en-US" sz="1400" dirty="0"/>
          </a:p>
        </p:txBody>
      </p:sp>
      <p:sp>
        <p:nvSpPr>
          <p:cNvPr id="17" name="Methodology panel"/>
          <p:cNvSpPr/>
          <p:nvPr/>
        </p:nvSpPr>
        <p:spPr>
          <a:xfrm>
            <a:off x="4572000" y="1188720"/>
            <a:ext cx="7068312" cy="3108960"/>
          </a:xfrm>
          <a:prstGeom prst="roundRect">
            <a:avLst>
              <a:gd name="adj" fmla="val 2941"/>
            </a:avLst>
          </a:prstGeom>
          <a:solidFill>
            <a:schemeClr val="bg2"/>
          </a:solidFill>
          <a:ln/>
        </p:spPr>
      </p:sp>
      <p:sp>
        <p:nvSpPr>
          <p:cNvPr id="18" name="Methodology title"/>
          <p:cNvSpPr txBox="1"/>
          <p:nvPr/>
        </p:nvSpPr>
        <p:spPr>
          <a:xfrm>
            <a:off x="4754880" y="1280160"/>
            <a:ext cx="3657600" cy="411480"/>
          </a:xfrm>
          <a:prstGeom prst="rect">
            <a:avLst/>
          </a:prstGeom>
          <a:noFill/>
          <a:ln/>
        </p:spPr>
        <p:txBody>
          <a:bodyPr wrap="square" lIns="0" tIns="0" rIns="0" bIns="0" rtlCol="0" anchor="t"/>
          <a:lstStyle/>
          <a:p>
            <a:pPr marL="0" indent="0">
              <a:buNone/>
            </a:pPr>
            <a:r>
              <a:rPr lang="en-US" sz="2000" b="1" dirty="0">
                <a:solidFill>
                  <a:schemeClr val="tx2"/>
                </a:solidFill>
              </a:rPr>
              <a:t>Methodology</a:t>
            </a:r>
            <a:endParaRPr lang="en-US" sz="2000" dirty="0"/>
          </a:p>
        </p:txBody>
      </p:sp>
      <p:sp>
        <p:nvSpPr>
          <p:cNvPr id="19" name="Ingest step"/>
          <p:cNvSpPr/>
          <p:nvPr/>
        </p:nvSpPr>
        <p:spPr>
          <a:xfrm>
            <a:off x="4754880" y="1783080"/>
            <a:ext cx="2103120" cy="1097280"/>
          </a:xfrm>
          <a:prstGeom prst="roundRect">
            <a:avLst>
              <a:gd name="adj" fmla="val 6667"/>
            </a:avLst>
          </a:prstGeom>
          <a:solidFill>
            <a:schemeClr val="bg1"/>
          </a:solidFill>
          <a:ln/>
        </p:spPr>
      </p:sp>
      <p:sp>
        <p:nvSpPr>
          <p:cNvPr id="20" name="Step number 1"/>
          <p:cNvSpPr/>
          <p:nvPr/>
        </p:nvSpPr>
        <p:spPr>
          <a:xfrm>
            <a:off x="4864608" y="1874520"/>
            <a:ext cx="347472" cy="347472"/>
          </a:xfrm>
          <a:prstGeom prst="ellipse">
            <a:avLst/>
          </a:prstGeom>
          <a:solidFill>
            <a:schemeClr val="accent1"/>
          </a:solidFill>
          <a:ln/>
        </p:spPr>
      </p:sp>
      <p:sp>
        <p:nvSpPr>
          <p:cNvPr id="21" name="Step digit 1"/>
          <p:cNvSpPr txBox="1"/>
          <p:nvPr/>
        </p:nvSpPr>
        <p:spPr>
          <a:xfrm>
            <a:off x="4864608" y="1874520"/>
            <a:ext cx="347472" cy="347472"/>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22" name="Ingest title"/>
          <p:cNvSpPr txBox="1"/>
          <p:nvPr/>
        </p:nvSpPr>
        <p:spPr>
          <a:xfrm>
            <a:off x="5303520" y="1874520"/>
            <a:ext cx="1463040" cy="347472"/>
          </a:xfrm>
          <a:prstGeom prst="rect">
            <a:avLst/>
          </a:prstGeom>
          <a:noFill/>
          <a:ln/>
        </p:spPr>
        <p:txBody>
          <a:bodyPr wrap="square" lIns="0" tIns="0" rIns="0" bIns="0" rtlCol="0" anchor="ctr"/>
          <a:lstStyle/>
          <a:p>
            <a:pPr marL="0" indent="0">
              <a:buNone/>
            </a:pPr>
            <a:r>
              <a:rPr lang="en-US" sz="1400" b="1" dirty="0">
                <a:solidFill>
                  <a:schemeClr val="tx2"/>
                </a:solidFill>
              </a:rPr>
              <a:t>Ingest</a:t>
            </a:r>
            <a:endParaRPr lang="en-US" sz="1400" dirty="0"/>
          </a:p>
        </p:txBody>
      </p:sp>
      <p:sp>
        <p:nvSpPr>
          <p:cNvPr id="23" name="Ingest text"/>
          <p:cNvSpPr txBox="1"/>
          <p:nvPr/>
        </p:nvSpPr>
        <p:spPr>
          <a:xfrm>
            <a:off x="4864608" y="2313432"/>
            <a:ext cx="1883664" cy="502920"/>
          </a:xfrm>
          <a:prstGeom prst="rect">
            <a:avLst/>
          </a:prstGeom>
          <a:noFill/>
          <a:ln/>
        </p:spPr>
        <p:txBody>
          <a:bodyPr wrap="square" lIns="0" tIns="0" rIns="0" bIns="0" rtlCol="0" anchor="t"/>
          <a:lstStyle/>
          <a:p>
            <a:pPr marL="0" indent="0">
              <a:buNone/>
            </a:pPr>
            <a:r>
              <a:rPr lang="en-US" sz="1400" dirty="0">
                <a:solidFill>
                  <a:schemeClr val="tx1"/>
                </a:solidFill>
              </a:rPr>
              <a:t>Load CSV/Excel, detect encoding</a:t>
            </a:r>
            <a:endParaRPr lang="en-US" sz="1400" dirty="0"/>
          </a:p>
        </p:txBody>
      </p:sp>
      <p:sp>
        <p:nvSpPr>
          <p:cNvPr id="24" name="Repair step"/>
          <p:cNvSpPr/>
          <p:nvPr/>
        </p:nvSpPr>
        <p:spPr>
          <a:xfrm>
            <a:off x="7054596" y="1783080"/>
            <a:ext cx="2103120" cy="1097280"/>
          </a:xfrm>
          <a:prstGeom prst="roundRect">
            <a:avLst>
              <a:gd name="adj" fmla="val 6667"/>
            </a:avLst>
          </a:prstGeom>
          <a:solidFill>
            <a:schemeClr val="bg1"/>
          </a:solidFill>
          <a:ln/>
        </p:spPr>
      </p:sp>
      <p:sp>
        <p:nvSpPr>
          <p:cNvPr id="25" name="Step number 2"/>
          <p:cNvSpPr/>
          <p:nvPr/>
        </p:nvSpPr>
        <p:spPr>
          <a:xfrm>
            <a:off x="7164324" y="1874520"/>
            <a:ext cx="347472" cy="347472"/>
          </a:xfrm>
          <a:prstGeom prst="ellipse">
            <a:avLst/>
          </a:prstGeom>
          <a:solidFill>
            <a:schemeClr val="accent1"/>
          </a:solidFill>
          <a:ln/>
        </p:spPr>
      </p:sp>
      <p:sp>
        <p:nvSpPr>
          <p:cNvPr id="26" name="Step digit 2"/>
          <p:cNvSpPr txBox="1"/>
          <p:nvPr/>
        </p:nvSpPr>
        <p:spPr>
          <a:xfrm>
            <a:off x="7164324" y="1874520"/>
            <a:ext cx="347472" cy="347472"/>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27" name="Repair title"/>
          <p:cNvSpPr txBox="1"/>
          <p:nvPr/>
        </p:nvSpPr>
        <p:spPr>
          <a:xfrm>
            <a:off x="7603236" y="1874520"/>
            <a:ext cx="1463040" cy="347472"/>
          </a:xfrm>
          <a:prstGeom prst="rect">
            <a:avLst/>
          </a:prstGeom>
          <a:noFill/>
          <a:ln/>
        </p:spPr>
        <p:txBody>
          <a:bodyPr wrap="square" lIns="0" tIns="0" rIns="0" bIns="0" rtlCol="0" anchor="ctr"/>
          <a:lstStyle/>
          <a:p>
            <a:pPr marL="0" indent="0">
              <a:buNone/>
            </a:pPr>
            <a:r>
              <a:rPr lang="en-US" sz="1400" b="1" dirty="0">
                <a:solidFill>
                  <a:schemeClr val="tx2"/>
                </a:solidFill>
              </a:rPr>
              <a:t>Repair</a:t>
            </a:r>
            <a:endParaRPr lang="en-US" sz="1400" dirty="0"/>
          </a:p>
        </p:txBody>
      </p:sp>
      <p:sp>
        <p:nvSpPr>
          <p:cNvPr id="28" name="Repair text"/>
          <p:cNvSpPr txBox="1"/>
          <p:nvPr/>
        </p:nvSpPr>
        <p:spPr>
          <a:xfrm>
            <a:off x="7164324" y="2313432"/>
            <a:ext cx="1883664" cy="502920"/>
          </a:xfrm>
          <a:prstGeom prst="rect">
            <a:avLst/>
          </a:prstGeom>
          <a:noFill/>
          <a:ln/>
        </p:spPr>
        <p:txBody>
          <a:bodyPr wrap="square" lIns="0" tIns="0" rIns="0" bIns="0" rtlCol="0" anchor="t"/>
          <a:lstStyle/>
          <a:p>
            <a:pPr marL="0" indent="0">
              <a:buNone/>
            </a:pPr>
            <a:r>
              <a:rPr lang="en-US" sz="1400" dirty="0">
                <a:solidFill>
                  <a:schemeClr val="tx1"/>
                </a:solidFill>
              </a:rPr>
              <a:t>Fix headers and data types</a:t>
            </a:r>
            <a:endParaRPr lang="en-US" sz="1400" dirty="0"/>
          </a:p>
        </p:txBody>
      </p:sp>
      <p:sp>
        <p:nvSpPr>
          <p:cNvPr id="29" name="Parse step"/>
          <p:cNvSpPr/>
          <p:nvPr/>
        </p:nvSpPr>
        <p:spPr>
          <a:xfrm>
            <a:off x="9354312" y="1783080"/>
            <a:ext cx="2103120" cy="1097280"/>
          </a:xfrm>
          <a:prstGeom prst="roundRect">
            <a:avLst>
              <a:gd name="adj" fmla="val 6667"/>
            </a:avLst>
          </a:prstGeom>
          <a:solidFill>
            <a:schemeClr val="bg1"/>
          </a:solidFill>
          <a:ln/>
        </p:spPr>
      </p:sp>
      <p:sp>
        <p:nvSpPr>
          <p:cNvPr id="30" name="Step number 3"/>
          <p:cNvSpPr/>
          <p:nvPr/>
        </p:nvSpPr>
        <p:spPr>
          <a:xfrm>
            <a:off x="9464040" y="1874520"/>
            <a:ext cx="347472" cy="347472"/>
          </a:xfrm>
          <a:prstGeom prst="ellipse">
            <a:avLst/>
          </a:prstGeom>
          <a:solidFill>
            <a:schemeClr val="accent1"/>
          </a:solidFill>
          <a:ln/>
        </p:spPr>
      </p:sp>
      <p:sp>
        <p:nvSpPr>
          <p:cNvPr id="31" name="Step digit 3"/>
          <p:cNvSpPr txBox="1"/>
          <p:nvPr/>
        </p:nvSpPr>
        <p:spPr>
          <a:xfrm>
            <a:off x="9464040" y="1874520"/>
            <a:ext cx="347472" cy="347472"/>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32" name="Parse title"/>
          <p:cNvSpPr txBox="1"/>
          <p:nvPr/>
        </p:nvSpPr>
        <p:spPr>
          <a:xfrm>
            <a:off x="9902952" y="1874520"/>
            <a:ext cx="1463040" cy="347472"/>
          </a:xfrm>
          <a:prstGeom prst="rect">
            <a:avLst/>
          </a:prstGeom>
          <a:noFill/>
          <a:ln/>
        </p:spPr>
        <p:txBody>
          <a:bodyPr wrap="square" lIns="0" tIns="0" rIns="0" bIns="0" rtlCol="0" anchor="ctr"/>
          <a:lstStyle/>
          <a:p>
            <a:pPr marL="0" indent="0">
              <a:buNone/>
            </a:pPr>
            <a:r>
              <a:rPr lang="en-US" sz="1400" b="1" dirty="0">
                <a:solidFill>
                  <a:schemeClr val="tx2"/>
                </a:solidFill>
              </a:rPr>
              <a:t>Parse</a:t>
            </a:r>
            <a:endParaRPr lang="en-US" sz="1400" dirty="0"/>
          </a:p>
        </p:txBody>
      </p:sp>
      <p:sp>
        <p:nvSpPr>
          <p:cNvPr id="33" name="Parse text"/>
          <p:cNvSpPr txBox="1"/>
          <p:nvPr/>
        </p:nvSpPr>
        <p:spPr>
          <a:xfrm>
            <a:off x="9464040" y="2313432"/>
            <a:ext cx="1883664" cy="502920"/>
          </a:xfrm>
          <a:prstGeom prst="rect">
            <a:avLst/>
          </a:prstGeom>
          <a:noFill/>
          <a:ln/>
        </p:spPr>
        <p:txBody>
          <a:bodyPr wrap="square" lIns="0" tIns="0" rIns="0" bIns="0" rtlCol="0" anchor="t"/>
          <a:lstStyle/>
          <a:p>
            <a:pPr marL="0" indent="0">
              <a:buNone/>
            </a:pPr>
            <a:r>
              <a:rPr lang="en-US" sz="1400" dirty="0">
                <a:solidFill>
                  <a:schemeClr val="tx1"/>
                </a:solidFill>
              </a:rPr>
              <a:t>Standardise date formats</a:t>
            </a:r>
            <a:endParaRPr lang="en-US" sz="1400" dirty="0"/>
          </a:p>
        </p:txBody>
      </p:sp>
      <p:sp>
        <p:nvSpPr>
          <p:cNvPr id="34" name="Profile step"/>
          <p:cNvSpPr/>
          <p:nvPr/>
        </p:nvSpPr>
        <p:spPr>
          <a:xfrm>
            <a:off x="4754880" y="3044952"/>
            <a:ext cx="2103120" cy="1097280"/>
          </a:xfrm>
          <a:prstGeom prst="roundRect">
            <a:avLst>
              <a:gd name="adj" fmla="val 6667"/>
            </a:avLst>
          </a:prstGeom>
          <a:solidFill>
            <a:schemeClr val="bg1"/>
          </a:solidFill>
          <a:ln/>
        </p:spPr>
      </p:sp>
      <p:sp>
        <p:nvSpPr>
          <p:cNvPr id="35" name="Step number 4"/>
          <p:cNvSpPr/>
          <p:nvPr/>
        </p:nvSpPr>
        <p:spPr>
          <a:xfrm>
            <a:off x="4864608" y="3136392"/>
            <a:ext cx="347472" cy="347472"/>
          </a:xfrm>
          <a:prstGeom prst="ellipse">
            <a:avLst/>
          </a:prstGeom>
          <a:solidFill>
            <a:schemeClr val="accent1"/>
          </a:solidFill>
          <a:ln/>
        </p:spPr>
      </p:sp>
      <p:sp>
        <p:nvSpPr>
          <p:cNvPr id="36" name="Step digit 4"/>
          <p:cNvSpPr txBox="1"/>
          <p:nvPr/>
        </p:nvSpPr>
        <p:spPr>
          <a:xfrm>
            <a:off x="4864608" y="3136392"/>
            <a:ext cx="347472" cy="347472"/>
          </a:xfrm>
          <a:prstGeom prst="rect">
            <a:avLst/>
          </a:prstGeom>
          <a:no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37" name="Profile title"/>
          <p:cNvSpPr txBox="1"/>
          <p:nvPr/>
        </p:nvSpPr>
        <p:spPr>
          <a:xfrm>
            <a:off x="5303520" y="3136392"/>
            <a:ext cx="1463040" cy="347472"/>
          </a:xfrm>
          <a:prstGeom prst="rect">
            <a:avLst/>
          </a:prstGeom>
          <a:noFill/>
          <a:ln/>
        </p:spPr>
        <p:txBody>
          <a:bodyPr wrap="square" lIns="0" tIns="0" rIns="0" bIns="0" rtlCol="0" anchor="ctr"/>
          <a:lstStyle/>
          <a:p>
            <a:pPr marL="0" indent="0">
              <a:buNone/>
            </a:pPr>
            <a:r>
              <a:rPr lang="en-US" sz="1400" b="1" dirty="0">
                <a:solidFill>
                  <a:schemeClr val="tx2"/>
                </a:solidFill>
              </a:rPr>
              <a:t>Profile</a:t>
            </a:r>
            <a:endParaRPr lang="en-US" sz="1400" dirty="0"/>
          </a:p>
        </p:txBody>
      </p:sp>
      <p:sp>
        <p:nvSpPr>
          <p:cNvPr id="38" name="Profile text"/>
          <p:cNvSpPr txBox="1"/>
          <p:nvPr/>
        </p:nvSpPr>
        <p:spPr>
          <a:xfrm>
            <a:off x="4864608" y="3575304"/>
            <a:ext cx="1883664" cy="502920"/>
          </a:xfrm>
          <a:prstGeom prst="rect">
            <a:avLst/>
          </a:prstGeom>
          <a:noFill/>
          <a:ln/>
        </p:spPr>
        <p:txBody>
          <a:bodyPr wrap="square" lIns="0" tIns="0" rIns="0" bIns="0" rtlCol="0" anchor="t"/>
          <a:lstStyle/>
          <a:p>
            <a:pPr marL="0" indent="0">
              <a:buNone/>
            </a:pPr>
            <a:r>
              <a:rPr lang="en-US" sz="1400" dirty="0">
                <a:solidFill>
                  <a:schemeClr val="tx1"/>
                </a:solidFill>
              </a:rPr>
              <a:t>Stats, missing %, box plots</a:t>
            </a:r>
            <a:endParaRPr lang="en-US" sz="1400" dirty="0"/>
          </a:p>
        </p:txBody>
      </p:sp>
      <p:sp>
        <p:nvSpPr>
          <p:cNvPr id="39" name="Impute step"/>
          <p:cNvSpPr/>
          <p:nvPr/>
        </p:nvSpPr>
        <p:spPr>
          <a:xfrm>
            <a:off x="7054596" y="3044952"/>
            <a:ext cx="2103120" cy="1097280"/>
          </a:xfrm>
          <a:prstGeom prst="roundRect">
            <a:avLst>
              <a:gd name="adj" fmla="val 6667"/>
            </a:avLst>
          </a:prstGeom>
          <a:solidFill>
            <a:schemeClr val="bg1"/>
          </a:solidFill>
          <a:ln/>
        </p:spPr>
      </p:sp>
      <p:sp>
        <p:nvSpPr>
          <p:cNvPr id="40" name="Step number 5"/>
          <p:cNvSpPr/>
          <p:nvPr/>
        </p:nvSpPr>
        <p:spPr>
          <a:xfrm>
            <a:off x="7164324" y="3136392"/>
            <a:ext cx="347472" cy="347472"/>
          </a:xfrm>
          <a:prstGeom prst="ellipse">
            <a:avLst/>
          </a:prstGeom>
          <a:solidFill>
            <a:schemeClr val="accent1"/>
          </a:solidFill>
          <a:ln/>
        </p:spPr>
      </p:sp>
      <p:sp>
        <p:nvSpPr>
          <p:cNvPr id="41" name="Step digit 5"/>
          <p:cNvSpPr txBox="1"/>
          <p:nvPr/>
        </p:nvSpPr>
        <p:spPr>
          <a:xfrm>
            <a:off x="7164324" y="3136392"/>
            <a:ext cx="347472" cy="347472"/>
          </a:xfrm>
          <a:prstGeom prst="rect">
            <a:avLst/>
          </a:prstGeom>
          <a:noFill/>
          <a:ln/>
        </p:spPr>
        <p:txBody>
          <a:bodyPr wrap="square" lIns="0" tIns="0" rIns="0" bIns="0" rtlCol="0" anchor="ctr"/>
          <a:lstStyle/>
          <a:p>
            <a:pPr marL="0" indent="0" algn="ctr">
              <a:buNone/>
            </a:pPr>
            <a:r>
              <a:rPr lang="en-US" sz="1400" b="1" dirty="0">
                <a:solidFill>
                  <a:schemeClr val="bg1"/>
                </a:solidFill>
              </a:rPr>
              <a:t>5</a:t>
            </a:r>
            <a:endParaRPr lang="en-US" sz="1400" dirty="0"/>
          </a:p>
        </p:txBody>
      </p:sp>
      <p:sp>
        <p:nvSpPr>
          <p:cNvPr id="42" name="Impute title"/>
          <p:cNvSpPr txBox="1"/>
          <p:nvPr/>
        </p:nvSpPr>
        <p:spPr>
          <a:xfrm>
            <a:off x="7603236" y="3136392"/>
            <a:ext cx="1463040" cy="347472"/>
          </a:xfrm>
          <a:prstGeom prst="rect">
            <a:avLst/>
          </a:prstGeom>
          <a:noFill/>
          <a:ln/>
        </p:spPr>
        <p:txBody>
          <a:bodyPr wrap="square" lIns="0" tIns="0" rIns="0" bIns="0" rtlCol="0" anchor="ctr"/>
          <a:lstStyle/>
          <a:p>
            <a:pPr marL="0" indent="0">
              <a:buNone/>
            </a:pPr>
            <a:r>
              <a:rPr lang="en-US" sz="1400" b="1" dirty="0">
                <a:solidFill>
                  <a:schemeClr val="tx2"/>
                </a:solidFill>
              </a:rPr>
              <a:t>Impute</a:t>
            </a:r>
            <a:endParaRPr lang="en-US" sz="1400" dirty="0"/>
          </a:p>
        </p:txBody>
      </p:sp>
      <p:sp>
        <p:nvSpPr>
          <p:cNvPr id="43" name="Impute text"/>
          <p:cNvSpPr txBox="1"/>
          <p:nvPr/>
        </p:nvSpPr>
        <p:spPr>
          <a:xfrm>
            <a:off x="7164324" y="3575304"/>
            <a:ext cx="1883664" cy="502920"/>
          </a:xfrm>
          <a:prstGeom prst="rect">
            <a:avLst/>
          </a:prstGeom>
          <a:noFill/>
          <a:ln/>
        </p:spPr>
        <p:txBody>
          <a:bodyPr wrap="square" lIns="0" tIns="0" rIns="0" bIns="0" rtlCol="0" anchor="t"/>
          <a:lstStyle/>
          <a:p>
            <a:pPr marL="0" indent="0">
              <a:buNone/>
            </a:pPr>
            <a:r>
              <a:rPr lang="en-US" sz="1400" dirty="0">
                <a:solidFill>
                  <a:schemeClr val="tx1"/>
                </a:solidFill>
              </a:rPr>
              <a:t>Fill gaps by column type</a:t>
            </a:r>
            <a:endParaRPr lang="en-US" sz="1400" dirty="0"/>
          </a:p>
        </p:txBody>
      </p:sp>
      <p:sp>
        <p:nvSpPr>
          <p:cNvPr id="44" name="Export step"/>
          <p:cNvSpPr/>
          <p:nvPr/>
        </p:nvSpPr>
        <p:spPr>
          <a:xfrm>
            <a:off x="9354312" y="3044952"/>
            <a:ext cx="2103120" cy="1097280"/>
          </a:xfrm>
          <a:prstGeom prst="roundRect">
            <a:avLst>
              <a:gd name="adj" fmla="val 6667"/>
            </a:avLst>
          </a:prstGeom>
          <a:solidFill>
            <a:schemeClr val="bg1"/>
          </a:solidFill>
          <a:ln/>
        </p:spPr>
      </p:sp>
      <p:sp>
        <p:nvSpPr>
          <p:cNvPr id="45" name="Step number 6"/>
          <p:cNvSpPr/>
          <p:nvPr/>
        </p:nvSpPr>
        <p:spPr>
          <a:xfrm>
            <a:off x="9464040" y="3136392"/>
            <a:ext cx="347472" cy="347472"/>
          </a:xfrm>
          <a:prstGeom prst="ellipse">
            <a:avLst/>
          </a:prstGeom>
          <a:solidFill>
            <a:schemeClr val="accent1"/>
          </a:solidFill>
          <a:ln/>
        </p:spPr>
      </p:sp>
      <p:sp>
        <p:nvSpPr>
          <p:cNvPr id="46" name="Step digit 6"/>
          <p:cNvSpPr txBox="1"/>
          <p:nvPr/>
        </p:nvSpPr>
        <p:spPr>
          <a:xfrm>
            <a:off x="9464040" y="3136392"/>
            <a:ext cx="347472" cy="347472"/>
          </a:xfrm>
          <a:prstGeom prst="rect">
            <a:avLst/>
          </a:prstGeom>
          <a:noFill/>
          <a:ln/>
        </p:spPr>
        <p:txBody>
          <a:bodyPr wrap="square" lIns="0" tIns="0" rIns="0" bIns="0" rtlCol="0" anchor="ctr"/>
          <a:lstStyle/>
          <a:p>
            <a:pPr marL="0" indent="0" algn="ctr">
              <a:buNone/>
            </a:pPr>
            <a:r>
              <a:rPr lang="en-US" sz="1400" b="1" dirty="0">
                <a:solidFill>
                  <a:schemeClr val="bg1"/>
                </a:solidFill>
              </a:rPr>
              <a:t>6</a:t>
            </a:r>
            <a:endParaRPr lang="en-US" sz="1400" dirty="0"/>
          </a:p>
        </p:txBody>
      </p:sp>
      <p:sp>
        <p:nvSpPr>
          <p:cNvPr id="47" name="Export title"/>
          <p:cNvSpPr txBox="1"/>
          <p:nvPr/>
        </p:nvSpPr>
        <p:spPr>
          <a:xfrm>
            <a:off x="9902952" y="3136392"/>
            <a:ext cx="1463040" cy="347472"/>
          </a:xfrm>
          <a:prstGeom prst="rect">
            <a:avLst/>
          </a:prstGeom>
          <a:noFill/>
          <a:ln/>
        </p:spPr>
        <p:txBody>
          <a:bodyPr wrap="square" lIns="0" tIns="0" rIns="0" bIns="0" rtlCol="0" anchor="ctr"/>
          <a:lstStyle/>
          <a:p>
            <a:pPr marL="0" indent="0">
              <a:buNone/>
            </a:pPr>
            <a:r>
              <a:rPr lang="en-US" sz="1400" b="1" dirty="0">
                <a:solidFill>
                  <a:schemeClr val="tx2"/>
                </a:solidFill>
              </a:rPr>
              <a:t>Export</a:t>
            </a:r>
            <a:endParaRPr lang="en-US" sz="1400" dirty="0"/>
          </a:p>
        </p:txBody>
      </p:sp>
      <p:sp>
        <p:nvSpPr>
          <p:cNvPr id="48" name="Export text"/>
          <p:cNvSpPr txBox="1"/>
          <p:nvPr/>
        </p:nvSpPr>
        <p:spPr>
          <a:xfrm>
            <a:off x="9464040" y="3575304"/>
            <a:ext cx="1883664" cy="502920"/>
          </a:xfrm>
          <a:prstGeom prst="rect">
            <a:avLst/>
          </a:prstGeom>
          <a:noFill/>
          <a:ln/>
        </p:spPr>
        <p:txBody>
          <a:bodyPr wrap="square" lIns="0" tIns="0" rIns="0" bIns="0" rtlCol="0" anchor="t"/>
          <a:lstStyle/>
          <a:p>
            <a:pPr marL="0" indent="0">
              <a:buNone/>
            </a:pPr>
            <a:r>
              <a:rPr lang="en-US" sz="1400" dirty="0">
                <a:solidFill>
                  <a:schemeClr val="tx1"/>
                </a:solidFill>
              </a:rPr>
              <a:t>Clean CSV + 1-page PDF</a:t>
            </a:r>
            <a:endParaRPr lang="en-US" sz="1400" dirty="0"/>
          </a:p>
        </p:txBody>
      </p:sp>
      <p:sp>
        <p:nvSpPr>
          <p:cNvPr id="49" name="Prototype panel"/>
          <p:cNvSpPr/>
          <p:nvPr/>
        </p:nvSpPr>
        <p:spPr>
          <a:xfrm>
            <a:off x="4572000" y="4434840"/>
            <a:ext cx="7068312" cy="1874520"/>
          </a:xfrm>
          <a:prstGeom prst="roundRect">
            <a:avLst>
              <a:gd name="adj" fmla="val 4878"/>
            </a:avLst>
          </a:prstGeom>
          <a:solidFill>
            <a:schemeClr val="bg2"/>
          </a:solidFill>
          <a:ln/>
        </p:spPr>
      </p:sp>
      <p:sp>
        <p:nvSpPr>
          <p:cNvPr id="50" name="Prototype title"/>
          <p:cNvSpPr txBox="1"/>
          <p:nvPr/>
        </p:nvSpPr>
        <p:spPr>
          <a:xfrm>
            <a:off x="4754880" y="4507992"/>
            <a:ext cx="4572000" cy="411480"/>
          </a:xfrm>
          <a:prstGeom prst="rect">
            <a:avLst/>
          </a:prstGeom>
          <a:noFill/>
          <a:ln/>
        </p:spPr>
        <p:txBody>
          <a:bodyPr wrap="square" lIns="0" tIns="0" rIns="0" bIns="0" rtlCol="0" anchor="t"/>
          <a:lstStyle/>
          <a:p>
            <a:pPr marL="0" indent="0">
              <a:buNone/>
            </a:pPr>
            <a:r>
              <a:rPr lang="en-US" sz="2000" b="1" dirty="0">
                <a:solidFill>
                  <a:schemeClr val="tx2"/>
                </a:solidFill>
              </a:rPr>
              <a:t>Prototype Demo Flow</a:t>
            </a:r>
            <a:endParaRPr lang="en-US" sz="2000" dirty="0"/>
          </a:p>
        </p:txBody>
      </p:sp>
      <p:sp>
        <p:nvSpPr>
          <p:cNvPr id="51" name="Demo step 1"/>
          <p:cNvSpPr/>
          <p:nvPr/>
        </p:nvSpPr>
        <p:spPr>
          <a:xfrm>
            <a:off x="4754880" y="5029200"/>
            <a:ext cx="1417320" cy="777240"/>
          </a:xfrm>
          <a:prstGeom prst="roundRect">
            <a:avLst>
              <a:gd name="adj" fmla="val 9412"/>
            </a:avLst>
          </a:prstGeom>
          <a:solidFill>
            <a:schemeClr val="accent1"/>
          </a:solidFill>
          <a:ln/>
        </p:spPr>
      </p:sp>
      <p:sp>
        <p:nvSpPr>
          <p:cNvPr id="52" name="Demo label 1"/>
          <p:cNvSpPr txBox="1"/>
          <p:nvPr/>
        </p:nvSpPr>
        <p:spPr>
          <a:xfrm>
            <a:off x="4800600" y="5029200"/>
            <a:ext cx="1325880" cy="777240"/>
          </a:xfrm>
          <a:prstGeom prst="rect">
            <a:avLst/>
          </a:prstGeom>
          <a:noFill/>
          <a:ln/>
        </p:spPr>
        <p:txBody>
          <a:bodyPr wrap="square" lIns="0" tIns="0" rIns="0" bIns="0" rtlCol="0" anchor="ctr"/>
          <a:lstStyle/>
          <a:p>
            <a:pPr marL="0" indent="0" algn="ctr">
              <a:buNone/>
            </a:pPr>
            <a:r>
              <a:rPr lang="en-US" sz="1400" b="1" dirty="0">
                <a:solidFill>
                  <a:schemeClr val="bg1"/>
                </a:solidFill>
              </a:rPr>
              <a:t>Upload corrupted file</a:t>
            </a:r>
            <a:endParaRPr lang="en-US" sz="1400" dirty="0"/>
          </a:p>
        </p:txBody>
      </p:sp>
      <p:sp>
        <p:nvSpPr>
          <p:cNvPr id="53" name="Demo arrow 1"/>
          <p:cNvSpPr/>
          <p:nvPr/>
        </p:nvSpPr>
        <p:spPr>
          <a:xfrm>
            <a:off x="6190488" y="5417820"/>
            <a:ext cx="182880" cy="0"/>
          </a:xfrm>
          <a:prstGeom prst="line">
            <a:avLst/>
          </a:prstGeom>
          <a:noFill/>
          <a:ln w="19050">
            <a:solidFill>
              <a:srgbClr val="0E7C86"/>
            </a:solidFill>
            <a:prstDash val="solid"/>
            <a:tailEnd type="triangle"/>
          </a:ln>
        </p:spPr>
      </p:sp>
      <p:sp>
        <p:nvSpPr>
          <p:cNvPr id="54" name="Demo step 2"/>
          <p:cNvSpPr/>
          <p:nvPr/>
        </p:nvSpPr>
        <p:spPr>
          <a:xfrm>
            <a:off x="6400800" y="5029200"/>
            <a:ext cx="1417320" cy="777240"/>
          </a:xfrm>
          <a:prstGeom prst="roundRect">
            <a:avLst>
              <a:gd name="adj" fmla="val 9412"/>
            </a:avLst>
          </a:prstGeom>
          <a:solidFill>
            <a:schemeClr val="accent1"/>
          </a:solidFill>
          <a:ln/>
        </p:spPr>
      </p:sp>
      <p:sp>
        <p:nvSpPr>
          <p:cNvPr id="55" name="Demo label 2"/>
          <p:cNvSpPr txBox="1"/>
          <p:nvPr/>
        </p:nvSpPr>
        <p:spPr>
          <a:xfrm>
            <a:off x="6446520" y="5029200"/>
            <a:ext cx="1325880" cy="777240"/>
          </a:xfrm>
          <a:prstGeom prst="rect">
            <a:avLst/>
          </a:prstGeom>
          <a:noFill/>
          <a:ln/>
        </p:spPr>
        <p:txBody>
          <a:bodyPr wrap="square" lIns="0" tIns="0" rIns="0" bIns="0" rtlCol="0" anchor="ctr"/>
          <a:lstStyle/>
          <a:p>
            <a:pPr marL="0" indent="0" algn="ctr">
              <a:buNone/>
            </a:pPr>
            <a:r>
              <a:rPr lang="en-US" sz="1400" b="1" dirty="0">
                <a:solidFill>
                  <a:schemeClr val="bg1"/>
                </a:solidFill>
              </a:rPr>
              <a:t>Pipeline runs automatically</a:t>
            </a:r>
            <a:endParaRPr lang="en-US" sz="1400" dirty="0"/>
          </a:p>
        </p:txBody>
      </p:sp>
      <p:sp>
        <p:nvSpPr>
          <p:cNvPr id="56" name="Demo arrow 2"/>
          <p:cNvSpPr/>
          <p:nvPr/>
        </p:nvSpPr>
        <p:spPr>
          <a:xfrm>
            <a:off x="7836408" y="5417820"/>
            <a:ext cx="182880" cy="0"/>
          </a:xfrm>
          <a:prstGeom prst="line">
            <a:avLst/>
          </a:prstGeom>
          <a:noFill/>
          <a:ln w="19050">
            <a:solidFill>
              <a:srgbClr val="0E7C86"/>
            </a:solidFill>
            <a:prstDash val="solid"/>
            <a:tailEnd type="triangle"/>
          </a:ln>
        </p:spPr>
      </p:sp>
      <p:sp>
        <p:nvSpPr>
          <p:cNvPr id="57" name="Demo step 3"/>
          <p:cNvSpPr/>
          <p:nvPr/>
        </p:nvSpPr>
        <p:spPr>
          <a:xfrm>
            <a:off x="8046720" y="5029200"/>
            <a:ext cx="1417320" cy="777240"/>
          </a:xfrm>
          <a:prstGeom prst="roundRect">
            <a:avLst>
              <a:gd name="adj" fmla="val 9412"/>
            </a:avLst>
          </a:prstGeom>
          <a:solidFill>
            <a:schemeClr val="accent1"/>
          </a:solidFill>
          <a:ln/>
        </p:spPr>
      </p:sp>
      <p:sp>
        <p:nvSpPr>
          <p:cNvPr id="58" name="Demo label 3"/>
          <p:cNvSpPr txBox="1"/>
          <p:nvPr/>
        </p:nvSpPr>
        <p:spPr>
          <a:xfrm>
            <a:off x="8092440" y="5029200"/>
            <a:ext cx="1325880" cy="777240"/>
          </a:xfrm>
          <a:prstGeom prst="rect">
            <a:avLst/>
          </a:prstGeom>
          <a:noFill/>
          <a:ln/>
        </p:spPr>
        <p:txBody>
          <a:bodyPr wrap="square" lIns="0" tIns="0" rIns="0" bIns="0" rtlCol="0" anchor="ctr"/>
          <a:lstStyle/>
          <a:p>
            <a:pPr marL="0" indent="0" algn="ctr">
              <a:buNone/>
            </a:pPr>
            <a:r>
              <a:rPr lang="en-US" sz="1400" b="1" dirty="0">
                <a:solidFill>
                  <a:schemeClr val="bg1"/>
                </a:solidFill>
              </a:rPr>
              <a:t>Download clean CSV</a:t>
            </a:r>
            <a:endParaRPr lang="en-US" sz="1400" dirty="0"/>
          </a:p>
        </p:txBody>
      </p:sp>
      <p:sp>
        <p:nvSpPr>
          <p:cNvPr id="59" name="Demo arrow 3"/>
          <p:cNvSpPr/>
          <p:nvPr/>
        </p:nvSpPr>
        <p:spPr>
          <a:xfrm>
            <a:off x="9482328" y="5417820"/>
            <a:ext cx="182880" cy="0"/>
          </a:xfrm>
          <a:prstGeom prst="line">
            <a:avLst/>
          </a:prstGeom>
          <a:noFill/>
          <a:ln w="19050">
            <a:solidFill>
              <a:srgbClr val="0E7C86"/>
            </a:solidFill>
            <a:prstDash val="solid"/>
            <a:tailEnd type="triangle"/>
          </a:ln>
        </p:spPr>
      </p:sp>
      <p:sp>
        <p:nvSpPr>
          <p:cNvPr id="60" name="Demo step 4"/>
          <p:cNvSpPr/>
          <p:nvPr/>
        </p:nvSpPr>
        <p:spPr>
          <a:xfrm>
            <a:off x="9692640" y="5029200"/>
            <a:ext cx="1417320" cy="777240"/>
          </a:xfrm>
          <a:prstGeom prst="roundRect">
            <a:avLst>
              <a:gd name="adj" fmla="val 9412"/>
            </a:avLst>
          </a:prstGeom>
          <a:solidFill>
            <a:schemeClr val="accent2"/>
          </a:solidFill>
          <a:ln/>
        </p:spPr>
      </p:sp>
      <p:sp>
        <p:nvSpPr>
          <p:cNvPr id="61" name="Demo label 4"/>
          <p:cNvSpPr txBox="1"/>
          <p:nvPr/>
        </p:nvSpPr>
        <p:spPr>
          <a:xfrm>
            <a:off x="9738360" y="5029200"/>
            <a:ext cx="1325880" cy="777240"/>
          </a:xfrm>
          <a:prstGeom prst="rect">
            <a:avLst/>
          </a:prstGeom>
          <a:noFill/>
          <a:ln/>
        </p:spPr>
        <p:txBody>
          <a:bodyPr wrap="square" lIns="0" tIns="0" rIns="0" bIns="0" rtlCol="0" anchor="ctr"/>
          <a:lstStyle/>
          <a:p>
            <a:pPr marL="0" indent="0" algn="ctr">
              <a:buNone/>
            </a:pPr>
            <a:r>
              <a:rPr lang="en-US" sz="1400" b="1" dirty="0">
                <a:solidFill>
                  <a:schemeClr val="tx1"/>
                </a:solidFill>
              </a:rPr>
              <a:t>Get 1-page PDF report</a:t>
            </a:r>
            <a:endParaRPr lang="en-US" sz="1400" dirty="0"/>
          </a:p>
        </p:txBody>
      </p:sp>
      <p:sp>
        <p:nvSpPr>
          <p:cNvPr id="62" name="Judging target"/>
          <p:cNvSpPr txBox="1"/>
          <p:nvPr/>
        </p:nvSpPr>
        <p:spPr>
          <a:xfrm>
            <a:off x="4754880" y="5897880"/>
            <a:ext cx="6720840" cy="320040"/>
          </a:xfrm>
          <a:prstGeom prst="rect">
            <a:avLst/>
          </a:prstGeom>
          <a:noFill/>
          <a:ln/>
        </p:spPr>
        <p:txBody>
          <a:bodyPr wrap="square" lIns="0" tIns="0" rIns="0" bIns="0" rtlCol="0" anchor="t"/>
          <a:lstStyle/>
          <a:p>
            <a:pPr marL="0" indent="0">
              <a:buNone/>
            </a:pPr>
            <a:r>
              <a:rPr lang="en-US" sz="1400" b="1" dirty="0">
                <a:solidFill>
                  <a:schemeClr val="accent1"/>
                </a:solidFill>
              </a:rPr>
              <a:t>Judging target: </a:t>
            </a:r>
            <a:r>
              <a:rPr lang="en-US" sz="1400" dirty="0">
                <a:solidFill>
                  <a:schemeClr val="tx1"/>
                </a:solidFill>
              </a:rPr>
              <a:t>corrupted dataset in, training-ready CSV out in under 10 seconds</a:t>
            </a:r>
            <a:endParaRPr lang="en-US" sz="1400" dirty="0"/>
          </a:p>
        </p:txBody>
      </p:sp>
      <p:sp>
        <p:nvSpPr>
          <p:cNvPr id="63" name="Slide Number Placeholder 0"/>
          <p:cNvSpPr>
            <a:spLocks noGrp="1"/>
          </p:cNvSpPr>
          <p:nvPr>
            <p:ph type="sldNum" sz="quarter" idx="4294967295"/>
          </p:nvPr>
        </p:nvSpPr>
        <p:spPr>
          <a:xfrm>
            <a:off x="10972800" y="6473952"/>
            <a:ext cx="667512"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7078"/>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777240"/>
          </a:xfrm>
          <a:prstGeom prst="rect">
            <a:avLst/>
          </a:prstGeom>
          <a:noFill/>
          <a:ln/>
        </p:spPr>
        <p:txBody>
          <a:bodyPr wrap="square" lIns="0" tIns="0" rIns="0" bIns="0" rtlCol="0" anchor="ctr"/>
          <a:lstStyle/>
          <a:p>
            <a:pPr marL="0" indent="0" algn="l">
              <a:buNone/>
            </a:pPr>
            <a:r>
              <a:rPr lang="en-US" sz="3400" b="1" dirty="0">
                <a:solidFill>
                  <a:schemeClr val="tx2"/>
                </a:solidFill>
              </a:rPr>
              <a:t>Feasibility and Viability</a:t>
            </a:r>
            <a:endParaRPr lang="en-US" sz="3400" dirty="0"/>
          </a:p>
        </p:txBody>
      </p:sp>
      <p:sp>
        <p:nvSpPr>
          <p:cNvPr id="3" name="Feasibility card"/>
          <p:cNvSpPr/>
          <p:nvPr/>
        </p:nvSpPr>
        <p:spPr>
          <a:xfrm>
            <a:off x="548640" y="1188720"/>
            <a:ext cx="5422392" cy="2468880"/>
          </a:xfrm>
          <a:prstGeom prst="roundRect">
            <a:avLst>
              <a:gd name="adj" fmla="val 3704"/>
            </a:avLst>
          </a:prstGeom>
          <a:solidFill>
            <a:schemeClr val="bg2"/>
          </a:solidFill>
          <a:ln/>
        </p:spPr>
      </p:sp>
      <p:sp>
        <p:nvSpPr>
          <p:cNvPr id="4" name="Feasibility badge"/>
          <p:cNvSpPr/>
          <p:nvPr/>
        </p:nvSpPr>
        <p:spPr>
          <a:xfrm>
            <a:off x="731520" y="1325880"/>
            <a:ext cx="502920" cy="502920"/>
          </a:xfrm>
          <a:prstGeom prst="ellipse">
            <a:avLst/>
          </a:prstGeom>
          <a:solidFill>
            <a:schemeClr val="accent1"/>
          </a:solidFill>
          <a:ln/>
        </p:spPr>
      </p:sp>
      <p:pic>
        <p:nvPicPr>
          <p:cNvPr id="5" name="Image 0" descr="Feasibility"/>
          <p:cNvPicPr>
            <a:picLocks noChangeAspect="1"/>
          </p:cNvPicPr>
          <p:nvPr/>
        </p:nvPicPr>
        <p:blipFill>
          <a:blip r:embed="rId3"/>
          <a:stretch>
            <a:fillRect/>
          </a:stretch>
        </p:blipFill>
        <p:spPr>
          <a:xfrm>
            <a:off x="867308" y="1461668"/>
            <a:ext cx="231343" cy="231343"/>
          </a:xfrm>
          <a:prstGeom prst="rect">
            <a:avLst/>
          </a:prstGeom>
        </p:spPr>
      </p:pic>
      <p:sp>
        <p:nvSpPr>
          <p:cNvPr id="6" name="Feasibility title"/>
          <p:cNvSpPr txBox="1"/>
          <p:nvPr/>
        </p:nvSpPr>
        <p:spPr>
          <a:xfrm>
            <a:off x="1417320" y="1325880"/>
            <a:ext cx="4389120" cy="502920"/>
          </a:xfrm>
          <a:prstGeom prst="rect">
            <a:avLst/>
          </a:prstGeom>
          <a:noFill/>
          <a:ln/>
        </p:spPr>
        <p:txBody>
          <a:bodyPr wrap="square" lIns="0" tIns="0" rIns="0" bIns="0" rtlCol="0" anchor="ctr"/>
          <a:lstStyle/>
          <a:p>
            <a:pPr marL="0" indent="0">
              <a:buNone/>
            </a:pPr>
            <a:r>
              <a:rPr lang="en-US" sz="2000" b="1" dirty="0">
                <a:solidFill>
                  <a:schemeClr val="tx2"/>
                </a:solidFill>
              </a:rPr>
              <a:t>Feasibility</a:t>
            </a:r>
            <a:endParaRPr lang="en-US" sz="2000" dirty="0"/>
          </a:p>
        </p:txBody>
      </p:sp>
      <p:sp>
        <p:nvSpPr>
          <p:cNvPr id="7" name="Feasibility list"/>
          <p:cNvSpPr txBox="1"/>
          <p:nvPr/>
        </p:nvSpPr>
        <p:spPr>
          <a:xfrm>
            <a:off x="822960" y="2011680"/>
            <a:ext cx="4937760" cy="1554480"/>
          </a:xfrm>
          <a:prstGeom prst="rect">
            <a:avLst/>
          </a:prstGeom>
          <a:noFill/>
          <a:ln/>
        </p:spPr>
        <p:txBody>
          <a:bodyPr wrap="square" lIns="0" tIns="0" rIns="0" bIns="0" rtlCol="0" anchor="t"/>
          <a:lstStyle/>
          <a:p>
            <a:pPr marL="0" indent="0">
              <a:spcAft>
                <a:spcPts val="900"/>
              </a:spcAft>
              <a:buNone/>
            </a:pPr>
            <a:r>
              <a:rPr lang="en-US" sz="1600" b="1" dirty="0">
                <a:solidFill>
                  <a:schemeClr val="tx1"/>
                </a:solidFill>
              </a:rPr>
              <a:t>1.  Proven stack: </a:t>
            </a:r>
            <a:r>
              <a:rPr lang="en-US" sz="1600" dirty="0">
                <a:solidFill>
                  <a:schemeClr val="tx1"/>
                </a:solidFill>
              </a:rPr>
              <a:t>pandas, SciPy and scikit-learn</a:t>
            </a:r>
            <a:endParaRPr lang="en-US" sz="1600" dirty="0"/>
          </a:p>
          <a:p>
            <a:pPr marL="0" indent="0">
              <a:spcAft>
                <a:spcPts val="900"/>
              </a:spcAft>
              <a:buNone/>
            </a:pPr>
            <a:r>
              <a:rPr lang="en-US" sz="1600" b="1" dirty="0">
                <a:solidFill>
                  <a:schemeClr val="tx1"/>
                </a:solidFill>
              </a:rPr>
              <a:t>2.  Light to run: </a:t>
            </a:r>
            <a:r>
              <a:rPr lang="en-US" sz="1600" dirty="0">
                <a:solidFill>
                  <a:schemeClr val="tx1"/>
                </a:solidFill>
              </a:rPr>
              <a:t>works on a laptop, no GPU needed</a:t>
            </a:r>
            <a:endParaRPr lang="en-US" sz="1600" dirty="0"/>
          </a:p>
          <a:p>
            <a:pPr marL="0" indent="0">
              <a:spcAft>
                <a:spcPts val="900"/>
              </a:spcAft>
              <a:buNone/>
            </a:pPr>
            <a:r>
              <a:rPr lang="en-US" sz="1600" b="1" dirty="0">
                <a:solidFill>
                  <a:schemeClr val="tx1"/>
                </a:solidFill>
              </a:rPr>
              <a:t>3.  Fast: </a:t>
            </a:r>
            <a:r>
              <a:rPr lang="en-US" sz="1600" dirty="0">
                <a:solidFill>
                  <a:schemeClr val="tx1"/>
                </a:solidFill>
              </a:rPr>
              <a:t>vectorised code targets 10-second runs</a:t>
            </a:r>
            <a:endParaRPr lang="en-US" sz="1600" dirty="0"/>
          </a:p>
          <a:p>
            <a:pPr marL="0" indent="0">
              <a:spcAft>
                <a:spcPts val="900"/>
              </a:spcAft>
              <a:buNone/>
            </a:pPr>
            <a:r>
              <a:rPr lang="en-US" sz="1600" b="1" dirty="0">
                <a:solidFill>
                  <a:schemeClr val="tx1"/>
                </a:solidFill>
              </a:rPr>
              <a:t>4.  Modular: </a:t>
            </a:r>
            <a:r>
              <a:rPr lang="en-US" sz="1600" dirty="0">
                <a:solidFill>
                  <a:schemeClr val="tx1"/>
                </a:solidFill>
              </a:rPr>
              <a:t>every cleaning step is testable</a:t>
            </a:r>
            <a:endParaRPr lang="en-US" sz="1600" dirty="0"/>
          </a:p>
        </p:txBody>
      </p:sp>
      <p:sp>
        <p:nvSpPr>
          <p:cNvPr id="8" name="Viability card"/>
          <p:cNvSpPr/>
          <p:nvPr/>
        </p:nvSpPr>
        <p:spPr>
          <a:xfrm>
            <a:off x="6222492" y="1188720"/>
            <a:ext cx="5422392" cy="2468880"/>
          </a:xfrm>
          <a:prstGeom prst="roundRect">
            <a:avLst>
              <a:gd name="adj" fmla="val 3704"/>
            </a:avLst>
          </a:prstGeom>
          <a:solidFill>
            <a:schemeClr val="bg2"/>
          </a:solidFill>
          <a:ln/>
        </p:spPr>
      </p:sp>
      <p:sp>
        <p:nvSpPr>
          <p:cNvPr id="9" name="Viability badge"/>
          <p:cNvSpPr/>
          <p:nvPr/>
        </p:nvSpPr>
        <p:spPr>
          <a:xfrm>
            <a:off x="6405372" y="1325880"/>
            <a:ext cx="502920" cy="502920"/>
          </a:xfrm>
          <a:prstGeom prst="ellipse">
            <a:avLst/>
          </a:prstGeom>
          <a:solidFill>
            <a:schemeClr val="accent3"/>
          </a:solidFill>
          <a:ln/>
        </p:spPr>
      </p:sp>
      <p:pic>
        <p:nvPicPr>
          <p:cNvPr id="10" name="Image 1" descr="Viability"/>
          <p:cNvPicPr>
            <a:picLocks noChangeAspect="1"/>
          </p:cNvPicPr>
          <p:nvPr/>
        </p:nvPicPr>
        <p:blipFill>
          <a:blip r:embed="rId4"/>
          <a:stretch>
            <a:fillRect/>
          </a:stretch>
        </p:blipFill>
        <p:spPr>
          <a:xfrm>
            <a:off x="6541160" y="1461668"/>
            <a:ext cx="231343" cy="231343"/>
          </a:xfrm>
          <a:prstGeom prst="rect">
            <a:avLst/>
          </a:prstGeom>
        </p:spPr>
      </p:pic>
      <p:sp>
        <p:nvSpPr>
          <p:cNvPr id="11" name="Viability title"/>
          <p:cNvSpPr txBox="1"/>
          <p:nvPr/>
        </p:nvSpPr>
        <p:spPr>
          <a:xfrm>
            <a:off x="7091172" y="1325880"/>
            <a:ext cx="4389120" cy="502920"/>
          </a:xfrm>
          <a:prstGeom prst="rect">
            <a:avLst/>
          </a:prstGeom>
          <a:noFill/>
          <a:ln/>
        </p:spPr>
        <p:txBody>
          <a:bodyPr wrap="square" lIns="0" tIns="0" rIns="0" bIns="0" rtlCol="0" anchor="ctr"/>
          <a:lstStyle/>
          <a:p>
            <a:pPr marL="0" indent="0">
              <a:buNone/>
            </a:pPr>
            <a:r>
              <a:rPr lang="en-US" sz="2000" b="1" dirty="0">
                <a:solidFill>
                  <a:schemeClr val="tx2"/>
                </a:solidFill>
              </a:rPr>
              <a:t>Viability</a:t>
            </a:r>
            <a:endParaRPr lang="en-US" sz="2000" dirty="0"/>
          </a:p>
        </p:txBody>
      </p:sp>
      <p:sp>
        <p:nvSpPr>
          <p:cNvPr id="12" name="Viability list"/>
          <p:cNvSpPr txBox="1"/>
          <p:nvPr/>
        </p:nvSpPr>
        <p:spPr>
          <a:xfrm>
            <a:off x="6496812" y="2011680"/>
            <a:ext cx="4937760" cy="1554480"/>
          </a:xfrm>
          <a:prstGeom prst="rect">
            <a:avLst/>
          </a:prstGeom>
          <a:noFill/>
          <a:ln/>
        </p:spPr>
        <p:txBody>
          <a:bodyPr wrap="square" lIns="0" tIns="0" rIns="0" bIns="0" rtlCol="0" anchor="t"/>
          <a:lstStyle/>
          <a:p>
            <a:pPr marL="0" indent="0">
              <a:spcAft>
                <a:spcPts val="900"/>
              </a:spcAft>
              <a:buNone/>
            </a:pPr>
            <a:r>
              <a:rPr lang="en-US" sz="1600" b="1" dirty="0">
                <a:solidFill>
                  <a:schemeClr val="tx1"/>
                </a:solidFill>
              </a:rPr>
              <a:t>1.  Universal need: </a:t>
            </a:r>
            <a:r>
              <a:rPr lang="en-US" sz="1600" dirty="0">
                <a:solidFill>
                  <a:schemeClr val="tx1"/>
                </a:solidFill>
              </a:rPr>
              <a:t>every analyst cleans data first</a:t>
            </a:r>
            <a:endParaRPr lang="en-US" sz="1600" dirty="0"/>
          </a:p>
          <a:p>
            <a:pPr marL="0" indent="0">
              <a:spcAft>
                <a:spcPts val="900"/>
              </a:spcAft>
              <a:buNone/>
            </a:pPr>
            <a:r>
              <a:rPr lang="en-US" sz="1600" b="1" dirty="0">
                <a:solidFill>
                  <a:schemeClr val="tx1"/>
                </a:solidFill>
              </a:rPr>
              <a:t>2.  Low cost: </a:t>
            </a:r>
            <a:r>
              <a:rPr lang="en-US" sz="1600" dirty="0">
                <a:solidFill>
                  <a:schemeClr val="tx1"/>
                </a:solidFill>
              </a:rPr>
              <a:t>open-source tools, no-code interface</a:t>
            </a:r>
            <a:endParaRPr lang="en-US" sz="1600" dirty="0"/>
          </a:p>
          <a:p>
            <a:pPr marL="0" indent="0">
              <a:spcAft>
                <a:spcPts val="900"/>
              </a:spcAft>
              <a:buNone/>
            </a:pPr>
            <a:r>
              <a:rPr lang="en-US" sz="1600" b="1" dirty="0">
                <a:solidFill>
                  <a:schemeClr val="tx1"/>
                </a:solidFill>
              </a:rPr>
              <a:t>3.  Reusable output: </a:t>
            </a:r>
            <a:r>
              <a:rPr lang="en-US" sz="1600" dirty="0">
                <a:solidFill>
                  <a:schemeClr val="tx1"/>
                </a:solidFill>
              </a:rPr>
              <a:t>training-ready CSV and PDF</a:t>
            </a:r>
            <a:endParaRPr lang="en-US" sz="1600" dirty="0"/>
          </a:p>
          <a:p>
            <a:pPr marL="0" indent="0">
              <a:spcAft>
                <a:spcPts val="900"/>
              </a:spcAft>
              <a:buNone/>
            </a:pPr>
            <a:r>
              <a:rPr lang="en-US" sz="1600" b="1" dirty="0">
                <a:solidFill>
                  <a:schemeClr val="tx1"/>
                </a:solidFill>
              </a:rPr>
              <a:t>4.  Extensible: </a:t>
            </a:r>
            <a:r>
              <a:rPr lang="en-US" sz="1600" dirty="0">
                <a:solidFill>
                  <a:schemeClr val="tx1"/>
                </a:solidFill>
              </a:rPr>
              <a:t>add rules, formats or domain checks</a:t>
            </a:r>
            <a:endParaRPr lang="en-US" sz="1600" dirty="0"/>
          </a:p>
        </p:txBody>
      </p:sp>
      <p:sp>
        <p:nvSpPr>
          <p:cNvPr id="13" name="Potential Challenges and Risks card"/>
          <p:cNvSpPr/>
          <p:nvPr/>
        </p:nvSpPr>
        <p:spPr>
          <a:xfrm>
            <a:off x="548640" y="3794760"/>
            <a:ext cx="5422392" cy="2468880"/>
          </a:xfrm>
          <a:prstGeom prst="roundRect">
            <a:avLst>
              <a:gd name="adj" fmla="val 3704"/>
            </a:avLst>
          </a:prstGeom>
          <a:solidFill>
            <a:schemeClr val="bg2"/>
          </a:solidFill>
          <a:ln/>
        </p:spPr>
      </p:sp>
      <p:sp>
        <p:nvSpPr>
          <p:cNvPr id="14" name="Potential Challenges and Risks badge"/>
          <p:cNvSpPr/>
          <p:nvPr/>
        </p:nvSpPr>
        <p:spPr>
          <a:xfrm>
            <a:off x="731520" y="3931920"/>
            <a:ext cx="502920" cy="502920"/>
          </a:xfrm>
          <a:prstGeom prst="ellipse">
            <a:avLst/>
          </a:prstGeom>
          <a:solidFill>
            <a:schemeClr val="accent5"/>
          </a:solidFill>
          <a:ln/>
        </p:spPr>
      </p:sp>
      <p:pic>
        <p:nvPicPr>
          <p:cNvPr id="15" name="Image 2" descr="Potential Challenges and Risks"/>
          <p:cNvPicPr>
            <a:picLocks noChangeAspect="1"/>
          </p:cNvPicPr>
          <p:nvPr/>
        </p:nvPicPr>
        <p:blipFill>
          <a:blip r:embed="rId5"/>
          <a:stretch>
            <a:fillRect/>
          </a:stretch>
        </p:blipFill>
        <p:spPr>
          <a:xfrm>
            <a:off x="867308" y="4067708"/>
            <a:ext cx="231343" cy="231343"/>
          </a:xfrm>
          <a:prstGeom prst="rect">
            <a:avLst/>
          </a:prstGeom>
        </p:spPr>
      </p:pic>
      <p:sp>
        <p:nvSpPr>
          <p:cNvPr id="16" name="Potential Challenges and Risks title"/>
          <p:cNvSpPr txBox="1"/>
          <p:nvPr/>
        </p:nvSpPr>
        <p:spPr>
          <a:xfrm>
            <a:off x="1417320" y="3931920"/>
            <a:ext cx="4389120" cy="502920"/>
          </a:xfrm>
          <a:prstGeom prst="rect">
            <a:avLst/>
          </a:prstGeom>
          <a:noFill/>
          <a:ln/>
        </p:spPr>
        <p:txBody>
          <a:bodyPr wrap="square" lIns="0" tIns="0" rIns="0" bIns="0" rtlCol="0" anchor="ctr"/>
          <a:lstStyle/>
          <a:p>
            <a:pPr marL="0" indent="0">
              <a:buNone/>
            </a:pPr>
            <a:r>
              <a:rPr lang="en-US" sz="2000" b="1" dirty="0">
                <a:solidFill>
                  <a:schemeClr val="tx2"/>
                </a:solidFill>
              </a:rPr>
              <a:t>Potential Challenges and Risks</a:t>
            </a:r>
            <a:endParaRPr lang="en-US" sz="2000" dirty="0"/>
          </a:p>
        </p:txBody>
      </p:sp>
      <p:sp>
        <p:nvSpPr>
          <p:cNvPr id="17" name="Potential Challenges and Risks list"/>
          <p:cNvSpPr txBox="1"/>
          <p:nvPr/>
        </p:nvSpPr>
        <p:spPr>
          <a:xfrm>
            <a:off x="822960" y="4617720"/>
            <a:ext cx="4937760" cy="1554480"/>
          </a:xfrm>
          <a:prstGeom prst="rect">
            <a:avLst/>
          </a:prstGeom>
          <a:noFill/>
          <a:ln/>
        </p:spPr>
        <p:txBody>
          <a:bodyPr wrap="square" lIns="0" tIns="0" rIns="0" bIns="0" rtlCol="0" anchor="t"/>
          <a:lstStyle/>
          <a:p>
            <a:pPr marL="0" indent="0">
              <a:spcAft>
                <a:spcPts val="900"/>
              </a:spcAft>
              <a:buNone/>
            </a:pPr>
            <a:r>
              <a:rPr lang="en-US" sz="1600" b="1" dirty="0">
                <a:solidFill>
                  <a:schemeClr val="tx1"/>
                </a:solidFill>
              </a:rPr>
              <a:t>1.  Ambiguous dates: </a:t>
            </a:r>
            <a:r>
              <a:rPr lang="en-US" sz="1600" dirty="0">
                <a:solidFill>
                  <a:schemeClr val="tx1"/>
                </a:solidFill>
              </a:rPr>
              <a:t>03/04/24 can be day- or month-first</a:t>
            </a:r>
            <a:endParaRPr lang="en-US" sz="1600" dirty="0"/>
          </a:p>
          <a:p>
            <a:pPr marL="0" indent="0">
              <a:spcAft>
                <a:spcPts val="900"/>
              </a:spcAft>
              <a:buNone/>
            </a:pPr>
            <a:r>
              <a:rPr lang="en-US" sz="1600" b="1" dirty="0">
                <a:solidFill>
                  <a:schemeClr val="tx1"/>
                </a:solidFill>
              </a:rPr>
              <a:t>2.  Outlier calls: </a:t>
            </a:r>
            <a:r>
              <a:rPr lang="en-US" sz="1600" dirty="0">
                <a:solidFill>
                  <a:schemeClr val="tx1"/>
                </a:solidFill>
              </a:rPr>
              <a:t>real extremes may look like errors</a:t>
            </a:r>
            <a:endParaRPr lang="en-US" sz="1600" dirty="0"/>
          </a:p>
          <a:p>
            <a:pPr marL="0" indent="0">
              <a:spcAft>
                <a:spcPts val="900"/>
              </a:spcAft>
              <a:buNone/>
            </a:pPr>
            <a:r>
              <a:rPr lang="en-US" sz="1600" b="1" dirty="0">
                <a:solidFill>
                  <a:schemeClr val="tx1"/>
                </a:solidFill>
              </a:rPr>
              <a:t>3.  Imputation bias: </a:t>
            </a:r>
            <a:r>
              <a:rPr lang="en-US" sz="1600" dirty="0">
                <a:solidFill>
                  <a:schemeClr val="tx1"/>
                </a:solidFill>
              </a:rPr>
              <a:t>filled values can skew distributions</a:t>
            </a:r>
            <a:endParaRPr lang="en-US" sz="1600" dirty="0"/>
          </a:p>
          <a:p>
            <a:pPr marL="0" indent="0">
              <a:spcAft>
                <a:spcPts val="900"/>
              </a:spcAft>
              <a:buNone/>
            </a:pPr>
            <a:r>
              <a:rPr lang="en-US" sz="1600" b="1" dirty="0">
                <a:solidFill>
                  <a:schemeClr val="tx1"/>
                </a:solidFill>
              </a:rPr>
              <a:t>4.  Large files: </a:t>
            </a:r>
            <a:r>
              <a:rPr lang="en-US" sz="1600" dirty="0">
                <a:solidFill>
                  <a:schemeClr val="tx1"/>
                </a:solidFill>
              </a:rPr>
              <a:t>memory limits on big datasets</a:t>
            </a:r>
            <a:endParaRPr lang="en-US" sz="1600" dirty="0"/>
          </a:p>
        </p:txBody>
      </p:sp>
      <p:sp>
        <p:nvSpPr>
          <p:cNvPr id="18" name="Strategies for Overcoming Challenges card"/>
          <p:cNvSpPr/>
          <p:nvPr/>
        </p:nvSpPr>
        <p:spPr>
          <a:xfrm>
            <a:off x="6222492" y="3794760"/>
            <a:ext cx="5422392" cy="2468880"/>
          </a:xfrm>
          <a:prstGeom prst="roundRect">
            <a:avLst>
              <a:gd name="adj" fmla="val 3704"/>
            </a:avLst>
          </a:prstGeom>
          <a:solidFill>
            <a:schemeClr val="bg2"/>
          </a:solidFill>
          <a:ln/>
        </p:spPr>
      </p:sp>
      <p:sp>
        <p:nvSpPr>
          <p:cNvPr id="19" name="Strategies for Overcoming Challenges badge"/>
          <p:cNvSpPr/>
          <p:nvPr/>
        </p:nvSpPr>
        <p:spPr>
          <a:xfrm>
            <a:off x="6405372" y="3931920"/>
            <a:ext cx="502920" cy="502920"/>
          </a:xfrm>
          <a:prstGeom prst="ellipse">
            <a:avLst/>
          </a:prstGeom>
          <a:solidFill>
            <a:schemeClr val="accent4"/>
          </a:solidFill>
          <a:ln/>
        </p:spPr>
      </p:sp>
      <p:pic>
        <p:nvPicPr>
          <p:cNvPr id="20" name="Image 3" descr="Strategies for Overcoming Challenges"/>
          <p:cNvPicPr>
            <a:picLocks noChangeAspect="1"/>
          </p:cNvPicPr>
          <p:nvPr/>
        </p:nvPicPr>
        <p:blipFill>
          <a:blip r:embed="rId6"/>
          <a:stretch>
            <a:fillRect/>
          </a:stretch>
        </p:blipFill>
        <p:spPr>
          <a:xfrm>
            <a:off x="6541160" y="4067708"/>
            <a:ext cx="231343" cy="231343"/>
          </a:xfrm>
          <a:prstGeom prst="rect">
            <a:avLst/>
          </a:prstGeom>
        </p:spPr>
      </p:pic>
      <p:sp>
        <p:nvSpPr>
          <p:cNvPr id="21" name="Strategies for Overcoming Challenges title"/>
          <p:cNvSpPr txBox="1"/>
          <p:nvPr/>
        </p:nvSpPr>
        <p:spPr>
          <a:xfrm>
            <a:off x="7091172" y="3931920"/>
            <a:ext cx="4389120" cy="502920"/>
          </a:xfrm>
          <a:prstGeom prst="rect">
            <a:avLst/>
          </a:prstGeom>
          <a:noFill/>
          <a:ln/>
        </p:spPr>
        <p:txBody>
          <a:bodyPr wrap="square" lIns="0" tIns="0" rIns="0" bIns="0" rtlCol="0" anchor="ctr"/>
          <a:lstStyle/>
          <a:p>
            <a:pPr marL="0" indent="0">
              <a:buNone/>
            </a:pPr>
            <a:r>
              <a:rPr lang="en-US" sz="2000" b="1" dirty="0">
                <a:solidFill>
                  <a:schemeClr val="tx2"/>
                </a:solidFill>
              </a:rPr>
              <a:t>Strategies for Overcoming Challenges</a:t>
            </a:r>
            <a:endParaRPr lang="en-US" sz="2000" dirty="0"/>
          </a:p>
        </p:txBody>
      </p:sp>
      <p:sp>
        <p:nvSpPr>
          <p:cNvPr id="22" name="Strategies for Overcoming Challenges list"/>
          <p:cNvSpPr txBox="1"/>
          <p:nvPr/>
        </p:nvSpPr>
        <p:spPr>
          <a:xfrm>
            <a:off x="6496812" y="4617720"/>
            <a:ext cx="4937760" cy="1554480"/>
          </a:xfrm>
          <a:prstGeom prst="rect">
            <a:avLst/>
          </a:prstGeom>
          <a:noFill/>
          <a:ln/>
        </p:spPr>
        <p:txBody>
          <a:bodyPr wrap="square" lIns="0" tIns="0" rIns="0" bIns="0" rtlCol="0" anchor="t"/>
          <a:lstStyle/>
          <a:p>
            <a:pPr marL="0" indent="0">
              <a:spcAft>
                <a:spcPts val="900"/>
              </a:spcAft>
              <a:buNone/>
            </a:pPr>
            <a:r>
              <a:rPr lang="en-US" sz="1600" b="1" dirty="0">
                <a:solidFill>
                  <a:schemeClr val="tx1"/>
                </a:solidFill>
              </a:rPr>
              <a:t>1.  Date order: </a:t>
            </a:r>
            <a:r>
              <a:rPr lang="en-US" sz="1600" dirty="0">
                <a:solidFill>
                  <a:schemeClr val="tx1"/>
                </a:solidFill>
              </a:rPr>
              <a:t>vote per column, let users confirm</a:t>
            </a:r>
            <a:endParaRPr lang="en-US" sz="1600" dirty="0"/>
          </a:p>
          <a:p>
            <a:pPr marL="0" indent="0">
              <a:spcAft>
                <a:spcPts val="900"/>
              </a:spcAft>
              <a:buNone/>
            </a:pPr>
            <a:r>
              <a:rPr lang="en-US" sz="1600" b="1" dirty="0">
                <a:solidFill>
                  <a:schemeClr val="tx1"/>
                </a:solidFill>
              </a:rPr>
              <a:t>2.  Outliers: </a:t>
            </a:r>
            <a:r>
              <a:rPr lang="en-US" sz="1600" dirty="0">
                <a:solidFill>
                  <a:schemeClr val="tx1"/>
                </a:solidFill>
              </a:rPr>
              <a:t>flag, never delete; users decide</a:t>
            </a:r>
            <a:endParaRPr lang="en-US" sz="1600" dirty="0"/>
          </a:p>
          <a:p>
            <a:pPr marL="0" indent="0">
              <a:spcAft>
                <a:spcPts val="900"/>
              </a:spcAft>
              <a:buNone/>
            </a:pPr>
            <a:r>
              <a:rPr lang="en-US" sz="1600" b="1" dirty="0">
                <a:solidFill>
                  <a:schemeClr val="tx1"/>
                </a:solidFill>
              </a:rPr>
              <a:t>3.  Imputation: </a:t>
            </a:r>
            <a:r>
              <a:rPr lang="en-US" sz="1600" dirty="0">
                <a:solidFill>
                  <a:schemeClr val="tx1"/>
                </a:solidFill>
              </a:rPr>
              <a:t>pick by column type, log each fill</a:t>
            </a:r>
            <a:endParaRPr lang="en-US" sz="1600" dirty="0"/>
          </a:p>
          <a:p>
            <a:pPr marL="0" indent="0">
              <a:spcAft>
                <a:spcPts val="900"/>
              </a:spcAft>
              <a:buNone/>
            </a:pPr>
            <a:r>
              <a:rPr lang="en-US" sz="1600" b="1" dirty="0">
                <a:solidFill>
                  <a:schemeClr val="tx1"/>
                </a:solidFill>
              </a:rPr>
              <a:t>4.  Large files: </a:t>
            </a:r>
            <a:r>
              <a:rPr lang="en-US" sz="1600" dirty="0">
                <a:solidFill>
                  <a:schemeClr val="tx1"/>
                </a:solidFill>
              </a:rPr>
              <a:t>read in chunks, downcast types</a:t>
            </a:r>
            <a:endParaRPr lang="en-US" sz="1600" dirty="0"/>
          </a:p>
        </p:txBody>
      </p:sp>
      <p:sp>
        <p:nvSpPr>
          <p:cNvPr id="25" name="Slide Number Placeholder 0"/>
          <p:cNvSpPr>
            <a:spLocks noGrp="1"/>
          </p:cNvSpPr>
          <p:nvPr>
            <p:ph type="sldNum" sz="quarter" idx="4294967295"/>
          </p:nvPr>
        </p:nvSpPr>
        <p:spPr>
          <a:xfrm>
            <a:off x="10972800" y="6473952"/>
            <a:ext cx="667512"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7078"/>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777240"/>
          </a:xfrm>
          <a:prstGeom prst="rect">
            <a:avLst/>
          </a:prstGeom>
          <a:noFill/>
          <a:ln/>
        </p:spPr>
        <p:txBody>
          <a:bodyPr wrap="square" lIns="0" tIns="0" rIns="0" bIns="0" rtlCol="0" anchor="ctr"/>
          <a:lstStyle/>
          <a:p>
            <a:pPr marL="0" indent="0" algn="l">
              <a:buNone/>
            </a:pPr>
            <a:r>
              <a:rPr lang="en-US" sz="3400" b="1" dirty="0">
                <a:solidFill>
                  <a:schemeClr val="tx2"/>
                </a:solidFill>
              </a:rPr>
              <a:t>Impact and Benefits</a:t>
            </a:r>
            <a:endParaRPr lang="en-US" sz="3400" dirty="0"/>
          </a:p>
        </p:txBody>
      </p:sp>
      <p:sp>
        <p:nvSpPr>
          <p:cNvPr id="3" name="Stat card 1"/>
          <p:cNvSpPr/>
          <p:nvPr/>
        </p:nvSpPr>
        <p:spPr>
          <a:xfrm>
            <a:off x="548640" y="1188720"/>
            <a:ext cx="3566160" cy="1325880"/>
          </a:xfrm>
          <a:prstGeom prst="roundRect">
            <a:avLst>
              <a:gd name="adj" fmla="val 6897"/>
            </a:avLst>
          </a:prstGeom>
          <a:solidFill>
            <a:schemeClr val="bg2"/>
          </a:solidFill>
          <a:ln/>
        </p:spPr>
      </p:sp>
      <p:sp>
        <p:nvSpPr>
          <p:cNvPr id="4" name="Stat number 1"/>
          <p:cNvSpPr txBox="1"/>
          <p:nvPr/>
        </p:nvSpPr>
        <p:spPr>
          <a:xfrm>
            <a:off x="731520" y="1188720"/>
            <a:ext cx="1691640" cy="1325880"/>
          </a:xfrm>
          <a:prstGeom prst="rect">
            <a:avLst/>
          </a:prstGeom>
          <a:noFill/>
          <a:ln/>
        </p:spPr>
        <p:txBody>
          <a:bodyPr wrap="square" lIns="0" tIns="0" rIns="0" bIns="0" rtlCol="0" anchor="ctr"/>
          <a:lstStyle/>
          <a:p>
            <a:pPr marL="0" indent="0">
              <a:buNone/>
            </a:pPr>
            <a:r>
              <a:rPr lang="en-US" sz="4000" b="1" dirty="0">
                <a:solidFill>
                  <a:schemeClr val="accent1"/>
                </a:solidFill>
              </a:rPr>
              <a:t>60%</a:t>
            </a:r>
            <a:endParaRPr lang="en-US" sz="4000" dirty="0"/>
          </a:p>
        </p:txBody>
      </p:sp>
      <p:sp>
        <p:nvSpPr>
          <p:cNvPr id="5" name="Stat label 1"/>
          <p:cNvSpPr txBox="1"/>
          <p:nvPr/>
        </p:nvSpPr>
        <p:spPr>
          <a:xfrm>
            <a:off x="2468880" y="1188720"/>
            <a:ext cx="1508760" cy="1325880"/>
          </a:xfrm>
          <a:prstGeom prst="rect">
            <a:avLst/>
          </a:prstGeom>
          <a:noFill/>
          <a:ln/>
        </p:spPr>
        <p:txBody>
          <a:bodyPr wrap="square" lIns="0" tIns="0" rIns="0" bIns="0" rtlCol="0" anchor="ctr"/>
          <a:lstStyle/>
          <a:p>
            <a:pPr marL="0" indent="0">
              <a:buNone/>
            </a:pPr>
            <a:r>
              <a:rPr lang="en-US" sz="1400" dirty="0">
                <a:solidFill>
                  <a:schemeClr val="tx1"/>
                </a:solidFill>
              </a:rPr>
              <a:t>of analyst time goes to fixing messy data</a:t>
            </a:r>
            <a:endParaRPr lang="en-US" sz="1400" dirty="0"/>
          </a:p>
        </p:txBody>
      </p:sp>
      <p:sp>
        <p:nvSpPr>
          <p:cNvPr id="6" name="Stat card 2"/>
          <p:cNvSpPr/>
          <p:nvPr/>
        </p:nvSpPr>
        <p:spPr>
          <a:xfrm>
            <a:off x="4311396" y="1188720"/>
            <a:ext cx="3566160" cy="1325880"/>
          </a:xfrm>
          <a:prstGeom prst="roundRect">
            <a:avLst>
              <a:gd name="adj" fmla="val 6897"/>
            </a:avLst>
          </a:prstGeom>
          <a:solidFill>
            <a:schemeClr val="bg2"/>
          </a:solidFill>
          <a:ln/>
        </p:spPr>
      </p:sp>
      <p:sp>
        <p:nvSpPr>
          <p:cNvPr id="7" name="Stat number 2"/>
          <p:cNvSpPr txBox="1"/>
          <p:nvPr/>
        </p:nvSpPr>
        <p:spPr>
          <a:xfrm>
            <a:off x="4494276" y="1188720"/>
            <a:ext cx="1691640" cy="1325880"/>
          </a:xfrm>
          <a:prstGeom prst="rect">
            <a:avLst/>
          </a:prstGeom>
          <a:noFill/>
          <a:ln/>
        </p:spPr>
        <p:txBody>
          <a:bodyPr wrap="square" lIns="0" tIns="0" rIns="0" bIns="0" rtlCol="0" anchor="ctr"/>
          <a:lstStyle/>
          <a:p>
            <a:pPr marL="0" indent="0">
              <a:buNone/>
            </a:pPr>
            <a:r>
              <a:rPr lang="en-US" sz="4000" b="1" dirty="0">
                <a:solidFill>
                  <a:schemeClr val="accent1"/>
                </a:solidFill>
              </a:rPr>
              <a:t>&lt; 10 s</a:t>
            </a:r>
            <a:endParaRPr lang="en-US" sz="4000" dirty="0"/>
          </a:p>
        </p:txBody>
      </p:sp>
      <p:sp>
        <p:nvSpPr>
          <p:cNvPr id="8" name="Stat label 2"/>
          <p:cNvSpPr txBox="1"/>
          <p:nvPr/>
        </p:nvSpPr>
        <p:spPr>
          <a:xfrm>
            <a:off x="6231636" y="1188720"/>
            <a:ext cx="1508760" cy="1325880"/>
          </a:xfrm>
          <a:prstGeom prst="rect">
            <a:avLst/>
          </a:prstGeom>
          <a:noFill/>
          <a:ln/>
        </p:spPr>
        <p:txBody>
          <a:bodyPr wrap="square" lIns="0" tIns="0" rIns="0" bIns="0" rtlCol="0" anchor="ctr"/>
          <a:lstStyle/>
          <a:p>
            <a:pPr marL="0" indent="0">
              <a:buNone/>
            </a:pPr>
            <a:r>
              <a:rPr lang="en-US" sz="1400" dirty="0">
                <a:solidFill>
                  <a:schemeClr val="tx1"/>
                </a:solidFill>
              </a:rPr>
              <a:t>from corrupted upload to clean CSV</a:t>
            </a:r>
            <a:endParaRPr lang="en-US" sz="1400" dirty="0"/>
          </a:p>
        </p:txBody>
      </p:sp>
      <p:sp>
        <p:nvSpPr>
          <p:cNvPr id="9" name="Stat card 3"/>
          <p:cNvSpPr/>
          <p:nvPr/>
        </p:nvSpPr>
        <p:spPr>
          <a:xfrm>
            <a:off x="8074152" y="1188720"/>
            <a:ext cx="3566160" cy="1325880"/>
          </a:xfrm>
          <a:prstGeom prst="roundRect">
            <a:avLst>
              <a:gd name="adj" fmla="val 6897"/>
            </a:avLst>
          </a:prstGeom>
          <a:solidFill>
            <a:schemeClr val="bg2"/>
          </a:solidFill>
          <a:ln/>
        </p:spPr>
      </p:sp>
      <p:sp>
        <p:nvSpPr>
          <p:cNvPr id="10" name="Stat number 3"/>
          <p:cNvSpPr txBox="1"/>
          <p:nvPr/>
        </p:nvSpPr>
        <p:spPr>
          <a:xfrm>
            <a:off x="8257032" y="1188720"/>
            <a:ext cx="1691640" cy="1325880"/>
          </a:xfrm>
          <a:prstGeom prst="rect">
            <a:avLst/>
          </a:prstGeom>
          <a:noFill/>
          <a:ln/>
        </p:spPr>
        <p:txBody>
          <a:bodyPr wrap="square" lIns="0" tIns="0" rIns="0" bIns="0" rtlCol="0" anchor="ctr"/>
          <a:lstStyle/>
          <a:p>
            <a:pPr marL="0" indent="0">
              <a:buNone/>
            </a:pPr>
            <a:r>
              <a:rPr lang="en-US" sz="4000" b="1" dirty="0">
                <a:solidFill>
                  <a:schemeClr val="accent1"/>
                </a:solidFill>
              </a:rPr>
              <a:t>1 PDF</a:t>
            </a:r>
            <a:endParaRPr lang="en-US" sz="4000" dirty="0"/>
          </a:p>
        </p:txBody>
      </p:sp>
      <p:sp>
        <p:nvSpPr>
          <p:cNvPr id="11" name="Stat label 3"/>
          <p:cNvSpPr txBox="1"/>
          <p:nvPr/>
        </p:nvSpPr>
        <p:spPr>
          <a:xfrm>
            <a:off x="9994392" y="1188720"/>
            <a:ext cx="1508760" cy="1325880"/>
          </a:xfrm>
          <a:prstGeom prst="rect">
            <a:avLst/>
          </a:prstGeom>
          <a:noFill/>
          <a:ln/>
        </p:spPr>
        <p:txBody>
          <a:bodyPr wrap="square" lIns="0" tIns="0" rIns="0" bIns="0" rtlCol="0" anchor="ctr"/>
          <a:lstStyle/>
          <a:p>
            <a:pPr marL="0" indent="0">
              <a:buNone/>
            </a:pPr>
            <a:r>
              <a:rPr lang="en-US" sz="1400" dirty="0">
                <a:solidFill>
                  <a:schemeClr val="tx1"/>
                </a:solidFill>
              </a:rPr>
              <a:t>automated summary report every run</a:t>
            </a:r>
            <a:endParaRPr lang="en-US" sz="1400" dirty="0"/>
          </a:p>
        </p:txBody>
      </p:sp>
      <p:sp>
        <p:nvSpPr>
          <p:cNvPr id="12" name="Impact card"/>
          <p:cNvSpPr/>
          <p:nvPr/>
        </p:nvSpPr>
        <p:spPr>
          <a:xfrm>
            <a:off x="548640" y="2697480"/>
            <a:ext cx="5422392" cy="3611880"/>
          </a:xfrm>
          <a:prstGeom prst="roundRect">
            <a:avLst>
              <a:gd name="adj" fmla="val 2532"/>
            </a:avLst>
          </a:prstGeom>
          <a:solidFill>
            <a:schemeClr val="bg2"/>
          </a:solidFill>
          <a:ln/>
        </p:spPr>
      </p:sp>
      <p:sp>
        <p:nvSpPr>
          <p:cNvPr id="13" name="Potential Impact badge"/>
          <p:cNvSpPr/>
          <p:nvPr/>
        </p:nvSpPr>
        <p:spPr>
          <a:xfrm>
            <a:off x="731520" y="2834640"/>
            <a:ext cx="502920" cy="502920"/>
          </a:xfrm>
          <a:prstGeom prst="ellipse">
            <a:avLst/>
          </a:prstGeom>
          <a:solidFill>
            <a:schemeClr val="accent1"/>
          </a:solidFill>
          <a:ln/>
        </p:spPr>
      </p:sp>
      <p:pic>
        <p:nvPicPr>
          <p:cNvPr id="14" name="Image 0" descr="Potential Impact"/>
          <p:cNvPicPr>
            <a:picLocks noChangeAspect="1"/>
          </p:cNvPicPr>
          <p:nvPr/>
        </p:nvPicPr>
        <p:blipFill>
          <a:blip r:embed="rId3"/>
          <a:stretch>
            <a:fillRect/>
          </a:stretch>
        </p:blipFill>
        <p:spPr>
          <a:xfrm>
            <a:off x="867308" y="2970428"/>
            <a:ext cx="231343" cy="231343"/>
          </a:xfrm>
          <a:prstGeom prst="rect">
            <a:avLst/>
          </a:prstGeom>
        </p:spPr>
      </p:pic>
      <p:sp>
        <p:nvSpPr>
          <p:cNvPr id="15" name="Impact title"/>
          <p:cNvSpPr txBox="1"/>
          <p:nvPr/>
        </p:nvSpPr>
        <p:spPr>
          <a:xfrm>
            <a:off x="1417320" y="2834640"/>
            <a:ext cx="4389120" cy="502920"/>
          </a:xfrm>
          <a:prstGeom prst="rect">
            <a:avLst/>
          </a:prstGeom>
          <a:noFill/>
          <a:ln/>
        </p:spPr>
        <p:txBody>
          <a:bodyPr wrap="square" lIns="0" tIns="0" rIns="0" bIns="0" rtlCol="0" anchor="ctr"/>
          <a:lstStyle/>
          <a:p>
            <a:pPr marL="0" indent="0">
              <a:buNone/>
            </a:pPr>
            <a:r>
              <a:rPr lang="en-US" sz="2000" b="1" dirty="0">
                <a:solidFill>
                  <a:schemeClr val="tx2"/>
                </a:solidFill>
              </a:rPr>
              <a:t>Potential Impact</a:t>
            </a:r>
            <a:endParaRPr lang="en-US" sz="2000" dirty="0"/>
          </a:p>
        </p:txBody>
      </p:sp>
      <p:sp>
        <p:nvSpPr>
          <p:cNvPr id="16" name="Impact list"/>
          <p:cNvSpPr txBox="1"/>
          <p:nvPr/>
        </p:nvSpPr>
        <p:spPr>
          <a:xfrm>
            <a:off x="822960" y="3520440"/>
            <a:ext cx="4937760" cy="2697480"/>
          </a:xfrm>
          <a:prstGeom prst="rect">
            <a:avLst/>
          </a:prstGeom>
          <a:noFill/>
          <a:ln/>
        </p:spPr>
        <p:txBody>
          <a:bodyPr wrap="square" lIns="0" tIns="0" rIns="0" bIns="0" rtlCol="0" anchor="t"/>
          <a:lstStyle/>
          <a:p>
            <a:pPr marL="0" indent="0">
              <a:spcAft>
                <a:spcPts val="1200"/>
              </a:spcAft>
              <a:buNone/>
            </a:pPr>
            <a:r>
              <a:rPr lang="en-US" sz="1600" b="1" dirty="0">
                <a:solidFill>
                  <a:schemeClr val="tx1"/>
                </a:solidFill>
              </a:rPr>
              <a:t>1.  Time saved: </a:t>
            </a:r>
            <a:r>
              <a:rPr lang="en-US" sz="1600" dirty="0">
                <a:solidFill>
                  <a:schemeClr val="tx1"/>
                </a:solidFill>
              </a:rPr>
              <a:t>less manual cleaning for every analyst</a:t>
            </a:r>
            <a:endParaRPr lang="en-US" sz="1600" dirty="0"/>
          </a:p>
          <a:p>
            <a:pPr marL="0" indent="0">
              <a:spcAft>
                <a:spcPts val="1200"/>
              </a:spcAft>
              <a:buNone/>
            </a:pPr>
            <a:r>
              <a:rPr lang="en-US" sz="1600" b="1" dirty="0">
                <a:solidFill>
                  <a:schemeClr val="tx1"/>
                </a:solidFill>
              </a:rPr>
              <a:t>2.  Better models: </a:t>
            </a:r>
            <a:r>
              <a:rPr lang="en-US" sz="1600" dirty="0">
                <a:solidFill>
                  <a:schemeClr val="tx1"/>
                </a:solidFill>
              </a:rPr>
              <a:t>consistent data, ready for training</a:t>
            </a:r>
            <a:endParaRPr lang="en-US" sz="1600" dirty="0"/>
          </a:p>
          <a:p>
            <a:pPr marL="0" indent="0">
              <a:spcAft>
                <a:spcPts val="1200"/>
              </a:spcAft>
              <a:buNone/>
            </a:pPr>
            <a:r>
              <a:rPr lang="en-US" sz="1600" b="1" dirty="0">
                <a:solidFill>
                  <a:schemeClr val="tx1"/>
                </a:solidFill>
              </a:rPr>
              <a:t>3.  Transparency: </a:t>
            </a:r>
            <a:r>
              <a:rPr lang="en-US" sz="1600" dirty="0">
                <a:solidFill>
                  <a:schemeClr val="tx1"/>
                </a:solidFill>
              </a:rPr>
              <a:t>every change is logged in the PDF report</a:t>
            </a:r>
            <a:endParaRPr lang="en-US" sz="1600" dirty="0"/>
          </a:p>
          <a:p>
            <a:pPr marL="0" indent="0">
              <a:spcAft>
                <a:spcPts val="1200"/>
              </a:spcAft>
              <a:buNone/>
            </a:pPr>
            <a:r>
              <a:rPr lang="en-US" sz="1600" b="1" dirty="0">
                <a:solidFill>
                  <a:schemeClr val="tx1"/>
                </a:solidFill>
              </a:rPr>
              <a:t>4.  Fewer errors: </a:t>
            </a:r>
            <a:r>
              <a:rPr lang="en-US" sz="1600" dirty="0">
                <a:solidFill>
                  <a:schemeClr val="tx1"/>
                </a:solidFill>
              </a:rPr>
              <a:t>fixed rules replace manual edits</a:t>
            </a:r>
            <a:endParaRPr lang="en-US" sz="1600" dirty="0"/>
          </a:p>
          <a:p>
            <a:pPr marL="0" indent="0">
              <a:spcAft>
                <a:spcPts val="1200"/>
              </a:spcAft>
              <a:buNone/>
            </a:pPr>
            <a:r>
              <a:rPr lang="en-US" sz="1600" b="1" dirty="0">
                <a:solidFill>
                  <a:schemeClr val="tx1"/>
                </a:solidFill>
              </a:rPr>
              <a:t>5.  Accessible: </a:t>
            </a:r>
            <a:r>
              <a:rPr lang="en-US" sz="1600" dirty="0">
                <a:solidFill>
                  <a:schemeClr val="tx1"/>
                </a:solidFill>
              </a:rPr>
              <a:t>no coding needed to clean a dataset</a:t>
            </a:r>
            <a:endParaRPr lang="en-US" sz="1600" dirty="0"/>
          </a:p>
        </p:txBody>
      </p:sp>
      <p:sp>
        <p:nvSpPr>
          <p:cNvPr id="17" name="Audience card"/>
          <p:cNvSpPr/>
          <p:nvPr/>
        </p:nvSpPr>
        <p:spPr>
          <a:xfrm>
            <a:off x="6217920" y="2697480"/>
            <a:ext cx="5422392" cy="3611880"/>
          </a:xfrm>
          <a:prstGeom prst="roundRect">
            <a:avLst>
              <a:gd name="adj" fmla="val 2532"/>
            </a:avLst>
          </a:prstGeom>
          <a:solidFill>
            <a:schemeClr val="bg2"/>
          </a:solidFill>
          <a:ln/>
        </p:spPr>
      </p:sp>
      <p:sp>
        <p:nvSpPr>
          <p:cNvPr id="18" name="Target Audience badge"/>
          <p:cNvSpPr/>
          <p:nvPr/>
        </p:nvSpPr>
        <p:spPr>
          <a:xfrm>
            <a:off x="6400800" y="2834640"/>
            <a:ext cx="502920" cy="502920"/>
          </a:xfrm>
          <a:prstGeom prst="ellipse">
            <a:avLst/>
          </a:prstGeom>
          <a:solidFill>
            <a:schemeClr val="accent3"/>
          </a:solidFill>
          <a:ln/>
        </p:spPr>
      </p:sp>
      <p:pic>
        <p:nvPicPr>
          <p:cNvPr id="19" name="Image 1" descr="Target Audience"/>
          <p:cNvPicPr>
            <a:picLocks noChangeAspect="1"/>
          </p:cNvPicPr>
          <p:nvPr/>
        </p:nvPicPr>
        <p:blipFill>
          <a:blip r:embed="rId4"/>
          <a:stretch>
            <a:fillRect/>
          </a:stretch>
        </p:blipFill>
        <p:spPr>
          <a:xfrm>
            <a:off x="6536588" y="2970428"/>
            <a:ext cx="231343" cy="231343"/>
          </a:xfrm>
          <a:prstGeom prst="rect">
            <a:avLst/>
          </a:prstGeom>
        </p:spPr>
      </p:pic>
      <p:sp>
        <p:nvSpPr>
          <p:cNvPr id="20" name="Audience title"/>
          <p:cNvSpPr txBox="1"/>
          <p:nvPr/>
        </p:nvSpPr>
        <p:spPr>
          <a:xfrm>
            <a:off x="7086600" y="2834640"/>
            <a:ext cx="4389120" cy="502920"/>
          </a:xfrm>
          <a:prstGeom prst="rect">
            <a:avLst/>
          </a:prstGeom>
          <a:noFill/>
          <a:ln/>
        </p:spPr>
        <p:txBody>
          <a:bodyPr wrap="square" lIns="0" tIns="0" rIns="0" bIns="0" rtlCol="0" anchor="ctr"/>
          <a:lstStyle/>
          <a:p>
            <a:pPr marL="0" indent="0">
              <a:buNone/>
            </a:pPr>
            <a:r>
              <a:rPr lang="en-US" sz="2000" b="1" dirty="0">
                <a:solidFill>
                  <a:schemeClr val="tx2"/>
                </a:solidFill>
              </a:rPr>
              <a:t>Target Audience</a:t>
            </a:r>
            <a:endParaRPr lang="en-US" sz="2000" dirty="0"/>
          </a:p>
        </p:txBody>
      </p:sp>
      <p:sp>
        <p:nvSpPr>
          <p:cNvPr id="21" name="Audience list"/>
          <p:cNvSpPr txBox="1"/>
          <p:nvPr/>
        </p:nvSpPr>
        <p:spPr>
          <a:xfrm>
            <a:off x="6492240" y="3520440"/>
            <a:ext cx="4937760" cy="2697480"/>
          </a:xfrm>
          <a:prstGeom prst="rect">
            <a:avLst/>
          </a:prstGeom>
          <a:noFill/>
          <a:ln/>
        </p:spPr>
        <p:txBody>
          <a:bodyPr wrap="square" lIns="0" tIns="0" rIns="0" bIns="0" rtlCol="0" anchor="t"/>
          <a:lstStyle/>
          <a:p>
            <a:pPr marL="342900" indent="-342900">
              <a:spcAft>
                <a:spcPts val="1200"/>
              </a:spcAft>
              <a:buSzPct val="100000"/>
              <a:buFont typeface="+mj-lt"/>
              <a:buAutoNum type="arabicPeriod"/>
            </a:pPr>
            <a:r>
              <a:rPr lang="en-US" sz="1600" dirty="0">
                <a:solidFill>
                  <a:schemeClr val="tx1"/>
                </a:solidFill>
              </a:rPr>
              <a:t>Data analysts and data scientists</a:t>
            </a:r>
            <a:endParaRPr lang="en-US" sz="1600" dirty="0"/>
          </a:p>
          <a:p>
            <a:pPr marL="342900" indent="-342900">
              <a:spcAft>
                <a:spcPts val="1200"/>
              </a:spcAft>
              <a:buSzPct val="100000"/>
              <a:buFont typeface="+mj-lt"/>
              <a:buAutoNum type="arabicPeriod"/>
            </a:pPr>
            <a:r>
              <a:rPr lang="en-US" sz="1600" dirty="0">
                <a:solidFill>
                  <a:schemeClr val="tx1"/>
                </a:solidFill>
              </a:rPr>
              <a:t>ML engineers preparing training data</a:t>
            </a:r>
            <a:endParaRPr lang="en-US" sz="1600" dirty="0"/>
          </a:p>
          <a:p>
            <a:pPr marL="342900" indent="-342900">
              <a:spcAft>
                <a:spcPts val="1200"/>
              </a:spcAft>
              <a:buSzPct val="100000"/>
              <a:buFont typeface="+mj-lt"/>
              <a:buAutoNum type="arabicPeriod"/>
            </a:pPr>
            <a:r>
              <a:rPr lang="en-US" sz="1600" dirty="0">
                <a:solidFill>
                  <a:schemeClr val="tx1"/>
                </a:solidFill>
              </a:rPr>
              <a:t>Students and researchers</a:t>
            </a:r>
            <a:endParaRPr lang="en-US" sz="1600" dirty="0"/>
          </a:p>
          <a:p>
            <a:pPr marL="342900" indent="-342900">
              <a:spcAft>
                <a:spcPts val="1200"/>
              </a:spcAft>
              <a:buSzPct val="100000"/>
              <a:buFont typeface="+mj-lt"/>
              <a:buAutoNum type="arabicPeriod"/>
            </a:pPr>
            <a:r>
              <a:rPr lang="en-US" sz="1600" dirty="0">
                <a:solidFill>
                  <a:schemeClr val="tx1"/>
                </a:solidFill>
              </a:rPr>
              <a:t>Small businesses and NGOs without data teams</a:t>
            </a:r>
            <a:endParaRPr lang="en-US" sz="1600" dirty="0"/>
          </a:p>
          <a:p>
            <a:pPr marL="342900" indent="-342900">
              <a:spcAft>
                <a:spcPts val="1200"/>
              </a:spcAft>
              <a:buSzPct val="100000"/>
              <a:buFont typeface="+mj-lt"/>
              <a:buAutoNum type="arabicPeriod"/>
            </a:pPr>
            <a:r>
              <a:rPr lang="en-US" sz="1600" dirty="0">
                <a:solidFill>
                  <a:schemeClr val="tx1"/>
                </a:solidFill>
              </a:rPr>
              <a:t>Public-sector teams handling survey or records data</a:t>
            </a:r>
            <a:endParaRPr lang="en-US" sz="1600" dirty="0"/>
          </a:p>
        </p:txBody>
      </p:sp>
      <p:sp>
        <p:nvSpPr>
          <p:cNvPr id="25" name="Slide Number Placeholder 0"/>
          <p:cNvSpPr>
            <a:spLocks noGrp="1"/>
          </p:cNvSpPr>
          <p:nvPr>
            <p:ph type="sldNum" sz="quarter" idx="4294967295"/>
          </p:nvPr>
        </p:nvSpPr>
        <p:spPr>
          <a:xfrm>
            <a:off x="10972800" y="6473952"/>
            <a:ext cx="667512"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7078"/>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74320"/>
            <a:ext cx="11064240" cy="777240"/>
          </a:xfrm>
          <a:prstGeom prst="rect">
            <a:avLst/>
          </a:prstGeom>
          <a:noFill/>
          <a:ln/>
        </p:spPr>
        <p:txBody>
          <a:bodyPr wrap="square" lIns="0" tIns="0" rIns="0" bIns="0" rtlCol="0" anchor="ctr"/>
          <a:lstStyle/>
          <a:p>
            <a:pPr marL="0" indent="0" algn="l">
              <a:buNone/>
            </a:pPr>
            <a:r>
              <a:rPr lang="en-US" sz="3400" b="1" dirty="0">
                <a:solidFill>
                  <a:schemeClr val="tx2"/>
                </a:solidFill>
              </a:rPr>
              <a:t>Research and References</a:t>
            </a:r>
            <a:endParaRPr lang="en-US" sz="3400" dirty="0"/>
          </a:p>
        </p:txBody>
      </p:sp>
      <p:sp>
        <p:nvSpPr>
          <p:cNvPr id="3" name="Links card"/>
          <p:cNvSpPr/>
          <p:nvPr/>
        </p:nvSpPr>
        <p:spPr>
          <a:xfrm>
            <a:off x="548640" y="1188720"/>
            <a:ext cx="4480560" cy="1508760"/>
          </a:xfrm>
          <a:prstGeom prst="roundRect">
            <a:avLst>
              <a:gd name="adj" fmla="val 6061"/>
            </a:avLst>
          </a:prstGeom>
          <a:solidFill>
            <a:schemeClr val="bg2"/>
          </a:solidFill>
          <a:ln/>
        </p:spPr>
      </p:sp>
      <p:sp>
        <p:nvSpPr>
          <p:cNvPr id="4" name="Links title"/>
          <p:cNvSpPr txBox="1"/>
          <p:nvPr/>
        </p:nvSpPr>
        <p:spPr>
          <a:xfrm>
            <a:off x="731520" y="1280160"/>
            <a:ext cx="4114800" cy="365760"/>
          </a:xfrm>
          <a:prstGeom prst="rect">
            <a:avLst/>
          </a:prstGeom>
          <a:noFill/>
          <a:ln/>
        </p:spPr>
        <p:txBody>
          <a:bodyPr wrap="square" lIns="0" tIns="0" rIns="0" bIns="0" rtlCol="0" anchor="t"/>
          <a:lstStyle/>
          <a:p>
            <a:pPr marL="0" indent="0">
              <a:buNone/>
            </a:pPr>
            <a:r>
              <a:rPr lang="en-US" sz="2000" b="1" dirty="0">
                <a:solidFill>
                  <a:schemeClr val="tx2"/>
                </a:solidFill>
              </a:rPr>
              <a:t>DataDoctor Prototype</a:t>
            </a:r>
            <a:endParaRPr lang="en-US" sz="2000" dirty="0"/>
          </a:p>
        </p:txBody>
      </p:sp>
      <p:sp>
        <p:nvSpPr>
          <p:cNvPr id="5" name="Links list"/>
          <p:cNvSpPr txBox="1"/>
          <p:nvPr/>
        </p:nvSpPr>
        <p:spPr>
          <a:xfrm>
            <a:off x="731520" y="1783080"/>
            <a:ext cx="4114800" cy="777240"/>
          </a:xfrm>
          <a:prstGeom prst="rect">
            <a:avLst/>
          </a:prstGeom>
          <a:noFill/>
          <a:ln/>
        </p:spPr>
        <p:txBody>
          <a:bodyPr wrap="square" lIns="0" tIns="0" rIns="0" bIns="0" rtlCol="0" anchor="t"/>
          <a:lstStyle/>
          <a:p>
            <a:pPr marL="0" indent="0">
              <a:spcAft>
                <a:spcPts val="600"/>
              </a:spcAft>
              <a:buNone/>
            </a:pPr>
            <a:r>
              <a:rPr lang="en-US" sz="1400" b="1" dirty="0">
                <a:solidFill>
                  <a:schemeClr val="tx1"/>
                </a:solidFill>
              </a:rPr>
              <a:t>Demo video: </a:t>
            </a:r>
            <a:r>
              <a:rPr lang="en-US" sz="1400" dirty="0">
                <a:solidFill>
                  <a:schemeClr val="tx1"/>
                </a:solidFill>
              </a:rPr>
              <a:t>[add link]</a:t>
            </a:r>
            <a:endParaRPr lang="en-US" sz="1400" dirty="0"/>
          </a:p>
          <a:p>
            <a:pPr marL="0" indent="0">
              <a:spcAft>
                <a:spcPts val="600"/>
              </a:spcAft>
              <a:buNone/>
            </a:pPr>
            <a:r>
              <a:rPr lang="en-US" sz="1400" b="1" dirty="0">
                <a:solidFill>
                  <a:schemeClr val="tx1"/>
                </a:solidFill>
              </a:rPr>
              <a:t>Source code: </a:t>
            </a:r>
            <a:r>
              <a:rPr lang="en-US" sz="1400" dirty="0">
                <a:solidFill>
                  <a:schemeClr val="tx1"/>
                </a:solidFill>
              </a:rPr>
              <a:t>[add GitHub link]</a:t>
            </a:r>
            <a:endParaRPr lang="en-US" sz="1400" dirty="0"/>
          </a:p>
        </p:txBody>
      </p:sp>
      <p:sp>
        <p:nvSpPr>
          <p:cNvPr id="6" name="References card"/>
          <p:cNvSpPr/>
          <p:nvPr/>
        </p:nvSpPr>
        <p:spPr>
          <a:xfrm>
            <a:off x="548640" y="2834640"/>
            <a:ext cx="4480560" cy="3474720"/>
          </a:xfrm>
          <a:prstGeom prst="roundRect">
            <a:avLst>
              <a:gd name="adj" fmla="val 2632"/>
            </a:avLst>
          </a:prstGeom>
          <a:solidFill>
            <a:schemeClr val="bg2"/>
          </a:solidFill>
          <a:ln/>
        </p:spPr>
      </p:sp>
      <p:sp>
        <p:nvSpPr>
          <p:cNvPr id="7" name="References title"/>
          <p:cNvSpPr txBox="1"/>
          <p:nvPr/>
        </p:nvSpPr>
        <p:spPr>
          <a:xfrm>
            <a:off x="731520" y="2926080"/>
            <a:ext cx="4114800" cy="365760"/>
          </a:xfrm>
          <a:prstGeom prst="rect">
            <a:avLst/>
          </a:prstGeom>
          <a:noFill/>
          <a:ln/>
        </p:spPr>
        <p:txBody>
          <a:bodyPr wrap="square" lIns="0" tIns="0" rIns="0" bIns="0" rtlCol="0" anchor="t"/>
          <a:lstStyle/>
          <a:p>
            <a:pPr marL="0" indent="0">
              <a:buNone/>
            </a:pPr>
            <a:r>
              <a:rPr lang="en-US" sz="2000" b="1" dirty="0">
                <a:solidFill>
                  <a:schemeClr val="tx2"/>
                </a:solidFill>
              </a:rPr>
              <a:t>References</a:t>
            </a:r>
            <a:endParaRPr lang="en-US" sz="2000" dirty="0"/>
          </a:p>
        </p:txBody>
      </p:sp>
      <p:sp>
        <p:nvSpPr>
          <p:cNvPr id="8" name="References list"/>
          <p:cNvSpPr txBox="1"/>
          <p:nvPr/>
        </p:nvSpPr>
        <p:spPr>
          <a:xfrm>
            <a:off x="731520" y="3429000"/>
            <a:ext cx="4114800" cy="2743200"/>
          </a:xfrm>
          <a:prstGeom prst="rect">
            <a:avLst/>
          </a:prstGeom>
          <a:noFill/>
          <a:ln/>
        </p:spPr>
        <p:txBody>
          <a:bodyPr wrap="square" lIns="0" tIns="0" rIns="0" bIns="0" rtlCol="0" anchor="t"/>
          <a:lstStyle/>
          <a:p>
            <a:pPr marL="342900" indent="-342900">
              <a:spcAft>
                <a:spcPts val="1200"/>
              </a:spcAft>
              <a:buSzPct val="100000"/>
              <a:buChar char="•"/>
            </a:pPr>
            <a:r>
              <a:rPr lang="en-US" sz="1600" u="sng" dirty="0">
                <a:solidFill>
                  <a:schemeClr val="tx1"/>
                </a:solidFill>
                <a:hlinkClick r:id="rId3">
                  <a:extLst>
                    <a:ext uri="{A12FA001-AC4F-418D-AE19-62706E023703}">
                      <ahyp:hlinkClr xmlns:ahyp="http://schemas.microsoft.com/office/drawing/2018/hyperlinkcolor" val="tx"/>
                    </a:ext>
                  </a:extLst>
                </a:hlinkClick>
              </a:rPr>
              <a:t>pandas documentation</a:t>
            </a:r>
            <a:endParaRPr lang="en-US" sz="1600" dirty="0"/>
          </a:p>
          <a:p>
            <a:pPr marL="342900" indent="-342900">
              <a:spcAft>
                <a:spcPts val="1200"/>
              </a:spcAft>
              <a:buSzPct val="100000"/>
              <a:buChar char="•"/>
            </a:pPr>
            <a:r>
              <a:rPr lang="en-US" sz="1600" u="sng" dirty="0">
                <a:solidFill>
                  <a:schemeClr val="tx1"/>
                </a:solidFill>
                <a:hlinkClick r:id="rId4">
                  <a:extLst>
                    <a:ext uri="{A12FA001-AC4F-418D-AE19-62706E023703}">
                      <ahyp:hlinkClr xmlns:ahyp="http://schemas.microsoft.com/office/drawing/2018/hyperlinkcolor" val="tx"/>
                    </a:ext>
                  </a:extLst>
                </a:hlinkClick>
              </a:rPr>
              <a:t>scikit-learn: imputation of missing values</a:t>
            </a:r>
            <a:endParaRPr lang="en-US" sz="1600" dirty="0"/>
          </a:p>
          <a:p>
            <a:pPr marL="342900" indent="-342900">
              <a:spcAft>
                <a:spcPts val="1200"/>
              </a:spcAft>
              <a:buSzPct val="100000"/>
              <a:buChar char="•"/>
            </a:pPr>
            <a:r>
              <a:rPr lang="en-US" sz="1600" u="sng" dirty="0">
                <a:solidFill>
                  <a:schemeClr val="tx1"/>
                </a:solidFill>
                <a:hlinkClick r:id="rId5">
                  <a:extLst>
                    <a:ext uri="{A12FA001-AC4F-418D-AE19-62706E023703}">
                      <ahyp:hlinkClr xmlns:ahyp="http://schemas.microsoft.com/office/drawing/2018/hyperlinkcolor" val="tx"/>
                    </a:ext>
                  </a:extLst>
                </a:hlinkClick>
              </a:rPr>
              <a:t>SciPy documentation</a:t>
            </a:r>
            <a:endParaRPr lang="en-US" sz="1600" dirty="0"/>
          </a:p>
          <a:p>
            <a:pPr marL="342900" indent="-342900">
              <a:spcAft>
                <a:spcPts val="1200"/>
              </a:spcAft>
              <a:buSzPct val="100000"/>
              <a:buChar char="•"/>
            </a:pPr>
            <a:r>
              <a:rPr lang="en-US" sz="1600" u="sng" dirty="0">
                <a:solidFill>
                  <a:schemeClr val="tx1"/>
                </a:solidFill>
                <a:hlinkClick r:id="rId6">
                  <a:extLst>
                    <a:ext uri="{A12FA001-AC4F-418D-AE19-62706E023703}">
                      <ahyp:hlinkClr xmlns:ahyp="http://schemas.microsoft.com/office/drawing/2018/hyperlinkcolor" val="tx"/>
                    </a:ext>
                  </a:extLst>
                </a:hlinkClick>
              </a:rPr>
              <a:t>OpenRefine: open-source data cleaning</a:t>
            </a:r>
            <a:endParaRPr lang="en-US" sz="1600" dirty="0"/>
          </a:p>
          <a:p>
            <a:pPr marL="342900" indent="-342900">
              <a:spcAft>
                <a:spcPts val="1200"/>
              </a:spcAft>
              <a:buSzPct val="100000"/>
              <a:buChar char="•"/>
            </a:pPr>
            <a:r>
              <a:rPr lang="en-US" sz="1600" u="sng" dirty="0">
                <a:solidFill>
                  <a:schemeClr val="tx1"/>
                </a:solidFill>
                <a:hlinkClick r:id="rId7">
                  <a:extLst>
                    <a:ext uri="{A12FA001-AC4F-418D-AE19-62706E023703}">
                      <ahyp:hlinkClr xmlns:ahyp="http://schemas.microsoft.com/office/drawing/2018/hyperlinkcolor" val="tx"/>
                    </a:ext>
                  </a:extLst>
                </a:hlinkClick>
              </a:rPr>
              <a:t>ydata-profiling: automated data profiling</a:t>
            </a:r>
            <a:endParaRPr lang="en-US" sz="1600" dirty="0"/>
          </a:p>
        </p:txBody>
      </p:sp>
      <p:sp>
        <p:nvSpPr>
          <p:cNvPr id="9" name="Comparison title"/>
          <p:cNvSpPr txBox="1"/>
          <p:nvPr/>
        </p:nvSpPr>
        <p:spPr>
          <a:xfrm>
            <a:off x="5303520" y="1188720"/>
            <a:ext cx="6336792" cy="411480"/>
          </a:xfrm>
          <a:prstGeom prst="rect">
            <a:avLst/>
          </a:prstGeom>
          <a:noFill/>
          <a:ln/>
        </p:spPr>
        <p:txBody>
          <a:bodyPr wrap="square" lIns="0" tIns="0" rIns="0" bIns="0" rtlCol="0" anchor="t"/>
          <a:lstStyle/>
          <a:p>
            <a:pPr marL="0" indent="0">
              <a:buNone/>
            </a:pPr>
            <a:r>
              <a:rPr lang="en-US" sz="2000" b="1" dirty="0">
                <a:solidFill>
                  <a:schemeClr val="tx2"/>
                </a:solidFill>
              </a:rPr>
              <a:t>Comparison with Existing Approaches</a:t>
            </a:r>
            <a:endParaRPr lang="en-US" sz="2000" dirty="0"/>
          </a:p>
        </p:txBody>
      </p:sp>
      <p:graphicFrame>
        <p:nvGraphicFramePr>
          <p:cNvPr id="10" name="Comparison table"/>
          <p:cNvGraphicFramePr>
            <a:graphicFrameLocks noGrp="1"/>
          </p:cNvGraphicFramePr>
          <p:nvPr>
            <p:extLst>
              <p:ext uri="{D42A27DB-BD31-4B8C-83A1-F6EECF244321}">
                <p14:modId xmlns:p14="http://schemas.microsoft.com/office/powerpoint/2010/main" val="1579011935"/>
              </p:ext>
            </p:extLst>
          </p:nvPr>
        </p:nvGraphicFramePr>
        <p:xfrm>
          <a:off x="5303520" y="1691640"/>
          <a:ext cx="6336792" cy="914400"/>
        </p:xfrm>
        <a:graphic>
          <a:graphicData uri="http://schemas.openxmlformats.org/drawingml/2006/table">
            <a:tbl>
              <a:tblPr/>
              <a:tblGrid>
                <a:gridCol w="22860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033272">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tblGrid>
              <a:tr h="548640">
                <a:tc>
                  <a:txBody>
                    <a:bodyPr/>
                    <a:lstStyle/>
                    <a:p>
                      <a:pPr marL="0" indent="0" algn="ctr">
                        <a:buNone/>
                      </a:pPr>
                      <a:r>
                        <a:rPr lang="en-US" sz="1200" b="1" dirty="0">
                          <a:solidFill>
                            <a:srgbClr val="FFFFFF"/>
                          </a:solidFill>
                        </a:rPr>
                        <a:t>Aspect</a:t>
                      </a:r>
                      <a:endParaRPr lang="en-US" sz="1200" dirty="0"/>
                    </a:p>
                  </a:txBody>
                  <a:tcPr marL="54864" marR="54864" marT="54864" marB="54864" anchor="ctr">
                    <a:lnL w="9525" cap="flat" cmpd="sng" algn="ctr">
                      <a:solidFill>
                        <a:srgbClr val="BFD3D6"/>
                      </a:solidFill>
                      <a:prstDash val="solid"/>
                      <a:round/>
                      <a:headEnd type="none" w="med" len="med"/>
                      <a:tailEnd type="none" w="med" len="med"/>
                    </a:lnL>
                    <a:lnR w="9525" cap="flat" cmpd="sng" algn="ctr">
                      <a:solidFill>
                        <a:srgbClr val="BFD3D6"/>
                      </a:solidFill>
                      <a:prstDash val="solid"/>
                      <a:round/>
                      <a:headEnd type="none" w="med" len="med"/>
                      <a:tailEnd type="none" w="med" len="med"/>
                    </a:lnR>
                    <a:lnT w="9525" cap="flat" cmpd="sng" algn="ctr">
                      <a:solidFill>
                        <a:srgbClr val="BFD3D6"/>
                      </a:solidFill>
                      <a:prstDash val="solid"/>
                      <a:round/>
                      <a:headEnd type="none" w="med" len="med"/>
                      <a:tailEnd type="none" w="med" len="med"/>
                    </a:lnT>
                    <a:lnB w="9525" cap="flat" cmpd="sng" algn="ctr">
                      <a:solidFill>
                        <a:srgbClr val="BFD3D6"/>
                      </a:solidFill>
                      <a:prstDash val="solid"/>
                      <a:round/>
                      <a:headEnd type="none" w="med" len="med"/>
                      <a:tailEnd type="none" w="med" len="med"/>
                    </a:lnB>
                    <a:solidFill>
                      <a:srgbClr val="0B3C49"/>
                    </a:solidFill>
                  </a:tcPr>
                </a:tc>
                <a:tc>
                  <a:txBody>
                    <a:bodyPr/>
                    <a:lstStyle/>
                    <a:p>
                      <a:pPr marL="0" indent="0" algn="ctr">
                        <a:buNone/>
                      </a:pPr>
                      <a:r>
                        <a:rPr lang="en-US" sz="1200" b="1" dirty="0">
                          <a:solidFill>
                            <a:srgbClr val="FFFFFF"/>
                          </a:solidFill>
                        </a:rPr>
                        <a:t>Manual (Excel)</a:t>
                      </a:r>
                      <a:endParaRPr lang="en-US" sz="1200" dirty="0"/>
                    </a:p>
                  </a:txBody>
                  <a:tcPr marL="54864" marR="54864" marT="54864" marB="54864" anchor="ctr">
                    <a:lnL w="9525" cap="flat" cmpd="sng" algn="ctr">
                      <a:solidFill>
                        <a:srgbClr val="BFD3D6"/>
                      </a:solidFill>
                      <a:prstDash val="solid"/>
                      <a:round/>
                      <a:headEnd type="none" w="med" len="med"/>
                      <a:tailEnd type="none" w="med" len="med"/>
                    </a:lnL>
                    <a:lnR w="9525" cap="flat" cmpd="sng" algn="ctr">
                      <a:solidFill>
                        <a:srgbClr val="BFD3D6"/>
                      </a:solidFill>
                      <a:prstDash val="solid"/>
                      <a:round/>
                      <a:headEnd type="none" w="med" len="med"/>
                      <a:tailEnd type="none" w="med" len="med"/>
                    </a:lnR>
                    <a:lnT w="9525" cap="flat" cmpd="sng" algn="ctr">
                      <a:solidFill>
                        <a:srgbClr val="BFD3D6"/>
                      </a:solidFill>
                      <a:prstDash val="solid"/>
                      <a:round/>
                      <a:headEnd type="none" w="med" len="med"/>
                      <a:tailEnd type="none" w="med" len="med"/>
                    </a:lnT>
                    <a:lnB w="9525" cap="flat" cmpd="sng" algn="ctr">
                      <a:solidFill>
                        <a:srgbClr val="BFD3D6"/>
                      </a:solidFill>
                      <a:prstDash val="solid"/>
                      <a:round/>
                      <a:headEnd type="none" w="med" len="med"/>
                      <a:tailEnd type="none" w="med" len="med"/>
                    </a:lnB>
                    <a:solidFill>
                      <a:srgbClr val="0B3C49"/>
                    </a:solidFill>
                  </a:tcPr>
                </a:tc>
                <a:tc>
                  <a:txBody>
                    <a:bodyPr/>
                    <a:lstStyle/>
                    <a:p>
                      <a:pPr marL="0" indent="0" algn="ctr">
                        <a:buNone/>
                      </a:pPr>
                      <a:r>
                        <a:rPr lang="en-US" sz="1200" b="1" dirty="0">
                          <a:solidFill>
                            <a:srgbClr val="FFFFFF"/>
                          </a:solidFill>
                        </a:rPr>
                        <a:t>OpenRefine</a:t>
                      </a:r>
                      <a:endParaRPr lang="en-US" sz="1200" dirty="0"/>
                    </a:p>
                  </a:txBody>
                  <a:tcPr marL="54864" marR="54864" marT="54864" marB="54864" anchor="ctr">
                    <a:lnL w="9525" cap="flat" cmpd="sng" algn="ctr">
                      <a:solidFill>
                        <a:srgbClr val="BFD3D6"/>
                      </a:solidFill>
                      <a:prstDash val="solid"/>
                      <a:round/>
                      <a:headEnd type="none" w="med" len="med"/>
                      <a:tailEnd type="none" w="med" len="med"/>
                    </a:lnL>
                    <a:lnR w="9525" cap="flat" cmpd="sng" algn="ctr">
                      <a:solidFill>
                        <a:srgbClr val="BFD3D6"/>
                      </a:solidFill>
                      <a:prstDash val="solid"/>
                      <a:round/>
                      <a:headEnd type="none" w="med" len="med"/>
                      <a:tailEnd type="none" w="med" len="med"/>
                    </a:lnR>
                    <a:lnT w="9525" cap="flat" cmpd="sng" algn="ctr">
                      <a:solidFill>
                        <a:srgbClr val="BFD3D6"/>
                      </a:solidFill>
                      <a:prstDash val="solid"/>
                      <a:round/>
                      <a:headEnd type="none" w="med" len="med"/>
                      <a:tailEnd type="none" w="med" len="med"/>
                    </a:lnT>
                    <a:lnB w="9525" cap="flat" cmpd="sng" algn="ctr">
                      <a:solidFill>
                        <a:srgbClr val="BFD3D6"/>
                      </a:solidFill>
                      <a:prstDash val="solid"/>
                      <a:round/>
                      <a:headEnd type="none" w="med" len="med"/>
                      <a:tailEnd type="none" w="med" len="med"/>
                    </a:lnB>
                    <a:solidFill>
                      <a:srgbClr val="0B3C49"/>
                    </a:solidFill>
                  </a:tcPr>
                </a:tc>
                <a:tc>
                  <a:txBody>
                    <a:bodyPr/>
                    <a:lstStyle/>
                    <a:p>
                      <a:pPr marL="0" indent="0" algn="ctr">
                        <a:buNone/>
                      </a:pPr>
                      <a:r>
                        <a:rPr lang="en-US" sz="1200" b="1" dirty="0">
                          <a:solidFill>
                            <a:srgbClr val="FFFFFF"/>
                          </a:solidFill>
                        </a:rPr>
                        <a:t>ydata-profiling</a:t>
                      </a:r>
                      <a:endParaRPr lang="en-US" sz="1200" dirty="0"/>
                    </a:p>
                  </a:txBody>
                  <a:tcPr marL="54864" marR="54864" marT="54864" marB="54864" anchor="ctr">
                    <a:lnL w="9525" cap="flat" cmpd="sng" algn="ctr">
                      <a:solidFill>
                        <a:srgbClr val="BFD3D6"/>
                      </a:solidFill>
                      <a:prstDash val="solid"/>
                      <a:round/>
                      <a:headEnd type="none" w="med" len="med"/>
                      <a:tailEnd type="none" w="med" len="med"/>
                    </a:lnL>
                    <a:lnR w="9525" cap="flat" cmpd="sng" algn="ctr">
                      <a:solidFill>
                        <a:srgbClr val="BFD3D6"/>
                      </a:solidFill>
                      <a:prstDash val="solid"/>
                      <a:round/>
                      <a:headEnd type="none" w="med" len="med"/>
                      <a:tailEnd type="none" w="med" len="med"/>
                    </a:lnR>
                    <a:lnT w="9525" cap="flat" cmpd="sng" algn="ctr">
                      <a:solidFill>
                        <a:srgbClr val="BFD3D6"/>
                      </a:solidFill>
                      <a:prstDash val="solid"/>
                      <a:round/>
                      <a:headEnd type="none" w="med" len="med"/>
                      <a:tailEnd type="none" w="med" len="med"/>
                    </a:lnT>
                    <a:lnB w="9525" cap="flat" cmpd="sng" algn="ctr">
                      <a:solidFill>
                        <a:srgbClr val="BFD3D6"/>
                      </a:solidFill>
                      <a:prstDash val="solid"/>
                      <a:round/>
                      <a:headEnd type="none" w="med" len="med"/>
                      <a:tailEnd type="none" w="med" len="med"/>
                    </a:lnB>
                    <a:solidFill>
                      <a:srgbClr val="0B3C49"/>
                    </a:solidFill>
                  </a:tcPr>
                </a:tc>
                <a:tc>
                  <a:txBody>
                    <a:bodyPr/>
                    <a:lstStyle/>
                    <a:p>
                      <a:pPr marL="0" indent="0" algn="ctr">
                        <a:buNone/>
                      </a:pPr>
                      <a:r>
                        <a:rPr lang="en-US" sz="1200" b="1" dirty="0">
                          <a:solidFill>
                            <a:srgbClr val="FFFFFF"/>
                          </a:solidFill>
                        </a:rPr>
                        <a:t>DataDoctor</a:t>
                      </a:r>
                      <a:endParaRPr lang="en-US" sz="1200" dirty="0"/>
                    </a:p>
                  </a:txBody>
                  <a:tcPr marL="54864" marR="54864" marT="54864" marB="54864" anchor="ctr">
                    <a:lnL w="9525" cap="flat" cmpd="sng" algn="ctr">
                      <a:solidFill>
                        <a:srgbClr val="BFD3D6"/>
                      </a:solidFill>
                      <a:prstDash val="solid"/>
                      <a:round/>
                      <a:headEnd type="none" w="med" len="med"/>
                      <a:tailEnd type="none" w="med" len="med"/>
                    </a:lnL>
                    <a:lnR w="9525" cap="flat" cmpd="sng" algn="ctr">
                      <a:solidFill>
                        <a:srgbClr val="BFD3D6"/>
                      </a:solidFill>
                      <a:prstDash val="solid"/>
                      <a:round/>
                      <a:headEnd type="none" w="med" len="med"/>
                      <a:tailEnd type="none" w="med" len="med"/>
                    </a:lnR>
                    <a:lnT w="9525" cap="flat" cmpd="sng" algn="ctr">
                      <a:solidFill>
                        <a:srgbClr val="BFD3D6"/>
                      </a:solidFill>
                      <a:prstDash val="solid"/>
                      <a:round/>
                      <a:headEnd type="none" w="med" len="med"/>
                      <a:tailEnd type="none" w="med" len="med"/>
                    </a:lnT>
                    <a:lnB w="9525" cap="flat" cmpd="sng" algn="ctr">
                      <a:solidFill>
                        <a:srgbClr val="BFD3D6"/>
                      </a:solidFill>
                      <a:prstDash val="solid"/>
                      <a:round/>
                      <a:headEnd type="none" w="med" len="med"/>
                      <a:tailEnd type="none" w="med" len="med"/>
                    </a:lnB>
                    <a:solidFill>
                      <a:srgbClr val="0E7C86"/>
                    </a:solidFill>
                  </a:tcPr>
                </a:tc>
                <a:extLst>
                  <a:ext uri="{0D108BD9-81ED-4DB2-BD59-A6C34878D82A}">
                    <a16:rowId xmlns:a16="http://schemas.microsoft.com/office/drawing/2014/main" val="10000"/>
                  </a:ext>
                </a:extLst>
              </a:tr>
              <a:tr h="420624">
                <a:tc>
                  <a:txBody>
                    <a:bodyPr/>
                    <a:lstStyle/>
                    <a:p>
                      <a:pPr marL="0" indent="0">
                        <a:buNone/>
                      </a:pPr>
                      <a:r>
                        <a:rPr lang="en-US" sz="1200" b="1" dirty="0">
                          <a:solidFill>
                            <a:srgbClr val="13262F"/>
                          </a:solidFill>
                        </a:rPr>
                        <a:t>Automated data profiling</a:t>
                      </a:r>
                      <a:endParaRPr lang="en-US" sz="1200" dirty="0"/>
                    </a:p>
                  </a:txBody>
                  <a:tcPr marL="54864" marR="54864" marT="54864" marB="54864" anchor="ctr">
                    <a:lnL w="9525" cap="flat" cmpd="sng" algn="ctr">
                      <a:solidFill>
                        <a:srgbClr val="BFD3D6"/>
                      </a:solidFill>
                      <a:prstDash val="solid"/>
                      <a:round/>
                      <a:headEnd type="none" w="med" len="med"/>
                      <a:tailEnd type="none" w="med" len="med"/>
                    </a:lnL>
                    <a:lnR w="9525" cap="flat" cmpd="sng" algn="ctr">
                      <a:solidFill>
                        <a:srgbClr val="BFD3D6"/>
                      </a:solidFill>
                      <a:prstDash val="solid"/>
                      <a:round/>
                      <a:headEnd type="none" w="med" len="med"/>
                      <a:tailEnd type="none" w="med" len="med"/>
                    </a:lnR>
                    <a:lnT w="9525" cap="flat" cmpd="sng" algn="ctr">
                      <a:solidFill>
                        <a:srgbClr val="BFD3D6"/>
                      </a:solidFill>
                      <a:prstDash val="solid"/>
                      <a:round/>
                      <a:headEnd type="none" w="med" len="med"/>
                      <a:tailEnd type="none" w="med" len="med"/>
                    </a:lnT>
                    <a:lnB w="9525" cap="flat" cmpd="sng" algn="ctr">
                      <a:solidFill>
                        <a:srgbClr val="BFD3D6"/>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A12A35"/>
                          </a:solidFill>
                        </a:rPr>
                        <a:t>No</a:t>
                      </a:r>
                      <a:endParaRPr lang="en-US" sz="1200" dirty="0"/>
                    </a:p>
                  </a:txBody>
                  <a:tcPr marL="54864" marR="54864" marT="54864" marB="54864" anchor="ctr">
                    <a:lnL w="9525" cap="flat" cmpd="sng" algn="ctr">
                      <a:solidFill>
                        <a:srgbClr val="BFD3D6"/>
                      </a:solidFill>
                      <a:prstDash val="solid"/>
                      <a:round/>
                      <a:headEnd type="none" w="med" len="med"/>
                      <a:tailEnd type="none" w="med" len="med"/>
                    </a:lnL>
                    <a:lnR w="9525" cap="flat" cmpd="sng" algn="ctr">
                      <a:solidFill>
                        <a:srgbClr val="BFD3D6"/>
                      </a:solidFill>
                      <a:prstDash val="solid"/>
                      <a:round/>
                      <a:headEnd type="none" w="med" len="med"/>
                      <a:tailEnd type="none" w="med" len="med"/>
                    </a:lnR>
                    <a:lnT w="9525" cap="flat" cmpd="sng" algn="ctr">
                      <a:solidFill>
                        <a:srgbClr val="BFD3D6"/>
                      </a:solidFill>
                      <a:prstDash val="solid"/>
                      <a:round/>
                      <a:headEnd type="none" w="med" len="med"/>
                      <a:tailEnd type="none" w="med" len="med"/>
                    </a:lnT>
                    <a:lnB w="9525" cap="flat" cmpd="sng" algn="ctr">
                      <a:solidFill>
                        <a:srgbClr val="BFD3D6"/>
                      </a:solidFill>
                      <a:prstDash val="solid"/>
                      <a:round/>
                      <a:headEnd type="none" w="med" len="med"/>
                      <a:tailEnd type="none" w="med" len="med"/>
                    </a:lnB>
                    <a:solidFill>
                      <a:srgbClr val="F9D9DC"/>
                    </a:solidFill>
                  </a:tcPr>
                </a:tc>
                <a:tc>
                  <a:txBody>
                    <a:bodyPr/>
                    <a:lstStyle/>
                    <a:p>
                      <a:pPr marL="0" indent="0" algn="ctr">
                        <a:buNone/>
                      </a:pPr>
                      <a:r>
                        <a:rPr lang="en-US" sz="1200" b="1" dirty="0">
                          <a:solidFill>
                            <a:srgbClr val="8A5200"/>
                          </a:solidFill>
                        </a:rPr>
                        <a:t>Partial</a:t>
                      </a:r>
                      <a:endParaRPr lang="en-US" sz="1200" dirty="0"/>
                    </a:p>
                  </a:txBody>
                  <a:tcPr marL="54864" marR="54864" marT="54864" marB="54864" anchor="ctr">
                    <a:lnL w="9525" cap="flat" cmpd="sng" algn="ctr">
                      <a:solidFill>
                        <a:srgbClr val="BFD3D6"/>
                      </a:solidFill>
                      <a:prstDash val="solid"/>
                      <a:round/>
                      <a:headEnd type="none" w="med" len="med"/>
                      <a:tailEnd type="none" w="med" len="med"/>
                    </a:lnL>
                    <a:lnR w="9525" cap="flat" cmpd="sng" algn="ctr">
                      <a:solidFill>
                        <a:srgbClr val="BFD3D6"/>
                      </a:solidFill>
                      <a:prstDash val="solid"/>
                      <a:round/>
                      <a:headEnd type="none" w="med" len="med"/>
                      <a:tailEnd type="none" w="med" len="med"/>
                    </a:lnR>
                    <a:lnT w="9525" cap="flat" cmpd="sng" algn="ctr">
                      <a:solidFill>
                        <a:srgbClr val="BFD3D6"/>
                      </a:solidFill>
                      <a:prstDash val="solid"/>
                      <a:round/>
                      <a:headEnd type="none" w="med" len="med"/>
                      <a:tailEnd type="none" w="med" len="med"/>
                    </a:lnT>
                    <a:lnB w="9525" cap="flat" cmpd="sng" algn="ctr">
                      <a:solidFill>
                        <a:srgbClr val="BFD3D6"/>
                      </a:solidFill>
                      <a:prstDash val="solid"/>
                      <a:round/>
                      <a:headEnd type="none" w="med" len="med"/>
                      <a:tailEnd type="none" w="med" len="med"/>
                    </a:lnB>
                    <a:solidFill>
                      <a:srgbClr val="FCE9CC"/>
                    </a:solidFill>
                  </a:tcPr>
                </a:tc>
                <a:tc>
                  <a:txBody>
                    <a:bodyPr/>
                    <a:lstStyle/>
                    <a:p>
                      <a:pPr marL="0" indent="0" algn="ctr">
                        <a:buNone/>
                      </a:pPr>
                      <a:r>
                        <a:rPr lang="en-US" sz="1200" b="1" dirty="0">
                          <a:solidFill>
                            <a:srgbClr val="1E7A4C"/>
                          </a:solidFill>
                        </a:rPr>
                        <a:t>Yes</a:t>
                      </a:r>
                      <a:endParaRPr lang="en-US" sz="1200" dirty="0"/>
                    </a:p>
                  </a:txBody>
                  <a:tcPr marL="54864" marR="54864" marT="54864" marB="54864" anchor="ctr">
                    <a:lnL w="9525" cap="flat" cmpd="sng" algn="ctr">
                      <a:solidFill>
                        <a:srgbClr val="BFD3D6"/>
                      </a:solidFill>
                      <a:prstDash val="solid"/>
                      <a:round/>
                      <a:headEnd type="none" w="med" len="med"/>
                      <a:tailEnd type="none" w="med" len="med"/>
                    </a:lnL>
                    <a:lnR w="9525" cap="flat" cmpd="sng" algn="ctr">
                      <a:solidFill>
                        <a:srgbClr val="BFD3D6"/>
                      </a:solidFill>
                      <a:prstDash val="solid"/>
                      <a:round/>
                      <a:headEnd type="none" w="med" len="med"/>
                      <a:tailEnd type="none" w="med" len="med"/>
                    </a:lnR>
                    <a:lnT w="9525" cap="flat" cmpd="sng" algn="ctr">
                      <a:solidFill>
                        <a:srgbClr val="BFD3D6"/>
                      </a:solidFill>
                      <a:prstDash val="solid"/>
                      <a:round/>
                      <a:headEnd type="none" w="med" len="med"/>
                      <a:tailEnd type="none" w="med" len="med"/>
                    </a:lnT>
                    <a:lnB w="9525" cap="flat" cmpd="sng" algn="ctr">
                      <a:solidFill>
                        <a:srgbClr val="BFD3D6"/>
                      </a:solidFill>
                      <a:prstDash val="solid"/>
                      <a:round/>
                      <a:headEnd type="none" w="med" len="med"/>
                      <a:tailEnd type="none" w="med" len="med"/>
                    </a:lnB>
                    <a:solidFill>
                      <a:srgbClr val="D6F0E3"/>
                    </a:solidFill>
                  </a:tcPr>
                </a:tc>
                <a:tc>
                  <a:txBody>
                    <a:bodyPr/>
                    <a:lstStyle/>
                    <a:p>
                      <a:pPr marL="0" indent="0" algn="ctr">
                        <a:buNone/>
                      </a:pPr>
                      <a:r>
                        <a:rPr lang="en-US" sz="1200" b="1" dirty="0">
                          <a:solidFill>
                            <a:srgbClr val="1E7A4C"/>
                          </a:solidFill>
                        </a:rPr>
                        <a:t>Yes</a:t>
                      </a:r>
                      <a:endParaRPr lang="en-US" sz="1200" dirty="0"/>
                    </a:p>
                  </a:txBody>
                  <a:tcPr marL="54864" marR="54864" marT="54864" marB="54864" anchor="ctr">
                    <a:lnL w="9525" cap="flat" cmpd="sng" algn="ctr">
                      <a:solidFill>
                        <a:srgbClr val="BFD3D6"/>
                      </a:solidFill>
                      <a:prstDash val="solid"/>
                      <a:round/>
                      <a:headEnd type="none" w="med" len="med"/>
                      <a:tailEnd type="none" w="med" len="med"/>
                    </a:lnL>
                    <a:lnR w="9525" cap="flat" cmpd="sng" algn="ctr">
                      <a:solidFill>
                        <a:srgbClr val="BFD3D6"/>
                      </a:solidFill>
                      <a:prstDash val="solid"/>
                      <a:round/>
                      <a:headEnd type="none" w="med" len="med"/>
                      <a:tailEnd type="none" w="med" len="med"/>
                    </a:lnR>
                    <a:lnT w="9525" cap="flat" cmpd="sng" algn="ctr">
                      <a:solidFill>
                        <a:srgbClr val="BFD3D6"/>
                      </a:solidFill>
                      <a:prstDash val="solid"/>
                      <a:round/>
                      <a:headEnd type="none" w="med" len="med"/>
                      <a:tailEnd type="none" w="med" len="med"/>
                    </a:lnT>
                    <a:lnB w="9525" cap="flat" cmpd="sng" algn="ctr">
                      <a:solidFill>
                        <a:srgbClr val="BFD3D6"/>
                      </a:solidFill>
                      <a:prstDash val="solid"/>
                      <a:round/>
                      <a:headEnd type="none" w="med" len="med"/>
                      <a:tailEnd type="none" w="med" len="med"/>
                    </a:lnB>
                    <a:solidFill>
                      <a:srgbClr val="D6F0E3"/>
                    </a:solidFill>
                  </a:tcPr>
                </a:tc>
                <a:extLst>
                  <a:ext uri="{0D108BD9-81ED-4DB2-BD59-A6C34878D82A}">
                    <a16:rowId xmlns:a16="http://schemas.microsoft.com/office/drawing/2014/main" val="10001"/>
                  </a:ext>
                </a:extLst>
              </a:tr>
              <a:tr h="420624">
                <a:tc>
                  <a:txBody>
                    <a:bodyPr/>
                    <a:lstStyle/>
                    <a:p>
                      <a:pPr marL="0" indent="0">
                        <a:buNone/>
                      </a:pPr>
                      <a:r>
                        <a:rPr lang="en-US" sz="1200" b="1" dirty="0">
                          <a:solidFill>
                            <a:srgbClr val="13262F"/>
                          </a:solidFill>
                        </a:rPr>
                        <a:t>Date-format auto-detection</a:t>
                      </a:r>
                      <a:endParaRPr lang="en-US" sz="1200" dirty="0"/>
                    </a:p>
                  </a:txBody>
                  <a:tcPr marL="54864" marR="54864" marT="54864" marB="54864" anchor="ctr">
                    <a:lnL w="9525" cap="flat" cmpd="sng" algn="ctr">
                      <a:solidFill>
                        <a:srgbClr val="BFD3D6"/>
                      </a:solidFill>
                      <a:prstDash val="solid"/>
                      <a:round/>
                      <a:headEnd type="none" w="med" len="med"/>
                      <a:tailEnd type="none" w="med" len="med"/>
                    </a:lnL>
                    <a:lnR w="9525" cap="flat" cmpd="sng" algn="ctr">
                      <a:solidFill>
                        <a:srgbClr val="BFD3D6"/>
                      </a:solidFill>
                      <a:prstDash val="solid"/>
                      <a:round/>
                      <a:headEnd type="none" w="med" len="med"/>
                      <a:tailEnd type="none" w="med" len="med"/>
                    </a:lnR>
                    <a:lnT w="9525" cap="flat" cmpd="sng" algn="ctr">
                      <a:solidFill>
                        <a:srgbClr val="BFD3D6"/>
                      </a:solidFill>
                      <a:prstDash val="solid"/>
                      <a:round/>
                      <a:headEnd type="none" w="med" len="med"/>
                      <a:tailEnd type="none" w="med" len="med"/>
                    </a:lnT>
                    <a:lnB w="9525" cap="flat" cmpd="sng" algn="ctr">
                      <a:solidFill>
                        <a:srgbClr val="BFD3D6"/>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8A5200"/>
                          </a:solidFill>
                        </a:rPr>
                        <a:t>Partial</a:t>
                      </a:r>
                      <a:endParaRPr lang="en-US" sz="1200" dirty="0"/>
                    </a:p>
                  </a:txBody>
                  <a:tcPr marL="54864" marR="54864" marT="54864" marB="54864" anchor="ctr">
                    <a:lnL w="9525" cap="flat" cmpd="sng" algn="ctr">
                      <a:solidFill>
                        <a:srgbClr val="BFD3D6"/>
                      </a:solidFill>
                      <a:prstDash val="solid"/>
                      <a:round/>
                      <a:headEnd type="none" w="med" len="med"/>
                      <a:tailEnd type="none" w="med" len="med"/>
                    </a:lnL>
                    <a:lnR w="9525" cap="flat" cmpd="sng" algn="ctr">
                      <a:solidFill>
                        <a:srgbClr val="BFD3D6"/>
                      </a:solidFill>
                      <a:prstDash val="solid"/>
                      <a:round/>
                      <a:headEnd type="none" w="med" len="med"/>
                      <a:tailEnd type="none" w="med" len="med"/>
                    </a:lnR>
                    <a:lnT w="9525" cap="flat" cmpd="sng" algn="ctr">
                      <a:solidFill>
                        <a:srgbClr val="BFD3D6"/>
                      </a:solidFill>
                      <a:prstDash val="solid"/>
                      <a:round/>
                      <a:headEnd type="none" w="med" len="med"/>
                      <a:tailEnd type="none" w="med" len="med"/>
                    </a:lnT>
                    <a:lnB w="9525" cap="flat" cmpd="sng" algn="ctr">
                      <a:solidFill>
                        <a:srgbClr val="BFD3D6"/>
                      </a:solidFill>
                      <a:prstDash val="solid"/>
                      <a:round/>
                      <a:headEnd type="none" w="med" len="med"/>
                      <a:tailEnd type="none" w="med" len="med"/>
                    </a:lnB>
                    <a:solidFill>
                      <a:srgbClr val="FCE9CC"/>
                    </a:solidFill>
                  </a:tcPr>
                </a:tc>
                <a:tc>
                  <a:txBody>
                    <a:bodyPr/>
                    <a:lstStyle/>
                    <a:p>
                      <a:pPr marL="0" indent="0" algn="ctr">
                        <a:buNone/>
                      </a:pPr>
                      <a:r>
                        <a:rPr lang="en-US" sz="1200" b="1" dirty="0">
                          <a:solidFill>
                            <a:srgbClr val="8A5200"/>
                          </a:solidFill>
                        </a:rPr>
                        <a:t>Partial</a:t>
                      </a:r>
                      <a:endParaRPr lang="en-US" sz="1200" dirty="0"/>
                    </a:p>
                  </a:txBody>
                  <a:tcPr marL="54864" marR="54864" marT="54864" marB="54864" anchor="ctr">
                    <a:lnL w="9525" cap="flat" cmpd="sng" algn="ctr">
                      <a:solidFill>
                        <a:srgbClr val="BFD3D6"/>
                      </a:solidFill>
                      <a:prstDash val="solid"/>
                      <a:round/>
                      <a:headEnd type="none" w="med" len="med"/>
                      <a:tailEnd type="none" w="med" len="med"/>
                    </a:lnL>
                    <a:lnR w="9525" cap="flat" cmpd="sng" algn="ctr">
                      <a:solidFill>
                        <a:srgbClr val="BFD3D6"/>
                      </a:solidFill>
                      <a:prstDash val="solid"/>
                      <a:round/>
                      <a:headEnd type="none" w="med" len="med"/>
                      <a:tailEnd type="none" w="med" len="med"/>
                    </a:lnR>
                    <a:lnT w="9525" cap="flat" cmpd="sng" algn="ctr">
                      <a:solidFill>
                        <a:srgbClr val="BFD3D6"/>
                      </a:solidFill>
                      <a:prstDash val="solid"/>
                      <a:round/>
                      <a:headEnd type="none" w="med" len="med"/>
                      <a:tailEnd type="none" w="med" len="med"/>
                    </a:lnT>
                    <a:lnB w="9525" cap="flat" cmpd="sng" algn="ctr">
                      <a:solidFill>
                        <a:srgbClr val="BFD3D6"/>
                      </a:solidFill>
                      <a:prstDash val="solid"/>
                      <a:round/>
                      <a:headEnd type="none" w="med" len="med"/>
                      <a:tailEnd type="none" w="med" len="med"/>
                    </a:lnB>
                    <a:solidFill>
                      <a:srgbClr val="FCE9CC"/>
                    </a:solidFill>
                  </a:tcPr>
                </a:tc>
                <a:tc>
                  <a:txBody>
                    <a:bodyPr/>
                    <a:lstStyle/>
                    <a:p>
                      <a:pPr marL="0" indent="0" algn="ctr">
                        <a:buNone/>
                      </a:pPr>
                      <a:r>
                        <a:rPr lang="en-US" sz="1200" b="1" dirty="0">
                          <a:solidFill>
                            <a:srgbClr val="8A5200"/>
                          </a:solidFill>
                        </a:rPr>
                        <a:t>Partial</a:t>
                      </a:r>
                      <a:endParaRPr lang="en-US" sz="1200" dirty="0"/>
                    </a:p>
                  </a:txBody>
                  <a:tcPr marL="54864" marR="54864" marT="54864" marB="54864" anchor="ctr">
                    <a:lnL w="9525" cap="flat" cmpd="sng" algn="ctr">
                      <a:solidFill>
                        <a:srgbClr val="BFD3D6"/>
                      </a:solidFill>
                      <a:prstDash val="solid"/>
                      <a:round/>
                      <a:headEnd type="none" w="med" len="med"/>
                      <a:tailEnd type="none" w="med" len="med"/>
                    </a:lnL>
                    <a:lnR w="9525" cap="flat" cmpd="sng" algn="ctr">
                      <a:solidFill>
                        <a:srgbClr val="BFD3D6"/>
                      </a:solidFill>
                      <a:prstDash val="solid"/>
                      <a:round/>
                      <a:headEnd type="none" w="med" len="med"/>
                      <a:tailEnd type="none" w="med" len="med"/>
                    </a:lnR>
                    <a:lnT w="9525" cap="flat" cmpd="sng" algn="ctr">
                      <a:solidFill>
                        <a:srgbClr val="BFD3D6"/>
                      </a:solidFill>
                      <a:prstDash val="solid"/>
                      <a:round/>
                      <a:headEnd type="none" w="med" len="med"/>
                      <a:tailEnd type="none" w="med" len="med"/>
                    </a:lnT>
                    <a:lnB w="9525" cap="flat" cmpd="sng" algn="ctr">
                      <a:solidFill>
                        <a:srgbClr val="BFD3D6"/>
                      </a:solidFill>
                      <a:prstDash val="solid"/>
                      <a:round/>
                      <a:headEnd type="none" w="med" len="med"/>
                      <a:tailEnd type="none" w="med" len="med"/>
                    </a:lnB>
                    <a:solidFill>
                      <a:srgbClr val="FCE9CC"/>
                    </a:solidFill>
                  </a:tcPr>
                </a:tc>
                <a:tc>
                  <a:txBody>
                    <a:bodyPr/>
                    <a:lstStyle/>
                    <a:p>
                      <a:pPr marL="0" indent="0" algn="ctr">
                        <a:buNone/>
                      </a:pPr>
                      <a:r>
                        <a:rPr lang="en-US" sz="1200" b="1" dirty="0">
                          <a:solidFill>
                            <a:srgbClr val="1E7A4C"/>
                          </a:solidFill>
                        </a:rPr>
                        <a:t>Yes</a:t>
                      </a:r>
                      <a:endParaRPr lang="en-US" sz="1200" dirty="0"/>
                    </a:p>
                  </a:txBody>
                  <a:tcPr marL="54864" marR="54864" marT="54864" marB="54864" anchor="ctr">
                    <a:lnL w="9525" cap="flat" cmpd="sng" algn="ctr">
                      <a:solidFill>
                        <a:srgbClr val="BFD3D6"/>
                      </a:solidFill>
                      <a:prstDash val="solid"/>
                      <a:round/>
                      <a:headEnd type="none" w="med" len="med"/>
                      <a:tailEnd type="none" w="med" len="med"/>
                    </a:lnL>
                    <a:lnR w="9525" cap="flat" cmpd="sng" algn="ctr">
                      <a:solidFill>
                        <a:srgbClr val="BFD3D6"/>
                      </a:solidFill>
                      <a:prstDash val="solid"/>
                      <a:round/>
                      <a:headEnd type="none" w="med" len="med"/>
                      <a:tailEnd type="none" w="med" len="med"/>
                    </a:lnR>
                    <a:lnT w="9525" cap="flat" cmpd="sng" algn="ctr">
                      <a:solidFill>
                        <a:srgbClr val="BFD3D6"/>
                      </a:solidFill>
                      <a:prstDash val="solid"/>
                      <a:round/>
                      <a:headEnd type="none" w="med" len="med"/>
                      <a:tailEnd type="none" w="med" len="med"/>
                    </a:lnT>
                    <a:lnB w="9525" cap="flat" cmpd="sng" algn="ctr">
                      <a:solidFill>
                        <a:srgbClr val="BFD3D6"/>
                      </a:solidFill>
                      <a:prstDash val="solid"/>
                      <a:round/>
                      <a:headEnd type="none" w="med" len="med"/>
                      <a:tailEnd type="none" w="med" len="med"/>
                    </a:lnB>
                    <a:solidFill>
                      <a:srgbClr val="D6F0E3"/>
                    </a:solidFill>
                  </a:tcPr>
                </a:tc>
                <a:extLst>
                  <a:ext uri="{0D108BD9-81ED-4DB2-BD59-A6C34878D82A}">
                    <a16:rowId xmlns:a16="http://schemas.microsoft.com/office/drawing/2014/main" val="10002"/>
                  </a:ext>
                </a:extLst>
              </a:tr>
              <a:tr h="420624">
                <a:tc>
                  <a:txBody>
                    <a:bodyPr/>
                    <a:lstStyle/>
                    <a:p>
                      <a:pPr marL="0" indent="0">
                        <a:buNone/>
                      </a:pPr>
                      <a:r>
                        <a:rPr lang="en-US" sz="1200" b="1" dirty="0">
                          <a:solidFill>
                            <a:srgbClr val="13262F"/>
                          </a:solidFill>
                        </a:rPr>
                        <a:t>Header repair</a:t>
                      </a:r>
                      <a:endParaRPr lang="en-US" sz="1200" dirty="0"/>
                    </a:p>
                  </a:txBody>
                  <a:tcPr marL="54864" marR="54864" marT="54864" marB="54864" anchor="ctr">
                    <a:lnL w="9525" cap="flat" cmpd="sng" algn="ctr">
                      <a:solidFill>
                        <a:srgbClr val="BFD3D6"/>
                      </a:solidFill>
                      <a:prstDash val="solid"/>
                      <a:round/>
                      <a:headEnd type="none" w="med" len="med"/>
                      <a:tailEnd type="none" w="med" len="med"/>
                    </a:lnL>
                    <a:lnR w="9525" cap="flat" cmpd="sng" algn="ctr">
                      <a:solidFill>
                        <a:srgbClr val="BFD3D6"/>
                      </a:solidFill>
                      <a:prstDash val="solid"/>
                      <a:round/>
                      <a:headEnd type="none" w="med" len="med"/>
                      <a:tailEnd type="none" w="med" len="med"/>
                    </a:lnR>
                    <a:lnT w="9525" cap="flat" cmpd="sng" algn="ctr">
                      <a:solidFill>
                        <a:srgbClr val="BFD3D6"/>
                      </a:solidFill>
                      <a:prstDash val="solid"/>
                      <a:round/>
                      <a:headEnd type="none" w="med" len="med"/>
                      <a:tailEnd type="none" w="med" len="med"/>
                    </a:lnT>
                    <a:lnB w="9525" cap="flat" cmpd="sng" algn="ctr">
                      <a:solidFill>
                        <a:srgbClr val="BFD3D6"/>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8A5200"/>
                          </a:solidFill>
                        </a:rPr>
                        <a:t>Partial</a:t>
                      </a:r>
                      <a:endParaRPr lang="en-US" sz="1200" dirty="0"/>
                    </a:p>
                  </a:txBody>
                  <a:tcPr marL="54864" marR="54864" marT="54864" marB="54864" anchor="ctr">
                    <a:lnL w="9525" cap="flat" cmpd="sng" algn="ctr">
                      <a:solidFill>
                        <a:srgbClr val="BFD3D6"/>
                      </a:solidFill>
                      <a:prstDash val="solid"/>
                      <a:round/>
                      <a:headEnd type="none" w="med" len="med"/>
                      <a:tailEnd type="none" w="med" len="med"/>
                    </a:lnL>
                    <a:lnR w="9525" cap="flat" cmpd="sng" algn="ctr">
                      <a:solidFill>
                        <a:srgbClr val="BFD3D6"/>
                      </a:solidFill>
                      <a:prstDash val="solid"/>
                      <a:round/>
                      <a:headEnd type="none" w="med" len="med"/>
                      <a:tailEnd type="none" w="med" len="med"/>
                    </a:lnR>
                    <a:lnT w="9525" cap="flat" cmpd="sng" algn="ctr">
                      <a:solidFill>
                        <a:srgbClr val="BFD3D6"/>
                      </a:solidFill>
                      <a:prstDash val="solid"/>
                      <a:round/>
                      <a:headEnd type="none" w="med" len="med"/>
                      <a:tailEnd type="none" w="med" len="med"/>
                    </a:lnT>
                    <a:lnB w="9525" cap="flat" cmpd="sng" algn="ctr">
                      <a:solidFill>
                        <a:srgbClr val="BFD3D6"/>
                      </a:solidFill>
                      <a:prstDash val="solid"/>
                      <a:round/>
                      <a:headEnd type="none" w="med" len="med"/>
                      <a:tailEnd type="none" w="med" len="med"/>
                    </a:lnB>
                    <a:solidFill>
                      <a:srgbClr val="FCE9CC"/>
                    </a:solidFill>
                  </a:tcPr>
                </a:tc>
                <a:tc>
                  <a:txBody>
                    <a:bodyPr/>
                    <a:lstStyle/>
                    <a:p>
                      <a:pPr marL="0" indent="0" algn="ctr">
                        <a:buNone/>
                      </a:pPr>
                      <a:r>
                        <a:rPr lang="en-US" sz="1200" b="1" dirty="0">
                          <a:solidFill>
                            <a:srgbClr val="8A5200"/>
                          </a:solidFill>
                        </a:rPr>
                        <a:t>Partial</a:t>
                      </a:r>
                      <a:endParaRPr lang="en-US" sz="1200" dirty="0"/>
                    </a:p>
                  </a:txBody>
                  <a:tcPr marL="54864" marR="54864" marT="54864" marB="54864" anchor="ctr">
                    <a:lnL w="9525" cap="flat" cmpd="sng" algn="ctr">
                      <a:solidFill>
                        <a:srgbClr val="BFD3D6"/>
                      </a:solidFill>
                      <a:prstDash val="solid"/>
                      <a:round/>
                      <a:headEnd type="none" w="med" len="med"/>
                      <a:tailEnd type="none" w="med" len="med"/>
                    </a:lnL>
                    <a:lnR w="9525" cap="flat" cmpd="sng" algn="ctr">
                      <a:solidFill>
                        <a:srgbClr val="BFD3D6"/>
                      </a:solidFill>
                      <a:prstDash val="solid"/>
                      <a:round/>
                      <a:headEnd type="none" w="med" len="med"/>
                      <a:tailEnd type="none" w="med" len="med"/>
                    </a:lnR>
                    <a:lnT w="9525" cap="flat" cmpd="sng" algn="ctr">
                      <a:solidFill>
                        <a:srgbClr val="BFD3D6"/>
                      </a:solidFill>
                      <a:prstDash val="solid"/>
                      <a:round/>
                      <a:headEnd type="none" w="med" len="med"/>
                      <a:tailEnd type="none" w="med" len="med"/>
                    </a:lnT>
                    <a:lnB w="9525" cap="flat" cmpd="sng" algn="ctr">
                      <a:solidFill>
                        <a:srgbClr val="BFD3D6"/>
                      </a:solidFill>
                      <a:prstDash val="solid"/>
                      <a:round/>
                      <a:headEnd type="none" w="med" len="med"/>
                      <a:tailEnd type="none" w="med" len="med"/>
                    </a:lnB>
                    <a:solidFill>
                      <a:srgbClr val="FCE9CC"/>
                    </a:solidFill>
                  </a:tcPr>
                </a:tc>
                <a:tc>
                  <a:txBody>
                    <a:bodyPr/>
                    <a:lstStyle/>
                    <a:p>
                      <a:pPr marL="0" indent="0" algn="ctr">
                        <a:buNone/>
                      </a:pPr>
                      <a:r>
                        <a:rPr lang="en-US" sz="1200" b="1" dirty="0">
                          <a:solidFill>
                            <a:srgbClr val="A12A35"/>
                          </a:solidFill>
                        </a:rPr>
                        <a:t>No</a:t>
                      </a:r>
                      <a:endParaRPr lang="en-US" sz="1200" dirty="0"/>
                    </a:p>
                  </a:txBody>
                  <a:tcPr marL="54864" marR="54864" marT="54864" marB="54864" anchor="ctr">
                    <a:lnL w="9525" cap="flat" cmpd="sng" algn="ctr">
                      <a:solidFill>
                        <a:srgbClr val="BFD3D6"/>
                      </a:solidFill>
                      <a:prstDash val="solid"/>
                      <a:round/>
                      <a:headEnd type="none" w="med" len="med"/>
                      <a:tailEnd type="none" w="med" len="med"/>
                    </a:lnL>
                    <a:lnR w="9525" cap="flat" cmpd="sng" algn="ctr">
                      <a:solidFill>
                        <a:srgbClr val="BFD3D6"/>
                      </a:solidFill>
                      <a:prstDash val="solid"/>
                      <a:round/>
                      <a:headEnd type="none" w="med" len="med"/>
                      <a:tailEnd type="none" w="med" len="med"/>
                    </a:lnR>
                    <a:lnT w="9525" cap="flat" cmpd="sng" algn="ctr">
                      <a:solidFill>
                        <a:srgbClr val="BFD3D6"/>
                      </a:solidFill>
                      <a:prstDash val="solid"/>
                      <a:round/>
                      <a:headEnd type="none" w="med" len="med"/>
                      <a:tailEnd type="none" w="med" len="med"/>
                    </a:lnT>
                    <a:lnB w="9525" cap="flat" cmpd="sng" algn="ctr">
                      <a:solidFill>
                        <a:srgbClr val="BFD3D6"/>
                      </a:solidFill>
                      <a:prstDash val="solid"/>
                      <a:round/>
                      <a:headEnd type="none" w="med" len="med"/>
                      <a:tailEnd type="none" w="med" len="med"/>
                    </a:lnB>
                    <a:solidFill>
                      <a:srgbClr val="F9D9DC"/>
                    </a:solidFill>
                  </a:tcPr>
                </a:tc>
                <a:tc>
                  <a:txBody>
                    <a:bodyPr/>
                    <a:lstStyle/>
                    <a:p>
                      <a:pPr marL="0" indent="0" algn="ctr">
                        <a:buNone/>
                      </a:pPr>
                      <a:r>
                        <a:rPr lang="en-US" sz="1200" b="1" dirty="0">
                          <a:solidFill>
                            <a:srgbClr val="1E7A4C"/>
                          </a:solidFill>
                        </a:rPr>
                        <a:t>Yes</a:t>
                      </a:r>
                      <a:endParaRPr lang="en-US" sz="1200" dirty="0"/>
                    </a:p>
                  </a:txBody>
                  <a:tcPr marL="54864" marR="54864" marT="54864" marB="54864" anchor="ctr">
                    <a:lnL w="9525" cap="flat" cmpd="sng" algn="ctr">
                      <a:solidFill>
                        <a:srgbClr val="BFD3D6"/>
                      </a:solidFill>
                      <a:prstDash val="solid"/>
                      <a:round/>
                      <a:headEnd type="none" w="med" len="med"/>
                      <a:tailEnd type="none" w="med" len="med"/>
                    </a:lnL>
                    <a:lnR w="9525" cap="flat" cmpd="sng" algn="ctr">
                      <a:solidFill>
                        <a:srgbClr val="BFD3D6"/>
                      </a:solidFill>
                      <a:prstDash val="solid"/>
                      <a:round/>
                      <a:headEnd type="none" w="med" len="med"/>
                      <a:tailEnd type="none" w="med" len="med"/>
                    </a:lnR>
                    <a:lnT w="9525" cap="flat" cmpd="sng" algn="ctr">
                      <a:solidFill>
                        <a:srgbClr val="BFD3D6"/>
                      </a:solidFill>
                      <a:prstDash val="solid"/>
                      <a:round/>
                      <a:headEnd type="none" w="med" len="med"/>
                      <a:tailEnd type="none" w="med" len="med"/>
                    </a:lnT>
                    <a:lnB w="9525" cap="flat" cmpd="sng" algn="ctr">
                      <a:solidFill>
                        <a:srgbClr val="BFD3D6"/>
                      </a:solidFill>
                      <a:prstDash val="solid"/>
                      <a:round/>
                      <a:headEnd type="none" w="med" len="med"/>
                      <a:tailEnd type="none" w="med" len="med"/>
                    </a:lnB>
                    <a:solidFill>
                      <a:srgbClr val="D6F0E3"/>
                    </a:solidFill>
                  </a:tcPr>
                </a:tc>
                <a:extLst>
                  <a:ext uri="{0D108BD9-81ED-4DB2-BD59-A6C34878D82A}">
                    <a16:rowId xmlns:a16="http://schemas.microsoft.com/office/drawing/2014/main" val="10003"/>
                  </a:ext>
                </a:extLst>
              </a:tr>
              <a:tr h="420624">
                <a:tc>
                  <a:txBody>
                    <a:bodyPr/>
                    <a:lstStyle/>
                    <a:p>
                      <a:pPr marL="0" indent="0">
                        <a:buNone/>
                      </a:pPr>
                      <a:r>
                        <a:rPr lang="en-US" sz="1200" b="1" dirty="0">
                          <a:solidFill>
                            <a:srgbClr val="13262F"/>
                          </a:solidFill>
                        </a:rPr>
                        <a:t>Outlier flagging (box plots)</a:t>
                      </a:r>
                      <a:endParaRPr lang="en-US" sz="1200" dirty="0"/>
                    </a:p>
                  </a:txBody>
                  <a:tcPr marL="54864" marR="54864" marT="54864" marB="54864" anchor="ctr">
                    <a:lnL w="9525" cap="flat" cmpd="sng" algn="ctr">
                      <a:solidFill>
                        <a:srgbClr val="BFD3D6"/>
                      </a:solidFill>
                      <a:prstDash val="solid"/>
                      <a:round/>
                      <a:headEnd type="none" w="med" len="med"/>
                      <a:tailEnd type="none" w="med" len="med"/>
                    </a:lnL>
                    <a:lnR w="9525" cap="flat" cmpd="sng" algn="ctr">
                      <a:solidFill>
                        <a:srgbClr val="BFD3D6"/>
                      </a:solidFill>
                      <a:prstDash val="solid"/>
                      <a:round/>
                      <a:headEnd type="none" w="med" len="med"/>
                      <a:tailEnd type="none" w="med" len="med"/>
                    </a:lnR>
                    <a:lnT w="9525" cap="flat" cmpd="sng" algn="ctr">
                      <a:solidFill>
                        <a:srgbClr val="BFD3D6"/>
                      </a:solidFill>
                      <a:prstDash val="solid"/>
                      <a:round/>
                      <a:headEnd type="none" w="med" len="med"/>
                      <a:tailEnd type="none" w="med" len="med"/>
                    </a:lnT>
                    <a:lnB w="9525" cap="flat" cmpd="sng" algn="ctr">
                      <a:solidFill>
                        <a:srgbClr val="BFD3D6"/>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8A5200"/>
                          </a:solidFill>
                        </a:rPr>
                        <a:t>Partial</a:t>
                      </a:r>
                      <a:endParaRPr lang="en-US" sz="1200" dirty="0"/>
                    </a:p>
                  </a:txBody>
                  <a:tcPr marL="54864" marR="54864" marT="54864" marB="54864" anchor="ctr">
                    <a:lnL w="9525" cap="flat" cmpd="sng" algn="ctr">
                      <a:solidFill>
                        <a:srgbClr val="BFD3D6"/>
                      </a:solidFill>
                      <a:prstDash val="solid"/>
                      <a:round/>
                      <a:headEnd type="none" w="med" len="med"/>
                      <a:tailEnd type="none" w="med" len="med"/>
                    </a:lnL>
                    <a:lnR w="9525" cap="flat" cmpd="sng" algn="ctr">
                      <a:solidFill>
                        <a:srgbClr val="BFD3D6"/>
                      </a:solidFill>
                      <a:prstDash val="solid"/>
                      <a:round/>
                      <a:headEnd type="none" w="med" len="med"/>
                      <a:tailEnd type="none" w="med" len="med"/>
                    </a:lnR>
                    <a:lnT w="9525" cap="flat" cmpd="sng" algn="ctr">
                      <a:solidFill>
                        <a:srgbClr val="BFD3D6"/>
                      </a:solidFill>
                      <a:prstDash val="solid"/>
                      <a:round/>
                      <a:headEnd type="none" w="med" len="med"/>
                      <a:tailEnd type="none" w="med" len="med"/>
                    </a:lnT>
                    <a:lnB w="9525" cap="flat" cmpd="sng" algn="ctr">
                      <a:solidFill>
                        <a:srgbClr val="BFD3D6"/>
                      </a:solidFill>
                      <a:prstDash val="solid"/>
                      <a:round/>
                      <a:headEnd type="none" w="med" len="med"/>
                      <a:tailEnd type="none" w="med" len="med"/>
                    </a:lnB>
                    <a:solidFill>
                      <a:srgbClr val="FCE9CC"/>
                    </a:solidFill>
                  </a:tcPr>
                </a:tc>
                <a:tc>
                  <a:txBody>
                    <a:bodyPr/>
                    <a:lstStyle/>
                    <a:p>
                      <a:pPr marL="0" indent="0" algn="ctr">
                        <a:buNone/>
                      </a:pPr>
                      <a:r>
                        <a:rPr lang="en-US" sz="1200" b="1" dirty="0">
                          <a:solidFill>
                            <a:srgbClr val="8A5200"/>
                          </a:solidFill>
                        </a:rPr>
                        <a:t>Partial</a:t>
                      </a:r>
                      <a:endParaRPr lang="en-US" sz="1200" dirty="0"/>
                    </a:p>
                  </a:txBody>
                  <a:tcPr marL="54864" marR="54864" marT="54864" marB="54864" anchor="ctr">
                    <a:lnL w="9525" cap="flat" cmpd="sng" algn="ctr">
                      <a:solidFill>
                        <a:srgbClr val="BFD3D6"/>
                      </a:solidFill>
                      <a:prstDash val="solid"/>
                      <a:round/>
                      <a:headEnd type="none" w="med" len="med"/>
                      <a:tailEnd type="none" w="med" len="med"/>
                    </a:lnL>
                    <a:lnR w="9525" cap="flat" cmpd="sng" algn="ctr">
                      <a:solidFill>
                        <a:srgbClr val="BFD3D6"/>
                      </a:solidFill>
                      <a:prstDash val="solid"/>
                      <a:round/>
                      <a:headEnd type="none" w="med" len="med"/>
                      <a:tailEnd type="none" w="med" len="med"/>
                    </a:lnR>
                    <a:lnT w="9525" cap="flat" cmpd="sng" algn="ctr">
                      <a:solidFill>
                        <a:srgbClr val="BFD3D6"/>
                      </a:solidFill>
                      <a:prstDash val="solid"/>
                      <a:round/>
                      <a:headEnd type="none" w="med" len="med"/>
                      <a:tailEnd type="none" w="med" len="med"/>
                    </a:lnT>
                    <a:lnB w="9525" cap="flat" cmpd="sng" algn="ctr">
                      <a:solidFill>
                        <a:srgbClr val="BFD3D6"/>
                      </a:solidFill>
                      <a:prstDash val="solid"/>
                      <a:round/>
                      <a:headEnd type="none" w="med" len="med"/>
                      <a:tailEnd type="none" w="med" len="med"/>
                    </a:lnB>
                    <a:solidFill>
                      <a:srgbClr val="FCE9CC"/>
                    </a:solidFill>
                  </a:tcPr>
                </a:tc>
                <a:tc>
                  <a:txBody>
                    <a:bodyPr/>
                    <a:lstStyle/>
                    <a:p>
                      <a:pPr marL="0" indent="0" algn="ctr">
                        <a:buNone/>
                      </a:pPr>
                      <a:r>
                        <a:rPr lang="en-US" sz="1200" b="1" dirty="0">
                          <a:solidFill>
                            <a:srgbClr val="8A5200"/>
                          </a:solidFill>
                        </a:rPr>
                        <a:t>Partial</a:t>
                      </a:r>
                      <a:endParaRPr lang="en-US" sz="1200" dirty="0"/>
                    </a:p>
                  </a:txBody>
                  <a:tcPr marL="54864" marR="54864" marT="54864" marB="54864" anchor="ctr">
                    <a:lnL w="9525" cap="flat" cmpd="sng" algn="ctr">
                      <a:solidFill>
                        <a:srgbClr val="BFD3D6"/>
                      </a:solidFill>
                      <a:prstDash val="solid"/>
                      <a:round/>
                      <a:headEnd type="none" w="med" len="med"/>
                      <a:tailEnd type="none" w="med" len="med"/>
                    </a:lnL>
                    <a:lnR w="9525" cap="flat" cmpd="sng" algn="ctr">
                      <a:solidFill>
                        <a:srgbClr val="BFD3D6"/>
                      </a:solidFill>
                      <a:prstDash val="solid"/>
                      <a:round/>
                      <a:headEnd type="none" w="med" len="med"/>
                      <a:tailEnd type="none" w="med" len="med"/>
                    </a:lnR>
                    <a:lnT w="9525" cap="flat" cmpd="sng" algn="ctr">
                      <a:solidFill>
                        <a:srgbClr val="BFD3D6"/>
                      </a:solidFill>
                      <a:prstDash val="solid"/>
                      <a:round/>
                      <a:headEnd type="none" w="med" len="med"/>
                      <a:tailEnd type="none" w="med" len="med"/>
                    </a:lnT>
                    <a:lnB w="9525" cap="flat" cmpd="sng" algn="ctr">
                      <a:solidFill>
                        <a:srgbClr val="BFD3D6"/>
                      </a:solidFill>
                      <a:prstDash val="solid"/>
                      <a:round/>
                      <a:headEnd type="none" w="med" len="med"/>
                      <a:tailEnd type="none" w="med" len="med"/>
                    </a:lnB>
                    <a:solidFill>
                      <a:srgbClr val="FCE9CC"/>
                    </a:solidFill>
                  </a:tcPr>
                </a:tc>
                <a:tc>
                  <a:txBody>
                    <a:bodyPr/>
                    <a:lstStyle/>
                    <a:p>
                      <a:pPr marL="0" indent="0" algn="ctr">
                        <a:buNone/>
                      </a:pPr>
                      <a:r>
                        <a:rPr lang="en-US" sz="1200" b="1" dirty="0">
                          <a:solidFill>
                            <a:srgbClr val="1E7A4C"/>
                          </a:solidFill>
                        </a:rPr>
                        <a:t>Yes</a:t>
                      </a:r>
                      <a:endParaRPr lang="en-US" sz="1200" dirty="0"/>
                    </a:p>
                  </a:txBody>
                  <a:tcPr marL="54864" marR="54864" marT="54864" marB="54864" anchor="ctr">
                    <a:lnL w="9525" cap="flat" cmpd="sng" algn="ctr">
                      <a:solidFill>
                        <a:srgbClr val="BFD3D6"/>
                      </a:solidFill>
                      <a:prstDash val="solid"/>
                      <a:round/>
                      <a:headEnd type="none" w="med" len="med"/>
                      <a:tailEnd type="none" w="med" len="med"/>
                    </a:lnL>
                    <a:lnR w="9525" cap="flat" cmpd="sng" algn="ctr">
                      <a:solidFill>
                        <a:srgbClr val="BFD3D6"/>
                      </a:solidFill>
                      <a:prstDash val="solid"/>
                      <a:round/>
                      <a:headEnd type="none" w="med" len="med"/>
                      <a:tailEnd type="none" w="med" len="med"/>
                    </a:lnR>
                    <a:lnT w="9525" cap="flat" cmpd="sng" algn="ctr">
                      <a:solidFill>
                        <a:srgbClr val="BFD3D6"/>
                      </a:solidFill>
                      <a:prstDash val="solid"/>
                      <a:round/>
                      <a:headEnd type="none" w="med" len="med"/>
                      <a:tailEnd type="none" w="med" len="med"/>
                    </a:lnT>
                    <a:lnB w="9525" cap="flat" cmpd="sng" algn="ctr">
                      <a:solidFill>
                        <a:srgbClr val="BFD3D6"/>
                      </a:solidFill>
                      <a:prstDash val="solid"/>
                      <a:round/>
                      <a:headEnd type="none" w="med" len="med"/>
                      <a:tailEnd type="none" w="med" len="med"/>
                    </a:lnB>
                    <a:solidFill>
                      <a:srgbClr val="D6F0E3"/>
                    </a:solidFill>
                  </a:tcPr>
                </a:tc>
                <a:extLst>
                  <a:ext uri="{0D108BD9-81ED-4DB2-BD59-A6C34878D82A}">
                    <a16:rowId xmlns:a16="http://schemas.microsoft.com/office/drawing/2014/main" val="10004"/>
                  </a:ext>
                </a:extLst>
              </a:tr>
              <a:tr h="420624">
                <a:tc>
                  <a:txBody>
                    <a:bodyPr/>
                    <a:lstStyle/>
                    <a:p>
                      <a:pPr marL="0" indent="0">
                        <a:buNone/>
                      </a:pPr>
                      <a:r>
                        <a:rPr lang="en-US" sz="1200" b="1" dirty="0">
                          <a:solidFill>
                            <a:srgbClr val="13262F"/>
                          </a:solidFill>
                        </a:rPr>
                        <a:t>Missing-value imputation</a:t>
                      </a:r>
                      <a:endParaRPr lang="en-US" sz="1200" dirty="0"/>
                    </a:p>
                  </a:txBody>
                  <a:tcPr marL="54864" marR="54864" marT="54864" marB="54864" anchor="ctr">
                    <a:lnL w="9525" cap="flat" cmpd="sng" algn="ctr">
                      <a:solidFill>
                        <a:srgbClr val="BFD3D6"/>
                      </a:solidFill>
                      <a:prstDash val="solid"/>
                      <a:round/>
                      <a:headEnd type="none" w="med" len="med"/>
                      <a:tailEnd type="none" w="med" len="med"/>
                    </a:lnL>
                    <a:lnR w="9525" cap="flat" cmpd="sng" algn="ctr">
                      <a:solidFill>
                        <a:srgbClr val="BFD3D6"/>
                      </a:solidFill>
                      <a:prstDash val="solid"/>
                      <a:round/>
                      <a:headEnd type="none" w="med" len="med"/>
                      <a:tailEnd type="none" w="med" len="med"/>
                    </a:lnR>
                    <a:lnT w="9525" cap="flat" cmpd="sng" algn="ctr">
                      <a:solidFill>
                        <a:srgbClr val="BFD3D6"/>
                      </a:solidFill>
                      <a:prstDash val="solid"/>
                      <a:round/>
                      <a:headEnd type="none" w="med" len="med"/>
                      <a:tailEnd type="none" w="med" len="med"/>
                    </a:lnT>
                    <a:lnB w="9525" cap="flat" cmpd="sng" algn="ctr">
                      <a:solidFill>
                        <a:srgbClr val="BFD3D6"/>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8A5200"/>
                          </a:solidFill>
                        </a:rPr>
                        <a:t>Partial</a:t>
                      </a:r>
                      <a:endParaRPr lang="en-US" sz="1200" dirty="0"/>
                    </a:p>
                  </a:txBody>
                  <a:tcPr marL="54864" marR="54864" marT="54864" marB="54864" anchor="ctr">
                    <a:lnL w="9525" cap="flat" cmpd="sng" algn="ctr">
                      <a:solidFill>
                        <a:srgbClr val="BFD3D6"/>
                      </a:solidFill>
                      <a:prstDash val="solid"/>
                      <a:round/>
                      <a:headEnd type="none" w="med" len="med"/>
                      <a:tailEnd type="none" w="med" len="med"/>
                    </a:lnL>
                    <a:lnR w="9525" cap="flat" cmpd="sng" algn="ctr">
                      <a:solidFill>
                        <a:srgbClr val="BFD3D6"/>
                      </a:solidFill>
                      <a:prstDash val="solid"/>
                      <a:round/>
                      <a:headEnd type="none" w="med" len="med"/>
                      <a:tailEnd type="none" w="med" len="med"/>
                    </a:lnR>
                    <a:lnT w="9525" cap="flat" cmpd="sng" algn="ctr">
                      <a:solidFill>
                        <a:srgbClr val="BFD3D6"/>
                      </a:solidFill>
                      <a:prstDash val="solid"/>
                      <a:round/>
                      <a:headEnd type="none" w="med" len="med"/>
                      <a:tailEnd type="none" w="med" len="med"/>
                    </a:lnT>
                    <a:lnB w="9525" cap="flat" cmpd="sng" algn="ctr">
                      <a:solidFill>
                        <a:srgbClr val="BFD3D6"/>
                      </a:solidFill>
                      <a:prstDash val="solid"/>
                      <a:round/>
                      <a:headEnd type="none" w="med" len="med"/>
                      <a:tailEnd type="none" w="med" len="med"/>
                    </a:lnB>
                    <a:solidFill>
                      <a:srgbClr val="FCE9CC"/>
                    </a:solidFill>
                  </a:tcPr>
                </a:tc>
                <a:tc>
                  <a:txBody>
                    <a:bodyPr/>
                    <a:lstStyle/>
                    <a:p>
                      <a:pPr marL="0" indent="0" algn="ctr">
                        <a:buNone/>
                      </a:pPr>
                      <a:r>
                        <a:rPr lang="en-US" sz="1200" b="1" dirty="0">
                          <a:solidFill>
                            <a:srgbClr val="8A5200"/>
                          </a:solidFill>
                        </a:rPr>
                        <a:t>Partial</a:t>
                      </a:r>
                      <a:endParaRPr lang="en-US" sz="1200" dirty="0"/>
                    </a:p>
                  </a:txBody>
                  <a:tcPr marL="54864" marR="54864" marT="54864" marB="54864" anchor="ctr">
                    <a:lnL w="9525" cap="flat" cmpd="sng" algn="ctr">
                      <a:solidFill>
                        <a:srgbClr val="BFD3D6"/>
                      </a:solidFill>
                      <a:prstDash val="solid"/>
                      <a:round/>
                      <a:headEnd type="none" w="med" len="med"/>
                      <a:tailEnd type="none" w="med" len="med"/>
                    </a:lnL>
                    <a:lnR w="9525" cap="flat" cmpd="sng" algn="ctr">
                      <a:solidFill>
                        <a:srgbClr val="BFD3D6"/>
                      </a:solidFill>
                      <a:prstDash val="solid"/>
                      <a:round/>
                      <a:headEnd type="none" w="med" len="med"/>
                      <a:tailEnd type="none" w="med" len="med"/>
                    </a:lnR>
                    <a:lnT w="9525" cap="flat" cmpd="sng" algn="ctr">
                      <a:solidFill>
                        <a:srgbClr val="BFD3D6"/>
                      </a:solidFill>
                      <a:prstDash val="solid"/>
                      <a:round/>
                      <a:headEnd type="none" w="med" len="med"/>
                      <a:tailEnd type="none" w="med" len="med"/>
                    </a:lnT>
                    <a:lnB w="9525" cap="flat" cmpd="sng" algn="ctr">
                      <a:solidFill>
                        <a:srgbClr val="BFD3D6"/>
                      </a:solidFill>
                      <a:prstDash val="solid"/>
                      <a:round/>
                      <a:headEnd type="none" w="med" len="med"/>
                      <a:tailEnd type="none" w="med" len="med"/>
                    </a:lnB>
                    <a:solidFill>
                      <a:srgbClr val="FCE9CC"/>
                    </a:solidFill>
                  </a:tcPr>
                </a:tc>
                <a:tc>
                  <a:txBody>
                    <a:bodyPr/>
                    <a:lstStyle/>
                    <a:p>
                      <a:pPr marL="0" indent="0" algn="ctr">
                        <a:buNone/>
                      </a:pPr>
                      <a:r>
                        <a:rPr lang="en-US" sz="1200" b="1" dirty="0">
                          <a:solidFill>
                            <a:srgbClr val="A12A35"/>
                          </a:solidFill>
                        </a:rPr>
                        <a:t>No</a:t>
                      </a:r>
                      <a:endParaRPr lang="en-US" sz="1200" dirty="0"/>
                    </a:p>
                  </a:txBody>
                  <a:tcPr marL="54864" marR="54864" marT="54864" marB="54864" anchor="ctr">
                    <a:lnL w="9525" cap="flat" cmpd="sng" algn="ctr">
                      <a:solidFill>
                        <a:srgbClr val="BFD3D6"/>
                      </a:solidFill>
                      <a:prstDash val="solid"/>
                      <a:round/>
                      <a:headEnd type="none" w="med" len="med"/>
                      <a:tailEnd type="none" w="med" len="med"/>
                    </a:lnL>
                    <a:lnR w="9525" cap="flat" cmpd="sng" algn="ctr">
                      <a:solidFill>
                        <a:srgbClr val="BFD3D6"/>
                      </a:solidFill>
                      <a:prstDash val="solid"/>
                      <a:round/>
                      <a:headEnd type="none" w="med" len="med"/>
                      <a:tailEnd type="none" w="med" len="med"/>
                    </a:lnR>
                    <a:lnT w="9525" cap="flat" cmpd="sng" algn="ctr">
                      <a:solidFill>
                        <a:srgbClr val="BFD3D6"/>
                      </a:solidFill>
                      <a:prstDash val="solid"/>
                      <a:round/>
                      <a:headEnd type="none" w="med" len="med"/>
                      <a:tailEnd type="none" w="med" len="med"/>
                    </a:lnT>
                    <a:lnB w="9525" cap="flat" cmpd="sng" algn="ctr">
                      <a:solidFill>
                        <a:srgbClr val="BFD3D6"/>
                      </a:solidFill>
                      <a:prstDash val="solid"/>
                      <a:round/>
                      <a:headEnd type="none" w="med" len="med"/>
                      <a:tailEnd type="none" w="med" len="med"/>
                    </a:lnB>
                    <a:solidFill>
                      <a:srgbClr val="F9D9DC"/>
                    </a:solidFill>
                  </a:tcPr>
                </a:tc>
                <a:tc>
                  <a:txBody>
                    <a:bodyPr/>
                    <a:lstStyle/>
                    <a:p>
                      <a:pPr marL="0" indent="0" algn="ctr">
                        <a:buNone/>
                      </a:pPr>
                      <a:r>
                        <a:rPr lang="en-US" sz="1200" b="1" dirty="0">
                          <a:solidFill>
                            <a:srgbClr val="1E7A4C"/>
                          </a:solidFill>
                        </a:rPr>
                        <a:t>Yes</a:t>
                      </a:r>
                      <a:endParaRPr lang="en-US" sz="1200" dirty="0"/>
                    </a:p>
                  </a:txBody>
                  <a:tcPr marL="54864" marR="54864" marT="54864" marB="54864" anchor="ctr">
                    <a:lnL w="9525" cap="flat" cmpd="sng" algn="ctr">
                      <a:solidFill>
                        <a:srgbClr val="BFD3D6"/>
                      </a:solidFill>
                      <a:prstDash val="solid"/>
                      <a:round/>
                      <a:headEnd type="none" w="med" len="med"/>
                      <a:tailEnd type="none" w="med" len="med"/>
                    </a:lnL>
                    <a:lnR w="9525" cap="flat" cmpd="sng" algn="ctr">
                      <a:solidFill>
                        <a:srgbClr val="BFD3D6"/>
                      </a:solidFill>
                      <a:prstDash val="solid"/>
                      <a:round/>
                      <a:headEnd type="none" w="med" len="med"/>
                      <a:tailEnd type="none" w="med" len="med"/>
                    </a:lnR>
                    <a:lnT w="9525" cap="flat" cmpd="sng" algn="ctr">
                      <a:solidFill>
                        <a:srgbClr val="BFD3D6"/>
                      </a:solidFill>
                      <a:prstDash val="solid"/>
                      <a:round/>
                      <a:headEnd type="none" w="med" len="med"/>
                      <a:tailEnd type="none" w="med" len="med"/>
                    </a:lnT>
                    <a:lnB w="9525" cap="flat" cmpd="sng" algn="ctr">
                      <a:solidFill>
                        <a:srgbClr val="BFD3D6"/>
                      </a:solidFill>
                      <a:prstDash val="solid"/>
                      <a:round/>
                      <a:headEnd type="none" w="med" len="med"/>
                      <a:tailEnd type="none" w="med" len="med"/>
                    </a:lnB>
                    <a:solidFill>
                      <a:srgbClr val="D6F0E3"/>
                    </a:solidFill>
                  </a:tcPr>
                </a:tc>
                <a:extLst>
                  <a:ext uri="{0D108BD9-81ED-4DB2-BD59-A6C34878D82A}">
                    <a16:rowId xmlns:a16="http://schemas.microsoft.com/office/drawing/2014/main" val="10005"/>
                  </a:ext>
                </a:extLst>
              </a:tr>
              <a:tr h="420624">
                <a:tc>
                  <a:txBody>
                    <a:bodyPr/>
                    <a:lstStyle/>
                    <a:p>
                      <a:pPr marL="0" indent="0">
                        <a:buNone/>
                      </a:pPr>
                      <a:r>
                        <a:rPr lang="en-US" sz="1200" b="1" dirty="0">
                          <a:solidFill>
                            <a:srgbClr val="13262F"/>
                          </a:solidFill>
                        </a:rPr>
                        <a:t>Clean dataset export</a:t>
                      </a:r>
                      <a:endParaRPr lang="en-US" sz="1200" dirty="0"/>
                    </a:p>
                  </a:txBody>
                  <a:tcPr marL="54864" marR="54864" marT="54864" marB="54864" anchor="ctr">
                    <a:lnL w="9525" cap="flat" cmpd="sng" algn="ctr">
                      <a:solidFill>
                        <a:srgbClr val="BFD3D6"/>
                      </a:solidFill>
                      <a:prstDash val="solid"/>
                      <a:round/>
                      <a:headEnd type="none" w="med" len="med"/>
                      <a:tailEnd type="none" w="med" len="med"/>
                    </a:lnL>
                    <a:lnR w="9525" cap="flat" cmpd="sng" algn="ctr">
                      <a:solidFill>
                        <a:srgbClr val="BFD3D6"/>
                      </a:solidFill>
                      <a:prstDash val="solid"/>
                      <a:round/>
                      <a:headEnd type="none" w="med" len="med"/>
                      <a:tailEnd type="none" w="med" len="med"/>
                    </a:lnR>
                    <a:lnT w="9525" cap="flat" cmpd="sng" algn="ctr">
                      <a:solidFill>
                        <a:srgbClr val="BFD3D6"/>
                      </a:solidFill>
                      <a:prstDash val="solid"/>
                      <a:round/>
                      <a:headEnd type="none" w="med" len="med"/>
                      <a:tailEnd type="none" w="med" len="med"/>
                    </a:lnT>
                    <a:lnB w="9525" cap="flat" cmpd="sng" algn="ctr">
                      <a:solidFill>
                        <a:srgbClr val="BFD3D6"/>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1E7A4C"/>
                          </a:solidFill>
                        </a:rPr>
                        <a:t>Yes</a:t>
                      </a:r>
                      <a:endParaRPr lang="en-US" sz="1200" dirty="0"/>
                    </a:p>
                  </a:txBody>
                  <a:tcPr marL="54864" marR="54864" marT="54864" marB="54864" anchor="ctr">
                    <a:lnL w="9525" cap="flat" cmpd="sng" algn="ctr">
                      <a:solidFill>
                        <a:srgbClr val="BFD3D6"/>
                      </a:solidFill>
                      <a:prstDash val="solid"/>
                      <a:round/>
                      <a:headEnd type="none" w="med" len="med"/>
                      <a:tailEnd type="none" w="med" len="med"/>
                    </a:lnL>
                    <a:lnR w="9525" cap="flat" cmpd="sng" algn="ctr">
                      <a:solidFill>
                        <a:srgbClr val="BFD3D6"/>
                      </a:solidFill>
                      <a:prstDash val="solid"/>
                      <a:round/>
                      <a:headEnd type="none" w="med" len="med"/>
                      <a:tailEnd type="none" w="med" len="med"/>
                    </a:lnR>
                    <a:lnT w="9525" cap="flat" cmpd="sng" algn="ctr">
                      <a:solidFill>
                        <a:srgbClr val="BFD3D6"/>
                      </a:solidFill>
                      <a:prstDash val="solid"/>
                      <a:round/>
                      <a:headEnd type="none" w="med" len="med"/>
                      <a:tailEnd type="none" w="med" len="med"/>
                    </a:lnT>
                    <a:lnB w="9525" cap="flat" cmpd="sng" algn="ctr">
                      <a:solidFill>
                        <a:srgbClr val="BFD3D6"/>
                      </a:solidFill>
                      <a:prstDash val="solid"/>
                      <a:round/>
                      <a:headEnd type="none" w="med" len="med"/>
                      <a:tailEnd type="none" w="med" len="med"/>
                    </a:lnB>
                    <a:solidFill>
                      <a:srgbClr val="D6F0E3"/>
                    </a:solidFill>
                  </a:tcPr>
                </a:tc>
                <a:tc>
                  <a:txBody>
                    <a:bodyPr/>
                    <a:lstStyle/>
                    <a:p>
                      <a:pPr marL="0" indent="0" algn="ctr">
                        <a:buNone/>
                      </a:pPr>
                      <a:r>
                        <a:rPr lang="en-US" sz="1200" b="1" dirty="0">
                          <a:solidFill>
                            <a:srgbClr val="1E7A4C"/>
                          </a:solidFill>
                        </a:rPr>
                        <a:t>Yes</a:t>
                      </a:r>
                      <a:endParaRPr lang="en-US" sz="1200" dirty="0"/>
                    </a:p>
                  </a:txBody>
                  <a:tcPr marL="54864" marR="54864" marT="54864" marB="54864" anchor="ctr">
                    <a:lnL w="9525" cap="flat" cmpd="sng" algn="ctr">
                      <a:solidFill>
                        <a:srgbClr val="BFD3D6"/>
                      </a:solidFill>
                      <a:prstDash val="solid"/>
                      <a:round/>
                      <a:headEnd type="none" w="med" len="med"/>
                      <a:tailEnd type="none" w="med" len="med"/>
                    </a:lnL>
                    <a:lnR w="9525" cap="flat" cmpd="sng" algn="ctr">
                      <a:solidFill>
                        <a:srgbClr val="BFD3D6"/>
                      </a:solidFill>
                      <a:prstDash val="solid"/>
                      <a:round/>
                      <a:headEnd type="none" w="med" len="med"/>
                      <a:tailEnd type="none" w="med" len="med"/>
                    </a:lnR>
                    <a:lnT w="9525" cap="flat" cmpd="sng" algn="ctr">
                      <a:solidFill>
                        <a:srgbClr val="BFD3D6"/>
                      </a:solidFill>
                      <a:prstDash val="solid"/>
                      <a:round/>
                      <a:headEnd type="none" w="med" len="med"/>
                      <a:tailEnd type="none" w="med" len="med"/>
                    </a:lnT>
                    <a:lnB w="9525" cap="flat" cmpd="sng" algn="ctr">
                      <a:solidFill>
                        <a:srgbClr val="BFD3D6"/>
                      </a:solidFill>
                      <a:prstDash val="solid"/>
                      <a:round/>
                      <a:headEnd type="none" w="med" len="med"/>
                      <a:tailEnd type="none" w="med" len="med"/>
                    </a:lnB>
                    <a:solidFill>
                      <a:srgbClr val="D6F0E3"/>
                    </a:solidFill>
                  </a:tcPr>
                </a:tc>
                <a:tc>
                  <a:txBody>
                    <a:bodyPr/>
                    <a:lstStyle/>
                    <a:p>
                      <a:pPr marL="0" indent="0" algn="ctr">
                        <a:buNone/>
                      </a:pPr>
                      <a:r>
                        <a:rPr lang="en-US" sz="1200" b="1" dirty="0">
                          <a:solidFill>
                            <a:srgbClr val="A12A35"/>
                          </a:solidFill>
                        </a:rPr>
                        <a:t>No</a:t>
                      </a:r>
                      <a:endParaRPr lang="en-US" sz="1200" dirty="0"/>
                    </a:p>
                  </a:txBody>
                  <a:tcPr marL="54864" marR="54864" marT="54864" marB="54864" anchor="ctr">
                    <a:lnL w="9525" cap="flat" cmpd="sng" algn="ctr">
                      <a:solidFill>
                        <a:srgbClr val="BFD3D6"/>
                      </a:solidFill>
                      <a:prstDash val="solid"/>
                      <a:round/>
                      <a:headEnd type="none" w="med" len="med"/>
                      <a:tailEnd type="none" w="med" len="med"/>
                    </a:lnL>
                    <a:lnR w="9525" cap="flat" cmpd="sng" algn="ctr">
                      <a:solidFill>
                        <a:srgbClr val="BFD3D6"/>
                      </a:solidFill>
                      <a:prstDash val="solid"/>
                      <a:round/>
                      <a:headEnd type="none" w="med" len="med"/>
                      <a:tailEnd type="none" w="med" len="med"/>
                    </a:lnR>
                    <a:lnT w="9525" cap="flat" cmpd="sng" algn="ctr">
                      <a:solidFill>
                        <a:srgbClr val="BFD3D6"/>
                      </a:solidFill>
                      <a:prstDash val="solid"/>
                      <a:round/>
                      <a:headEnd type="none" w="med" len="med"/>
                      <a:tailEnd type="none" w="med" len="med"/>
                    </a:lnT>
                    <a:lnB w="9525" cap="flat" cmpd="sng" algn="ctr">
                      <a:solidFill>
                        <a:srgbClr val="BFD3D6"/>
                      </a:solidFill>
                      <a:prstDash val="solid"/>
                      <a:round/>
                      <a:headEnd type="none" w="med" len="med"/>
                      <a:tailEnd type="none" w="med" len="med"/>
                    </a:lnB>
                    <a:solidFill>
                      <a:srgbClr val="F9D9DC"/>
                    </a:solidFill>
                  </a:tcPr>
                </a:tc>
                <a:tc>
                  <a:txBody>
                    <a:bodyPr/>
                    <a:lstStyle/>
                    <a:p>
                      <a:pPr marL="0" indent="0" algn="ctr">
                        <a:buNone/>
                      </a:pPr>
                      <a:r>
                        <a:rPr lang="en-US" sz="1200" b="1" dirty="0">
                          <a:solidFill>
                            <a:srgbClr val="1E7A4C"/>
                          </a:solidFill>
                        </a:rPr>
                        <a:t>Yes</a:t>
                      </a:r>
                      <a:endParaRPr lang="en-US" sz="1200" dirty="0"/>
                    </a:p>
                  </a:txBody>
                  <a:tcPr marL="54864" marR="54864" marT="54864" marB="54864" anchor="ctr">
                    <a:lnL w="9525" cap="flat" cmpd="sng" algn="ctr">
                      <a:solidFill>
                        <a:srgbClr val="BFD3D6"/>
                      </a:solidFill>
                      <a:prstDash val="solid"/>
                      <a:round/>
                      <a:headEnd type="none" w="med" len="med"/>
                      <a:tailEnd type="none" w="med" len="med"/>
                    </a:lnL>
                    <a:lnR w="9525" cap="flat" cmpd="sng" algn="ctr">
                      <a:solidFill>
                        <a:srgbClr val="BFD3D6"/>
                      </a:solidFill>
                      <a:prstDash val="solid"/>
                      <a:round/>
                      <a:headEnd type="none" w="med" len="med"/>
                      <a:tailEnd type="none" w="med" len="med"/>
                    </a:lnR>
                    <a:lnT w="9525" cap="flat" cmpd="sng" algn="ctr">
                      <a:solidFill>
                        <a:srgbClr val="BFD3D6"/>
                      </a:solidFill>
                      <a:prstDash val="solid"/>
                      <a:round/>
                      <a:headEnd type="none" w="med" len="med"/>
                      <a:tailEnd type="none" w="med" len="med"/>
                    </a:lnT>
                    <a:lnB w="9525" cap="flat" cmpd="sng" algn="ctr">
                      <a:solidFill>
                        <a:srgbClr val="BFD3D6"/>
                      </a:solidFill>
                      <a:prstDash val="solid"/>
                      <a:round/>
                      <a:headEnd type="none" w="med" len="med"/>
                      <a:tailEnd type="none" w="med" len="med"/>
                    </a:lnB>
                    <a:solidFill>
                      <a:srgbClr val="D6F0E3"/>
                    </a:solidFill>
                  </a:tcPr>
                </a:tc>
                <a:extLst>
                  <a:ext uri="{0D108BD9-81ED-4DB2-BD59-A6C34878D82A}">
                    <a16:rowId xmlns:a16="http://schemas.microsoft.com/office/drawing/2014/main" val="10006"/>
                  </a:ext>
                </a:extLst>
              </a:tr>
              <a:tr h="420624">
                <a:tc>
                  <a:txBody>
                    <a:bodyPr/>
                    <a:lstStyle/>
                    <a:p>
                      <a:pPr marL="0" indent="0">
                        <a:buNone/>
                      </a:pPr>
                      <a:r>
                        <a:rPr lang="en-US" sz="1200" b="1" dirty="0">
                          <a:solidFill>
                            <a:srgbClr val="13262F"/>
                          </a:solidFill>
                        </a:rPr>
                        <a:t>Auto 1-page PDF report</a:t>
                      </a:r>
                      <a:endParaRPr lang="en-US" sz="1200" dirty="0"/>
                    </a:p>
                  </a:txBody>
                  <a:tcPr marL="54864" marR="54864" marT="54864" marB="54864" anchor="ctr">
                    <a:lnL w="9525" cap="flat" cmpd="sng" algn="ctr">
                      <a:solidFill>
                        <a:srgbClr val="BFD3D6"/>
                      </a:solidFill>
                      <a:prstDash val="solid"/>
                      <a:round/>
                      <a:headEnd type="none" w="med" len="med"/>
                      <a:tailEnd type="none" w="med" len="med"/>
                    </a:lnL>
                    <a:lnR w="9525" cap="flat" cmpd="sng" algn="ctr">
                      <a:solidFill>
                        <a:srgbClr val="BFD3D6"/>
                      </a:solidFill>
                      <a:prstDash val="solid"/>
                      <a:round/>
                      <a:headEnd type="none" w="med" len="med"/>
                      <a:tailEnd type="none" w="med" len="med"/>
                    </a:lnR>
                    <a:lnT w="9525" cap="flat" cmpd="sng" algn="ctr">
                      <a:solidFill>
                        <a:srgbClr val="BFD3D6"/>
                      </a:solidFill>
                      <a:prstDash val="solid"/>
                      <a:round/>
                      <a:headEnd type="none" w="med" len="med"/>
                      <a:tailEnd type="none" w="med" len="med"/>
                    </a:lnT>
                    <a:lnB w="9525" cap="flat" cmpd="sng" algn="ctr">
                      <a:solidFill>
                        <a:srgbClr val="BFD3D6"/>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A12A35"/>
                          </a:solidFill>
                        </a:rPr>
                        <a:t>No</a:t>
                      </a:r>
                      <a:endParaRPr lang="en-US" sz="1200" dirty="0"/>
                    </a:p>
                  </a:txBody>
                  <a:tcPr marL="54864" marR="54864" marT="54864" marB="54864" anchor="ctr">
                    <a:lnL w="9525" cap="flat" cmpd="sng" algn="ctr">
                      <a:solidFill>
                        <a:srgbClr val="BFD3D6"/>
                      </a:solidFill>
                      <a:prstDash val="solid"/>
                      <a:round/>
                      <a:headEnd type="none" w="med" len="med"/>
                      <a:tailEnd type="none" w="med" len="med"/>
                    </a:lnL>
                    <a:lnR w="9525" cap="flat" cmpd="sng" algn="ctr">
                      <a:solidFill>
                        <a:srgbClr val="BFD3D6"/>
                      </a:solidFill>
                      <a:prstDash val="solid"/>
                      <a:round/>
                      <a:headEnd type="none" w="med" len="med"/>
                      <a:tailEnd type="none" w="med" len="med"/>
                    </a:lnR>
                    <a:lnT w="9525" cap="flat" cmpd="sng" algn="ctr">
                      <a:solidFill>
                        <a:srgbClr val="BFD3D6"/>
                      </a:solidFill>
                      <a:prstDash val="solid"/>
                      <a:round/>
                      <a:headEnd type="none" w="med" len="med"/>
                      <a:tailEnd type="none" w="med" len="med"/>
                    </a:lnT>
                    <a:lnB w="9525" cap="flat" cmpd="sng" algn="ctr">
                      <a:solidFill>
                        <a:srgbClr val="BFD3D6"/>
                      </a:solidFill>
                      <a:prstDash val="solid"/>
                      <a:round/>
                      <a:headEnd type="none" w="med" len="med"/>
                      <a:tailEnd type="none" w="med" len="med"/>
                    </a:lnB>
                    <a:solidFill>
                      <a:srgbClr val="F9D9DC"/>
                    </a:solidFill>
                  </a:tcPr>
                </a:tc>
                <a:tc>
                  <a:txBody>
                    <a:bodyPr/>
                    <a:lstStyle/>
                    <a:p>
                      <a:pPr marL="0" indent="0" algn="ctr">
                        <a:buNone/>
                      </a:pPr>
                      <a:r>
                        <a:rPr lang="en-US" sz="1200" b="1" dirty="0">
                          <a:solidFill>
                            <a:srgbClr val="A12A35"/>
                          </a:solidFill>
                        </a:rPr>
                        <a:t>No</a:t>
                      </a:r>
                      <a:endParaRPr lang="en-US" sz="1200" dirty="0"/>
                    </a:p>
                  </a:txBody>
                  <a:tcPr marL="54864" marR="54864" marT="54864" marB="54864" anchor="ctr">
                    <a:lnL w="9525" cap="flat" cmpd="sng" algn="ctr">
                      <a:solidFill>
                        <a:srgbClr val="BFD3D6"/>
                      </a:solidFill>
                      <a:prstDash val="solid"/>
                      <a:round/>
                      <a:headEnd type="none" w="med" len="med"/>
                      <a:tailEnd type="none" w="med" len="med"/>
                    </a:lnL>
                    <a:lnR w="9525" cap="flat" cmpd="sng" algn="ctr">
                      <a:solidFill>
                        <a:srgbClr val="BFD3D6"/>
                      </a:solidFill>
                      <a:prstDash val="solid"/>
                      <a:round/>
                      <a:headEnd type="none" w="med" len="med"/>
                      <a:tailEnd type="none" w="med" len="med"/>
                    </a:lnR>
                    <a:lnT w="9525" cap="flat" cmpd="sng" algn="ctr">
                      <a:solidFill>
                        <a:srgbClr val="BFD3D6"/>
                      </a:solidFill>
                      <a:prstDash val="solid"/>
                      <a:round/>
                      <a:headEnd type="none" w="med" len="med"/>
                      <a:tailEnd type="none" w="med" len="med"/>
                    </a:lnT>
                    <a:lnB w="9525" cap="flat" cmpd="sng" algn="ctr">
                      <a:solidFill>
                        <a:srgbClr val="BFD3D6"/>
                      </a:solidFill>
                      <a:prstDash val="solid"/>
                      <a:round/>
                      <a:headEnd type="none" w="med" len="med"/>
                      <a:tailEnd type="none" w="med" len="med"/>
                    </a:lnB>
                    <a:solidFill>
                      <a:srgbClr val="F9D9DC"/>
                    </a:solidFill>
                  </a:tcPr>
                </a:tc>
                <a:tc>
                  <a:txBody>
                    <a:bodyPr/>
                    <a:lstStyle/>
                    <a:p>
                      <a:pPr marL="0" indent="0" algn="ctr">
                        <a:buNone/>
                      </a:pPr>
                      <a:r>
                        <a:rPr lang="en-US" sz="1200" b="1" dirty="0">
                          <a:solidFill>
                            <a:srgbClr val="8A5200"/>
                          </a:solidFill>
                        </a:rPr>
                        <a:t>Partial</a:t>
                      </a:r>
                      <a:endParaRPr lang="en-US" sz="1200" dirty="0"/>
                    </a:p>
                  </a:txBody>
                  <a:tcPr marL="54864" marR="54864" marT="54864" marB="54864" anchor="ctr">
                    <a:lnL w="9525" cap="flat" cmpd="sng" algn="ctr">
                      <a:solidFill>
                        <a:srgbClr val="BFD3D6"/>
                      </a:solidFill>
                      <a:prstDash val="solid"/>
                      <a:round/>
                      <a:headEnd type="none" w="med" len="med"/>
                      <a:tailEnd type="none" w="med" len="med"/>
                    </a:lnL>
                    <a:lnR w="9525" cap="flat" cmpd="sng" algn="ctr">
                      <a:solidFill>
                        <a:srgbClr val="BFD3D6"/>
                      </a:solidFill>
                      <a:prstDash val="solid"/>
                      <a:round/>
                      <a:headEnd type="none" w="med" len="med"/>
                      <a:tailEnd type="none" w="med" len="med"/>
                    </a:lnR>
                    <a:lnT w="9525" cap="flat" cmpd="sng" algn="ctr">
                      <a:solidFill>
                        <a:srgbClr val="BFD3D6"/>
                      </a:solidFill>
                      <a:prstDash val="solid"/>
                      <a:round/>
                      <a:headEnd type="none" w="med" len="med"/>
                      <a:tailEnd type="none" w="med" len="med"/>
                    </a:lnT>
                    <a:lnB w="9525" cap="flat" cmpd="sng" algn="ctr">
                      <a:solidFill>
                        <a:srgbClr val="BFD3D6"/>
                      </a:solidFill>
                      <a:prstDash val="solid"/>
                      <a:round/>
                      <a:headEnd type="none" w="med" len="med"/>
                      <a:tailEnd type="none" w="med" len="med"/>
                    </a:lnB>
                    <a:solidFill>
                      <a:srgbClr val="FCE9CC"/>
                    </a:solidFill>
                  </a:tcPr>
                </a:tc>
                <a:tc>
                  <a:txBody>
                    <a:bodyPr/>
                    <a:lstStyle/>
                    <a:p>
                      <a:pPr marL="0" indent="0" algn="ctr">
                        <a:buNone/>
                      </a:pPr>
                      <a:r>
                        <a:rPr lang="en-US" sz="1200" b="1" dirty="0">
                          <a:solidFill>
                            <a:srgbClr val="1E7A4C"/>
                          </a:solidFill>
                        </a:rPr>
                        <a:t>Yes</a:t>
                      </a:r>
                      <a:endParaRPr lang="en-US" sz="1200" dirty="0"/>
                    </a:p>
                  </a:txBody>
                  <a:tcPr marL="54864" marR="54864" marT="54864" marB="54864" anchor="ctr">
                    <a:lnL w="9525" cap="flat" cmpd="sng" algn="ctr">
                      <a:solidFill>
                        <a:srgbClr val="BFD3D6"/>
                      </a:solidFill>
                      <a:prstDash val="solid"/>
                      <a:round/>
                      <a:headEnd type="none" w="med" len="med"/>
                      <a:tailEnd type="none" w="med" len="med"/>
                    </a:lnL>
                    <a:lnR w="9525" cap="flat" cmpd="sng" algn="ctr">
                      <a:solidFill>
                        <a:srgbClr val="BFD3D6"/>
                      </a:solidFill>
                      <a:prstDash val="solid"/>
                      <a:round/>
                      <a:headEnd type="none" w="med" len="med"/>
                      <a:tailEnd type="none" w="med" len="med"/>
                    </a:lnR>
                    <a:lnT w="9525" cap="flat" cmpd="sng" algn="ctr">
                      <a:solidFill>
                        <a:srgbClr val="BFD3D6"/>
                      </a:solidFill>
                      <a:prstDash val="solid"/>
                      <a:round/>
                      <a:headEnd type="none" w="med" len="med"/>
                      <a:tailEnd type="none" w="med" len="med"/>
                    </a:lnT>
                    <a:lnB w="9525" cap="flat" cmpd="sng" algn="ctr">
                      <a:solidFill>
                        <a:srgbClr val="BFD3D6"/>
                      </a:solidFill>
                      <a:prstDash val="solid"/>
                      <a:round/>
                      <a:headEnd type="none" w="med" len="med"/>
                      <a:tailEnd type="none" w="med" len="med"/>
                    </a:lnB>
                    <a:solidFill>
                      <a:srgbClr val="D6F0E3"/>
                    </a:solidFill>
                  </a:tcPr>
                </a:tc>
                <a:extLst>
                  <a:ext uri="{0D108BD9-81ED-4DB2-BD59-A6C34878D82A}">
                    <a16:rowId xmlns:a16="http://schemas.microsoft.com/office/drawing/2014/main" val="10007"/>
                  </a:ext>
                </a:extLst>
              </a:tr>
              <a:tr h="420624">
                <a:tc>
                  <a:txBody>
                    <a:bodyPr/>
                    <a:lstStyle/>
                    <a:p>
                      <a:pPr marL="0" indent="0">
                        <a:buNone/>
                      </a:pPr>
                      <a:r>
                        <a:rPr lang="en-US" sz="1200" b="1" dirty="0">
                          <a:solidFill>
                            <a:srgbClr val="13262F"/>
                          </a:solidFill>
                        </a:rPr>
                        <a:t>One-click, no-code use</a:t>
                      </a:r>
                      <a:endParaRPr lang="en-US" sz="1200" dirty="0"/>
                    </a:p>
                  </a:txBody>
                  <a:tcPr marL="54864" marR="54864" marT="54864" marB="54864" anchor="ctr">
                    <a:lnL w="9525" cap="flat" cmpd="sng" algn="ctr">
                      <a:solidFill>
                        <a:srgbClr val="BFD3D6"/>
                      </a:solidFill>
                      <a:prstDash val="solid"/>
                      <a:round/>
                      <a:headEnd type="none" w="med" len="med"/>
                      <a:tailEnd type="none" w="med" len="med"/>
                    </a:lnL>
                    <a:lnR w="9525" cap="flat" cmpd="sng" algn="ctr">
                      <a:solidFill>
                        <a:srgbClr val="BFD3D6"/>
                      </a:solidFill>
                      <a:prstDash val="solid"/>
                      <a:round/>
                      <a:headEnd type="none" w="med" len="med"/>
                      <a:tailEnd type="none" w="med" len="med"/>
                    </a:lnR>
                    <a:lnT w="9525" cap="flat" cmpd="sng" algn="ctr">
                      <a:solidFill>
                        <a:srgbClr val="BFD3D6"/>
                      </a:solidFill>
                      <a:prstDash val="solid"/>
                      <a:round/>
                      <a:headEnd type="none" w="med" len="med"/>
                      <a:tailEnd type="none" w="med" len="med"/>
                    </a:lnT>
                    <a:lnB w="9525" cap="flat" cmpd="sng" algn="ctr">
                      <a:solidFill>
                        <a:srgbClr val="BFD3D6"/>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A12A35"/>
                          </a:solidFill>
                        </a:rPr>
                        <a:t>No</a:t>
                      </a:r>
                      <a:endParaRPr lang="en-US" sz="1200" dirty="0"/>
                    </a:p>
                  </a:txBody>
                  <a:tcPr marL="54864" marR="54864" marT="54864" marB="54864" anchor="ctr">
                    <a:lnL w="9525" cap="flat" cmpd="sng" algn="ctr">
                      <a:solidFill>
                        <a:srgbClr val="BFD3D6"/>
                      </a:solidFill>
                      <a:prstDash val="solid"/>
                      <a:round/>
                      <a:headEnd type="none" w="med" len="med"/>
                      <a:tailEnd type="none" w="med" len="med"/>
                    </a:lnL>
                    <a:lnR w="9525" cap="flat" cmpd="sng" algn="ctr">
                      <a:solidFill>
                        <a:srgbClr val="BFD3D6"/>
                      </a:solidFill>
                      <a:prstDash val="solid"/>
                      <a:round/>
                      <a:headEnd type="none" w="med" len="med"/>
                      <a:tailEnd type="none" w="med" len="med"/>
                    </a:lnR>
                    <a:lnT w="9525" cap="flat" cmpd="sng" algn="ctr">
                      <a:solidFill>
                        <a:srgbClr val="BFD3D6"/>
                      </a:solidFill>
                      <a:prstDash val="solid"/>
                      <a:round/>
                      <a:headEnd type="none" w="med" len="med"/>
                      <a:tailEnd type="none" w="med" len="med"/>
                    </a:lnT>
                    <a:lnB w="9525" cap="flat" cmpd="sng" algn="ctr">
                      <a:solidFill>
                        <a:srgbClr val="BFD3D6"/>
                      </a:solidFill>
                      <a:prstDash val="solid"/>
                      <a:round/>
                      <a:headEnd type="none" w="med" len="med"/>
                      <a:tailEnd type="none" w="med" len="med"/>
                    </a:lnB>
                    <a:solidFill>
                      <a:srgbClr val="F9D9DC"/>
                    </a:solidFill>
                  </a:tcPr>
                </a:tc>
                <a:tc>
                  <a:txBody>
                    <a:bodyPr/>
                    <a:lstStyle/>
                    <a:p>
                      <a:pPr marL="0" indent="0" algn="ctr">
                        <a:buNone/>
                      </a:pPr>
                      <a:r>
                        <a:rPr lang="en-US" sz="1200" b="1" dirty="0">
                          <a:solidFill>
                            <a:srgbClr val="8A5200"/>
                          </a:solidFill>
                        </a:rPr>
                        <a:t>Partial</a:t>
                      </a:r>
                      <a:endParaRPr lang="en-US" sz="1200" dirty="0"/>
                    </a:p>
                  </a:txBody>
                  <a:tcPr marL="54864" marR="54864" marT="54864" marB="54864" anchor="ctr">
                    <a:lnL w="9525" cap="flat" cmpd="sng" algn="ctr">
                      <a:solidFill>
                        <a:srgbClr val="BFD3D6"/>
                      </a:solidFill>
                      <a:prstDash val="solid"/>
                      <a:round/>
                      <a:headEnd type="none" w="med" len="med"/>
                      <a:tailEnd type="none" w="med" len="med"/>
                    </a:lnL>
                    <a:lnR w="9525" cap="flat" cmpd="sng" algn="ctr">
                      <a:solidFill>
                        <a:srgbClr val="BFD3D6"/>
                      </a:solidFill>
                      <a:prstDash val="solid"/>
                      <a:round/>
                      <a:headEnd type="none" w="med" len="med"/>
                      <a:tailEnd type="none" w="med" len="med"/>
                    </a:lnR>
                    <a:lnT w="9525" cap="flat" cmpd="sng" algn="ctr">
                      <a:solidFill>
                        <a:srgbClr val="BFD3D6"/>
                      </a:solidFill>
                      <a:prstDash val="solid"/>
                      <a:round/>
                      <a:headEnd type="none" w="med" len="med"/>
                      <a:tailEnd type="none" w="med" len="med"/>
                    </a:lnT>
                    <a:lnB w="9525" cap="flat" cmpd="sng" algn="ctr">
                      <a:solidFill>
                        <a:srgbClr val="BFD3D6"/>
                      </a:solidFill>
                      <a:prstDash val="solid"/>
                      <a:round/>
                      <a:headEnd type="none" w="med" len="med"/>
                      <a:tailEnd type="none" w="med" len="med"/>
                    </a:lnB>
                    <a:solidFill>
                      <a:srgbClr val="FCE9CC"/>
                    </a:solidFill>
                  </a:tcPr>
                </a:tc>
                <a:tc>
                  <a:txBody>
                    <a:bodyPr/>
                    <a:lstStyle/>
                    <a:p>
                      <a:pPr marL="0" indent="0" algn="ctr">
                        <a:buNone/>
                      </a:pPr>
                      <a:r>
                        <a:rPr lang="en-US" sz="1200" b="1" dirty="0">
                          <a:solidFill>
                            <a:srgbClr val="8A5200"/>
                          </a:solidFill>
                        </a:rPr>
                        <a:t>Partial</a:t>
                      </a:r>
                      <a:endParaRPr lang="en-US" sz="1200" dirty="0"/>
                    </a:p>
                  </a:txBody>
                  <a:tcPr marL="54864" marR="54864" marT="54864" marB="54864" anchor="ctr">
                    <a:lnL w="9525" cap="flat" cmpd="sng" algn="ctr">
                      <a:solidFill>
                        <a:srgbClr val="BFD3D6"/>
                      </a:solidFill>
                      <a:prstDash val="solid"/>
                      <a:round/>
                      <a:headEnd type="none" w="med" len="med"/>
                      <a:tailEnd type="none" w="med" len="med"/>
                    </a:lnL>
                    <a:lnR w="9525" cap="flat" cmpd="sng" algn="ctr">
                      <a:solidFill>
                        <a:srgbClr val="BFD3D6"/>
                      </a:solidFill>
                      <a:prstDash val="solid"/>
                      <a:round/>
                      <a:headEnd type="none" w="med" len="med"/>
                      <a:tailEnd type="none" w="med" len="med"/>
                    </a:lnR>
                    <a:lnT w="9525" cap="flat" cmpd="sng" algn="ctr">
                      <a:solidFill>
                        <a:srgbClr val="BFD3D6"/>
                      </a:solidFill>
                      <a:prstDash val="solid"/>
                      <a:round/>
                      <a:headEnd type="none" w="med" len="med"/>
                      <a:tailEnd type="none" w="med" len="med"/>
                    </a:lnT>
                    <a:lnB w="9525" cap="flat" cmpd="sng" algn="ctr">
                      <a:solidFill>
                        <a:srgbClr val="BFD3D6"/>
                      </a:solidFill>
                      <a:prstDash val="solid"/>
                      <a:round/>
                      <a:headEnd type="none" w="med" len="med"/>
                      <a:tailEnd type="none" w="med" len="med"/>
                    </a:lnB>
                    <a:solidFill>
                      <a:srgbClr val="FCE9CC"/>
                    </a:solidFill>
                  </a:tcPr>
                </a:tc>
                <a:tc>
                  <a:txBody>
                    <a:bodyPr/>
                    <a:lstStyle/>
                    <a:p>
                      <a:pPr marL="0" indent="0" algn="ctr">
                        <a:buNone/>
                      </a:pPr>
                      <a:r>
                        <a:rPr lang="en-US" sz="1200" b="1" dirty="0">
                          <a:solidFill>
                            <a:srgbClr val="1E7A4C"/>
                          </a:solidFill>
                        </a:rPr>
                        <a:t>Yes</a:t>
                      </a:r>
                      <a:endParaRPr lang="en-US" sz="1200" dirty="0"/>
                    </a:p>
                  </a:txBody>
                  <a:tcPr marL="54864" marR="54864" marT="54864" marB="54864" anchor="ctr">
                    <a:lnL w="9525" cap="flat" cmpd="sng" algn="ctr">
                      <a:solidFill>
                        <a:srgbClr val="BFD3D6"/>
                      </a:solidFill>
                      <a:prstDash val="solid"/>
                      <a:round/>
                      <a:headEnd type="none" w="med" len="med"/>
                      <a:tailEnd type="none" w="med" len="med"/>
                    </a:lnL>
                    <a:lnR w="9525" cap="flat" cmpd="sng" algn="ctr">
                      <a:solidFill>
                        <a:srgbClr val="BFD3D6"/>
                      </a:solidFill>
                      <a:prstDash val="solid"/>
                      <a:round/>
                      <a:headEnd type="none" w="med" len="med"/>
                      <a:tailEnd type="none" w="med" len="med"/>
                    </a:lnR>
                    <a:lnT w="9525" cap="flat" cmpd="sng" algn="ctr">
                      <a:solidFill>
                        <a:srgbClr val="BFD3D6"/>
                      </a:solidFill>
                      <a:prstDash val="solid"/>
                      <a:round/>
                      <a:headEnd type="none" w="med" len="med"/>
                      <a:tailEnd type="none" w="med" len="med"/>
                    </a:lnT>
                    <a:lnB w="9525" cap="flat" cmpd="sng" algn="ctr">
                      <a:solidFill>
                        <a:srgbClr val="BFD3D6"/>
                      </a:solidFill>
                      <a:prstDash val="solid"/>
                      <a:round/>
                      <a:headEnd type="none" w="med" len="med"/>
                      <a:tailEnd type="none" w="med" len="med"/>
                    </a:lnB>
                    <a:solidFill>
                      <a:srgbClr val="D6F0E3"/>
                    </a:solidFill>
                  </a:tcPr>
                </a:tc>
                <a:extLst>
                  <a:ext uri="{0D108BD9-81ED-4DB2-BD59-A6C34878D82A}">
                    <a16:rowId xmlns:a16="http://schemas.microsoft.com/office/drawing/2014/main" val="10008"/>
                  </a:ext>
                </a:extLst>
              </a:tr>
            </a:tbl>
          </a:graphicData>
        </a:graphic>
      </p:graphicFrame>
      <p:sp>
        <p:nvSpPr>
          <p:cNvPr id="11" name="Table legend"/>
          <p:cNvSpPr txBox="1"/>
          <p:nvPr/>
        </p:nvSpPr>
        <p:spPr>
          <a:xfrm>
            <a:off x="5303520" y="5760720"/>
            <a:ext cx="6336792" cy="457200"/>
          </a:xfrm>
          <a:prstGeom prst="rect">
            <a:avLst/>
          </a:prstGeom>
          <a:noFill/>
          <a:ln/>
        </p:spPr>
        <p:txBody>
          <a:bodyPr wrap="square" lIns="0" tIns="0" rIns="0" bIns="0" rtlCol="0" anchor="t"/>
          <a:lstStyle/>
          <a:p>
            <a:pPr marL="0" indent="0">
              <a:buNone/>
            </a:pPr>
            <a:r>
              <a:rPr lang="en-US" sz="1100" dirty="0">
                <a:solidFill>
                  <a:srgbClr val="5E7078"/>
                </a:solidFill>
              </a:rPr>
              <a:t>Yes = fully supported  |  Partial = limited or manual  |  No = not supported. Indicative comparison of default features.</a:t>
            </a:r>
            <a:endParaRPr lang="en-US" sz="1100" dirty="0"/>
          </a:p>
        </p:txBody>
      </p:sp>
      <p:sp>
        <p:nvSpPr>
          <p:cNvPr id="25" name="Slide Number Placeholder 0"/>
          <p:cNvSpPr>
            <a:spLocks noGrp="1"/>
          </p:cNvSpPr>
          <p:nvPr>
            <p:ph type="sldNum" sz="quarter" idx="4294967295"/>
          </p:nvPr>
        </p:nvSpPr>
        <p:spPr>
          <a:xfrm>
            <a:off x="10972800" y="6473952"/>
            <a:ext cx="667512"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7078"/>
                </a:solidFill>
              </a:defRPr>
            </a:lvl1pPr>
          </a:lstStyle>
          <a:p>
            <a:pPr algn="r"/>
            <a:fld id="{F7021451-1387-4CA6-816F-3879F97B5CBC}" type="slidenum">
              <a:rPr lang="en-US" b="0"/>
              <a:t>6</a:t>
            </a:fld>
            <a:endParaRPr lang="en-US"/>
          </a:p>
        </p:txBody>
      </p:sp>
    </p:spTree>
  </p:cSld>
  <p:clrMapOvr>
    <a:masterClrMapping/>
  </p:clrMapOvr>
</p:sld>
</file>

<file path=ppt/theme/theme1.xml><?xml version="1.0" encoding="utf-8"?>
<a:theme xmlns:a="http://schemas.openxmlformats.org/drawingml/2006/main" name="DataDoctor">
  <a:themeElements>
    <a:clrScheme name="DataDoctor">
      <a:dk1>
        <a:srgbClr val="13262F"/>
      </a:dk1>
      <a:lt1>
        <a:srgbClr val="FFFFFF"/>
      </a:lt1>
      <a:dk2>
        <a:srgbClr val="0B3C49"/>
      </a:dk2>
      <a:lt2>
        <a:srgbClr val="EAF4F4"/>
      </a:lt2>
      <a:accent1>
        <a:srgbClr val="0E7C86"/>
      </a:accent1>
      <a:accent2>
        <a:srgbClr val="F2994A"/>
      </a:accent2>
      <a:accent3>
        <a:srgbClr val="2E9E6B"/>
      </a:accent3>
      <a:accent4>
        <a:srgbClr val="5B6CC9"/>
      </a:accent4>
      <a:accent5>
        <a:srgbClr val="D64550"/>
      </a:accent5>
      <a:accent6>
        <a:srgbClr val="F2C14E"/>
      </a:accent6>
      <a:hlink>
        <a:srgbClr val="0E7C86"/>
      </a:hlink>
      <a:folHlink>
        <a:srgbClr val="5B6CC9"/>
      </a:folHlink>
    </a:clrScheme>
    <a:fontScheme name="DataDocto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TotalTime>
  <Words>1066</Words>
  <Application>Microsoft Office PowerPoint</Application>
  <PresentationFormat>Widescreen</PresentationFormat>
  <Paragraphs>212</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DataDoctor</vt:lpstr>
      <vt:lpstr>DataDoctor</vt:lpstr>
      <vt:lpstr>Proposed Solution</vt:lpstr>
      <vt:lpstr>Technical Approach</vt:lpstr>
      <vt:lpstr>Feasibility and Viability</vt:lpstr>
      <vt:lpstr>Impact and Benefits</vt:lpstr>
      <vt:lpstr>Research and References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DataDoctor: Automated CSV Profiler &amp; Data Cleaning Pipeline</dc:title>
  <dc:subject>PptxGenJS Presentation</dc:subject>
  <dc:creator>PptxGenJS</dc:creator>
  <cp:lastModifiedBy>Ajay Ashely</cp:lastModifiedBy>
  <cp:revision>2</cp:revision>
  <dcterms:created xsi:type="dcterms:W3CDTF">2026-10-24T06:11:25Z</dcterms:created>
  <dcterms:modified xsi:type="dcterms:W3CDTF">2026-10-24T09:24:25Z</dcterms:modified>
</cp:coreProperties>
</file>